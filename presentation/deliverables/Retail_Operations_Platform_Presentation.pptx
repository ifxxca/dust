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ea5bc4cde5494d" /><Relationship Type="http://schemas.openxmlformats.org/officeDocument/2006/relationships/extended-properties" Target="/docProps/app.xml" Id="R12086c06b9b64213" /><Relationship Type="http://schemas.openxmlformats.org/officeDocument/2006/relationships/officeDocument" Target="/ppt/presentation.xml" Id="R8653eae6ffd84a4a" /></Relationships>
</file>

<file path=ppt/presentation.xml><?xml version="1.0" encoding="utf-8"?>
<p:presentation xmlns:p="http://schemas.openxmlformats.org/presentationml/2006/main">
  <p:sldMasterIdLst>
    <p:sldMasterId xmlns:r="http://schemas.openxmlformats.org/officeDocument/2006/relationships" id="2147483648" r:id="R4d86ae243eec43fa"/>
  </p:sldMasterIdLst>
  <p:notesMasterIdLst>
    <p:notesMasterId xmlns:r="http://schemas.openxmlformats.org/officeDocument/2006/relationships" r:id="R9c71d7d89c6a466a"/>
  </p:notesMasterIdLst>
  <p:sldIdLst>
    <p:sldId xmlns:r="http://schemas.openxmlformats.org/officeDocument/2006/relationships" id="256" r:id="Rddf994aa79de4fa0"/>
    <p:sldId xmlns:r="http://schemas.openxmlformats.org/officeDocument/2006/relationships" id="257" r:id="R3f178d9910564ca8"/>
    <p:sldId xmlns:r="http://schemas.openxmlformats.org/officeDocument/2006/relationships" id="258" r:id="Re0c903a3b7e14436"/>
    <p:sldId xmlns:r="http://schemas.openxmlformats.org/officeDocument/2006/relationships" id="259" r:id="R86f70a393a8248a7"/>
    <p:sldId xmlns:r="http://schemas.openxmlformats.org/officeDocument/2006/relationships" id="260" r:id="R3912bcf967fa4ec1"/>
    <p:sldId xmlns:r="http://schemas.openxmlformats.org/officeDocument/2006/relationships" id="261" r:id="R0002beb1aa224522"/>
    <p:sldId xmlns:r="http://schemas.openxmlformats.org/officeDocument/2006/relationships" id="262" r:id="R90bfb2a9974740dd"/>
    <p:sldId xmlns:r="http://schemas.openxmlformats.org/officeDocument/2006/relationships" id="263" r:id="R1989d4fc36734936"/>
    <p:sldId xmlns:r="http://schemas.openxmlformats.org/officeDocument/2006/relationships" id="264" r:id="R7870a32b19fa43b4"/>
    <p:sldId xmlns:r="http://schemas.openxmlformats.org/officeDocument/2006/relationships" id="265" r:id="R83bd2f5563a94755"/>
    <p:sldId xmlns:r="http://schemas.openxmlformats.org/officeDocument/2006/relationships" id="266" r:id="R9e23a73dc3cd4cf6"/>
    <p:sldId xmlns:r="http://schemas.openxmlformats.org/officeDocument/2006/relationships" id="267" r:id="R253c7253294849a5"/>
    <p:sldId xmlns:r="http://schemas.openxmlformats.org/officeDocument/2006/relationships" id="268" r:id="R8ee1997786864315"/>
    <p:sldId xmlns:r="http://schemas.openxmlformats.org/officeDocument/2006/relationships" id="269" r:id="Ra525690d2a6e4cfb"/>
    <p:sldId xmlns:r="http://schemas.openxmlformats.org/officeDocument/2006/relationships" id="270" r:id="Re8403950fa7441b4"/>
    <p:sldId xmlns:r="http://schemas.openxmlformats.org/officeDocument/2006/relationships" id="271" r:id="Rf320f273f9574a04"/>
    <p:sldId xmlns:r="http://schemas.openxmlformats.org/officeDocument/2006/relationships" id="272" r:id="R7e5a35ab0b5e43ec"/>
    <p:sldId xmlns:r="http://schemas.openxmlformats.org/officeDocument/2006/relationships" id="273" r:id="Rde205b1ed468498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70a11014794b12" /><Relationship Type="http://schemas.openxmlformats.org/officeDocument/2006/relationships/slideMaster" Target="/ppt/slideMasters/slideMaster1.xml" Id="R4d86ae243eec43fa" /><Relationship Type="http://schemas.openxmlformats.org/officeDocument/2006/relationships/notesMaster" Target="/ppt/notesMasters/notesMaster1.xml" Id="R9c71d7d89c6a466a" /><Relationship Type="http://schemas.openxmlformats.org/officeDocument/2006/relationships/presProps" Target="/ppt/presProps.xml" Id="Rea364cc93d494b5e" /><Relationship Type="http://schemas.openxmlformats.org/officeDocument/2006/relationships/tableStyles" Target="/ppt/tableStyles.xml" Id="R02a2609942a549a7" /><Relationship Type="http://schemas.openxmlformats.org/officeDocument/2006/relationships/slide" Target="/ppt/slides/slide1.xml" Id="Rddf994aa79de4fa0" /><Relationship Type="http://schemas.openxmlformats.org/officeDocument/2006/relationships/slide" Target="/ppt/slides/slide2.xml" Id="R3f178d9910564ca8" /><Relationship Type="http://schemas.openxmlformats.org/officeDocument/2006/relationships/slide" Target="/ppt/slides/slide3.xml" Id="Re0c903a3b7e14436" /><Relationship Type="http://schemas.openxmlformats.org/officeDocument/2006/relationships/slide" Target="/ppt/slides/slide4.xml" Id="R86f70a393a8248a7" /><Relationship Type="http://schemas.openxmlformats.org/officeDocument/2006/relationships/slide" Target="/ppt/slides/slide5.xml" Id="R3912bcf967fa4ec1" /><Relationship Type="http://schemas.openxmlformats.org/officeDocument/2006/relationships/slide" Target="/ppt/slides/slide6.xml" Id="R0002beb1aa224522" /><Relationship Type="http://schemas.openxmlformats.org/officeDocument/2006/relationships/slide" Target="/ppt/slides/slide7.xml" Id="R90bfb2a9974740dd" /><Relationship Type="http://schemas.openxmlformats.org/officeDocument/2006/relationships/slide" Target="/ppt/slides/slide8.xml" Id="R1989d4fc36734936" /><Relationship Type="http://schemas.openxmlformats.org/officeDocument/2006/relationships/slide" Target="/ppt/slides/slide9.xml" Id="R7870a32b19fa43b4" /><Relationship Type="http://schemas.openxmlformats.org/officeDocument/2006/relationships/slide" Target="/ppt/slides/slide10.xml" Id="R83bd2f5563a94755" /><Relationship Type="http://schemas.openxmlformats.org/officeDocument/2006/relationships/slide" Target="/ppt/slides/slide11.xml" Id="R9e23a73dc3cd4cf6" /><Relationship Type="http://schemas.openxmlformats.org/officeDocument/2006/relationships/slide" Target="/ppt/slides/slide12.xml" Id="R253c7253294849a5" /><Relationship Type="http://schemas.openxmlformats.org/officeDocument/2006/relationships/slide" Target="/ppt/slides/slide13.xml" Id="R8ee1997786864315" /><Relationship Type="http://schemas.openxmlformats.org/officeDocument/2006/relationships/slide" Target="/ppt/slides/slide14.xml" Id="Ra525690d2a6e4cfb" /><Relationship Type="http://schemas.openxmlformats.org/officeDocument/2006/relationships/slide" Target="/ppt/slides/slide15.xml" Id="Re8403950fa7441b4" /><Relationship Type="http://schemas.openxmlformats.org/officeDocument/2006/relationships/slide" Target="/ppt/slides/slide16.xml" Id="Rf320f273f9574a04" /><Relationship Type="http://schemas.openxmlformats.org/officeDocument/2006/relationships/slide" Target="/ppt/slides/slide17.xml" Id="R7e5a35ab0b5e43ec" /><Relationship Type="http://schemas.openxmlformats.org/officeDocument/2006/relationships/slide" Target="/ppt/slides/slide18.xml" Id="Rde205b1ed468498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5fd94a7246a41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da20fab663c43b4" /><Relationship Type="http://schemas.openxmlformats.org/officeDocument/2006/relationships/notesMaster" Target="/ppt/notesMasters/notesMaster1.xml" Id="R2a3448c2ee6c43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e92edd383bc94a15" /><Relationship Type="http://schemas.openxmlformats.org/officeDocument/2006/relationships/notesMaster" Target="/ppt/notesMasters/notesMaster1.xml" Id="R53b1709ac5f94b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6322e6162314115" /><Relationship Type="http://schemas.openxmlformats.org/officeDocument/2006/relationships/notesMaster" Target="/ppt/notesMasters/notesMaster1.xml" Id="Rb1cef72ba6c741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c795df7aae4106" /><Relationship Type="http://schemas.openxmlformats.org/officeDocument/2006/relationships/notesMaster" Target="/ppt/notesMasters/notesMaster1.xml" Id="R7001dace0a994a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0b22ac6745584f8a" /><Relationship Type="http://schemas.openxmlformats.org/officeDocument/2006/relationships/notesMaster" Target="/ppt/notesMasters/notesMaster1.xml" Id="Rfd423b4add6b4b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327253870d9142c6" /><Relationship Type="http://schemas.openxmlformats.org/officeDocument/2006/relationships/notesMaster" Target="/ppt/notesMasters/notesMaster1.xml" Id="R21aefe5efb8d4cb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893737fd73427f" /><Relationship Type="http://schemas.openxmlformats.org/officeDocument/2006/relationships/notesMaster" Target="/ppt/notesMasters/notesMaster1.xml" Id="Rb0dfb8738efa486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2b6e5ff5c64025" /><Relationship Type="http://schemas.openxmlformats.org/officeDocument/2006/relationships/notesMaster" Target="/ppt/notesMasters/notesMaster1.xml" Id="R93297231c85f42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d35a4a332747ab" /><Relationship Type="http://schemas.openxmlformats.org/officeDocument/2006/relationships/notesMaster" Target="/ppt/notesMasters/notesMaster1.xml" Id="Rf793fbac73be48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e6a811162a41bd" /><Relationship Type="http://schemas.openxmlformats.org/officeDocument/2006/relationships/notesMaster" Target="/ppt/notesMasters/notesMaster1.xml" Id="R0776a86f2951422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3d53c653dc44dac" /><Relationship Type="http://schemas.openxmlformats.org/officeDocument/2006/relationships/notesMaster" Target="/ppt/notesMasters/notesMaster1.xml" Id="R3cadb7f77edc4b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c391c5ff29940c6" /><Relationship Type="http://schemas.openxmlformats.org/officeDocument/2006/relationships/notesMaster" Target="/ppt/notesMasters/notesMaster1.xml" Id="R3f19f338afbc48f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207189ec1c4560" /><Relationship Type="http://schemas.openxmlformats.org/officeDocument/2006/relationships/notesMaster" Target="/ppt/notesMasters/notesMaster1.xml" Id="R227c70885b7b424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9036a125a3543bd" /><Relationship Type="http://schemas.openxmlformats.org/officeDocument/2006/relationships/notesMaster" Target="/ppt/notesMasters/notesMaster1.xml" Id="R90f3b0b8ef8f4ed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8b40329eada45df" /><Relationship Type="http://schemas.openxmlformats.org/officeDocument/2006/relationships/notesMaster" Target="/ppt/notesMasters/notesMaster1.xml" Id="R712226f64dcb4567"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3c4d254fc8943a4" /><Relationship Type="http://schemas.openxmlformats.org/officeDocument/2006/relationships/notesMaster" Target="/ppt/notesMasters/notesMaster1.xml" Id="R7e56912477eb4a7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17795ae2be0471f" /><Relationship Type="http://schemas.openxmlformats.org/officeDocument/2006/relationships/notesMaster" Target="/ppt/notesMasters/notesMaster1.xml" Id="R5e0d0fc48d3e41b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40d3ed9cfa549ae" /><Relationship Type="http://schemas.openxmlformats.org/officeDocument/2006/relationships/notesMaster" Target="/ppt/notesMasters/notesMaster1.xml" Id="R705761bdc97844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Memperkenalkan platform operasional retail dengan fokus kemampuan Pickup Management yang telah tersedia. Screenshot berasal dari APK fixture native, bukan UI konsep. Tampilan merupakan snapshot pengujian terdahulu. Platform belum memperoleh persetujuan pilot atau rilis produksi. Tidak memakai logo JNE terpisah karena otorisasi aset merek tidak dapat dipastikan.</a:t>
            </a:r>
          </a:p>
          <a:p xmlns:a="http://schemas.openxmlformats.org/drawingml/2006/main">
            <a:r>
              <a:t/>
            </a:r>
          </a:p>
          <a:p xmlns:a="http://schemas.openxmlformats.org/drawingml/2006/main">
            <a:r>
              <a:t>Sumber internal (ditinjau 15 Oktober 2026):</a:t>
            </a:r>
          </a:p>
          <a:p xmlns:a="http://schemas.openxmlformats.org/drawingml/2006/main">
            <a:r>
              <a:t>- docs/PRD_MOBILE_V1.md §1–2</a:t>
            </a:r>
          </a:p>
          <a:p xmlns:a="http://schemas.openxmlformats.org/drawingml/2006/main">
            <a:r>
              <a:t>- docs/mobile/IMPLEMENTATION_PLAN.md §16–23</a:t>
            </a:r>
          </a:p>
          <a:p xmlns:a="http://schemas.openxmlformats.org/drawingml/2006/main">
            <a:r>
              <a:t>- storage/mobile-mockup-detail.png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ini merangkum kebutuhan yang melatarbelakangi produk, bukan hasil survei atau pengukuran masalah di cabang. Tidak ada klaim bahwa seluruh cabang memakai proses manual, mengalami tingkat kehilangan tertentu, atau memiliki baseline SLA tertentu.</a:t>
            </a:r>
          </a:p>
          <a:p xmlns:a="http://schemas.openxmlformats.org/drawingml/2006/main">
            <a:r>
              <a:t/>
            </a:r>
          </a:p>
          <a:p xmlns:a="http://schemas.openxmlformats.org/drawingml/2006/main">
            <a:r>
              <a:t>Sumber internal (ditinjau 15 Oktober 2026):</a:t>
            </a:r>
          </a:p>
          <a:p xmlns:a="http://schemas.openxmlformats.org/drawingml/2006/main">
            <a:r>
              <a:t>- docs/PRD_MOBILE_V1.md §1.1–1.3</a:t>
            </a:r>
          </a:p>
          <a:p xmlns:a="http://schemas.openxmlformats.org/drawingml/2006/main">
            <a:r>
              <a:t>- docs/prd.md bagian tujuan dan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Satu backend Laravel melayani web Inertia dan mobile React SPA di Capacitor. Visi pengembangan modul tambahan adalah arah produk, bukan komitmen implementasi semua modul. Pembagian tanggung jawab mengikuti peran yang tersedia; verifikasi tidak eksklusif Retail karena kebijakan existing dan perluasan mobile yang telah disetujui.</a:t>
            </a:r>
          </a:p>
          <a:p xmlns:a="http://schemas.openxmlformats.org/drawingml/2006/main">
            <a:r>
              <a:t/>
            </a:r>
          </a:p>
          <a:p xmlns:a="http://schemas.openxmlformats.org/drawingml/2006/main">
            <a:r>
              <a:t>Sumber internal (ditinjau 15 Oktober 2026):</a:t>
            </a:r>
          </a:p>
          <a:p xmlns:a="http://schemas.openxmlformats.org/drawingml/2006/main">
            <a:r>
              <a:t>- routes/web.php</a:t>
            </a:r>
          </a:p>
          <a:p xmlns:a="http://schemas.openxmlformats.org/drawingml/2006/main">
            <a:r>
              <a:t>- routes/api.php</a:t>
            </a:r>
          </a:p>
          <a:p xmlns:a="http://schemas.openxmlformats.org/drawingml/2006/main">
            <a:r>
              <a:t>- resources/js/pages/operations.tsx</a:t>
            </a:r>
          </a:p>
          <a:p xmlns:a="http://schemas.openxmlformats.org/drawingml/2006/main">
            <a:r>
              <a:t>- resources/mobile/src/app.tsx</a:t>
            </a:r>
          </a:p>
          <a:p xmlns:a="http://schemas.openxmlformats.org/drawingml/2006/main">
            <a:r>
              <a:t>- docs/mobile/TECHNICAL_DESIGN.md §3 dan addendum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Master customer dikelola CS/Admin melalui web. Pickup manual oleh Pickup Staff hanya untuk customer existing dan ditugaskan kepada dirinya sendiri. Bulk assignment hanya CS/Admin web untuk task eligible, bukan bulk takeover atau mobile assignment. Jadwal reguler tersedia di web. Kesiapan operasional semua kemampuan dibahas pada slide 13.</a:t>
            </a:r>
          </a:p>
          <a:p xmlns:a="http://schemas.openxmlformats.org/drawingml/2006/main">
            <a:r>
              <a:t/>
            </a:r>
          </a:p>
          <a:p xmlns:a="http://schemas.openxmlformats.org/drawingml/2006/main">
            <a:r>
              <a:t>Sumber internal (ditinjau 15 Oktober 2026):</a:t>
            </a:r>
          </a:p>
          <a:p xmlns:a="http://schemas.openxmlformats.org/drawingml/2006/main">
            <a:r>
              <a:t>- routes/web.php</a:t>
            </a:r>
          </a:p>
          <a:p xmlns:a="http://schemas.openxmlformats.org/drawingml/2006/main">
            <a:r>
              <a:t>- routes/api.php</a:t>
            </a:r>
          </a:p>
          <a:p xmlns:a="http://schemas.openxmlformats.org/drawingml/2006/main">
            <a:r>
              <a:t>- docs/mobile/IMPLEMENTATION_PLAN.md §17,19,21,22</a:t>
            </a:r>
          </a:p>
          <a:p xmlns:a="http://schemas.openxmlformats.org/drawingml/2006/main">
            <a:r>
              <a:t>- app/Actions/Pickup/AssignPickupTasks.php</a:t>
            </a:r>
          </a:p>
          <a:p xmlns:a="http://schemas.openxmlformats.org/drawingml/2006/main">
            <a:r>
              <a:t>- resources/mobile/src/manual-pickup.tsx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menyederhanakan alur operasional, bukan state machine lengkap. Task SCHEDULED menjadi ASSIGNED saat assignment. Start dan COLLECTED belum menjadikan task PICKED_UP. Finalisasi POP yang sukses menjadikan task PICKED_UP. Handover adalah lifecycle session tersendiri dan tidak mengganti status task. NO_PACKAGES terminal mengikuti addendum terbaru, menggantikan aturan retry pada baseline lama.</a:t>
            </a:r>
          </a:p>
          <a:p xmlns:a="http://schemas.openxmlformats.org/drawingml/2006/main">
            <a:r>
              <a:t/>
            </a:r>
          </a:p>
          <a:p xmlns:a="http://schemas.openxmlformats.org/drawingml/2006/main">
            <a:r>
              <a:t>Sumber internal (ditinjau 15 Oktober 2026):</a:t>
            </a:r>
          </a:p>
          <a:p xmlns:a="http://schemas.openxmlformats.org/drawingml/2006/main">
            <a:r>
              <a:t>- app/Actions/Pickup/RecordPickupVisit.php</a:t>
            </a:r>
          </a:p>
          <a:p xmlns:a="http://schemas.openxmlformats.org/drawingml/2006/main">
            <a:r>
              <a:t>- app/Actions/Pickup/FinalizePickup.php</a:t>
            </a:r>
          </a:p>
          <a:p xmlns:a="http://schemas.openxmlformats.org/drawingml/2006/main">
            <a:r>
              <a:t>- app/Actions/Pickup/CreatePickupTask.php</a:t>
            </a:r>
          </a:p>
          <a:p xmlns:a="http://schemas.openxmlformats.org/drawingml/2006/main">
            <a:r>
              <a:t>- app/Actions/Handover/CreateSession.php</a:t>
            </a:r>
          </a:p>
          <a:p xmlns:a="http://schemas.openxmlformats.org/drawingml/2006/main">
            <a:r>
              <a:t>- docs/PRD_MOBILE_V1.md §4</a:t>
            </a:r>
          </a:p>
          <a:p xmlns:a="http://schemas.openxmlformats.org/drawingml/2006/main">
            <a:r>
              <a:t>- docs/mobile/IMPLEMENTATION_PLAN.md §17,19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formulir berasal dari pengujian layout web terdahulu; tidak menunjukkan UI baru bulk assignment atau master customer yang diperluas. Kedua kemampuan terbaru terkonfirmasi di kode, routes, tests dan catatan §21–22, tetapi manual browser UAT belum dilakukan. Bulk assignment memeriksa seluruh batch dan membatalkan transaksi jika ada konflik. Jangan menafsirkan fitur sebagai bulk reassignment.</a:t>
            </a:r>
          </a:p>
          <a:p xmlns:a="http://schemas.openxmlformats.org/drawingml/2006/main">
            <a:r>
              <a:t/>
            </a:r>
          </a:p>
          <a:p xmlns:a="http://schemas.openxmlformats.org/drawingml/2006/main">
            <a:r>
              <a:t>Sumber internal (ditinjau 15 Oktober 2026):</a:t>
            </a:r>
          </a:p>
          <a:p xmlns:a="http://schemas.openxmlformats.org/drawingml/2006/main">
            <a:r>
              <a:t>- resources/js/components/create-pickup.tsx</a:t>
            </a:r>
          </a:p>
          <a:p xmlns:a="http://schemas.openxmlformats.org/drawingml/2006/main">
            <a:r>
              <a:t>- resources/js/components/bulk-pickup-assignment.tsx</a:t>
            </a:r>
          </a:p>
          <a:p xmlns:a="http://schemas.openxmlformats.org/drawingml/2006/main">
            <a:r>
              <a:t>- resources/js/components/pickup-operational-list.tsx</a:t>
            </a:r>
          </a:p>
          <a:p xmlns:a="http://schemas.openxmlformats.org/drawingml/2006/main">
            <a:r>
              <a:t>- routes/web.php</a:t>
            </a:r>
          </a:p>
          <a:p xmlns:a="http://schemas.openxmlformats.org/drawingml/2006/main">
            <a:r>
              <a:t>- docs/mobile/IMPLEMENTATION_PLAN.md §21–22</a:t>
            </a:r>
          </a:p>
          <a:p xmlns:a="http://schemas.openxmlformats.org/drawingml/2006/main">
            <a:r>
              <a:t>- storage/app/ui-qa-fluid-operations-create-1920.png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Screenshot asli native fixture APK, walaupun nama berkas memakai kata mockup. Implementation Plan §16 secara eksplisit mengidentifikasinya sebagai actual native screenshots. Menu Cashless, Fleet, Absensi dan Lainnya pada gambar belum menjadi modul operasional. Notifikasi mobile bukan persisted server inbox. FCM assignment, registrasi perangkat, worker, guard penerima dan deep link tersedia, tetapi mocked transport/synthetic taps tidak membuktikan delivery nyata pada APK terbaru.</a:t>
            </a:r>
          </a:p>
          <a:p xmlns:a="http://schemas.openxmlformats.org/drawingml/2006/main">
            <a:r>
              <a:t/>
            </a:r>
          </a:p>
          <a:p xmlns:a="http://schemas.openxmlformats.org/drawingml/2006/main">
            <a:r>
              <a:t>Sumber internal (ditinjau 15 Oktober 2026):</a:t>
            </a:r>
          </a:p>
          <a:p xmlns:a="http://schemas.openxmlformats.org/drawingml/2006/main">
            <a:r>
              <a:t>- storage/mobile-mockup-home.png</a:t>
            </a:r>
          </a:p>
          <a:p xmlns:a="http://schemas.openxmlformats.org/drawingml/2006/main">
            <a:r>
              <a:t>- storage/mobile-mockup-tasks.png</a:t>
            </a:r>
          </a:p>
          <a:p xmlns:a="http://schemas.openxmlformats.org/drawingml/2006/main">
            <a:r>
              <a:t>- docs/mobile/IMPLEMENTATION_PLAN.md §16,19,23</a:t>
            </a:r>
          </a:p>
          <a:p xmlns:a="http://schemas.openxmlformats.org/drawingml/2006/main">
            <a:r>
              <a:t>- resources/mobile/src/app.tsx</a:t>
            </a:r>
          </a:p>
          <a:p xmlns:a="http://schemas.openxmlformats.org/drawingml/2006/main">
            <a:r>
              <a:t>- resources/mobile/src/push.ts</a:t>
            </a:r>
          </a:p>
          <a:p xmlns:a="http://schemas.openxmlformats.org/drawingml/2006/main">
            <a:r>
              <a:t>- app/Jobs/SendPickupAssignmentPush.php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NO_PACKAGES terminal telah diterapkan pada web dan mobile sesuai persetujuan owner 14 Oktober 2026. Kunjungan berikutnya membuat task baru yang merujuk task asal, dengan customer sama dan jadwal setelah task asal. Staff tidak memperoleh hak cancel. Untuk COLLECTED, task tetap ASSIGNED sampai POP difinalisasi. Takeover hanya untuk task yang memenuhi syarat sebelum eksekusi mulai.</a:t>
            </a:r>
          </a:p>
          <a:p xmlns:a="http://schemas.openxmlformats.org/drawingml/2006/main">
            <a:r>
              <a:t/>
            </a:r>
          </a:p>
          <a:p xmlns:a="http://schemas.openxmlformats.org/drawingml/2006/main">
            <a:r>
              <a:t>Sumber internal (ditinjau 15 Oktober 2026):</a:t>
            </a:r>
          </a:p>
          <a:p xmlns:a="http://schemas.openxmlformats.org/drawingml/2006/main">
            <a:r>
              <a:t>- app/Actions/Pickup/RecordPickupVisit.php</a:t>
            </a:r>
          </a:p>
          <a:p xmlns:a="http://schemas.openxmlformats.org/drawingml/2006/main">
            <a:r>
              <a:t>- app/Actions/Pickup/CreatePickupTask.php</a:t>
            </a:r>
          </a:p>
          <a:p xmlns:a="http://schemas.openxmlformats.org/drawingml/2006/main">
            <a:r>
              <a:t>- resources/mobile/src/execution-panel.tsx</a:t>
            </a:r>
          </a:p>
          <a:p xmlns:a="http://schemas.openxmlformats.org/drawingml/2006/main">
            <a:r>
              <a:t>- resources/mobile/src/manual-pickup.tsx</a:t>
            </a:r>
          </a:p>
          <a:p xmlns:a="http://schemas.openxmlformats.org/drawingml/2006/main">
            <a:r>
              <a:t>- docs/mobile/IMPLEMENTATION_PLAN.md §17</a:t>
            </a:r>
          </a:p>
          <a:p xmlns:a="http://schemas.openxmlformats.org/drawingml/2006/main">
            <a:r>
              <a:t>- storage/mobile-no-packages-complete.png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FinalizePickupRequest memerlukan jumlah integer non-negatif dengan total positif dan signature PNG berisi ink. Foto opsional maksimal 4, 5 MiB per foto; signature maksimal 1 MiB. Screenshot bukan bukti operasional customer nyata. Label Cashless Hybrid pada POP hanya kategori jumlah dan bukan integrasi HO JNE Hybrid. Draft terenkripsi akun/lingkungan tersimpan lokal; tidak ada transaksi bisnis offline atau auto-submit. POP final tidak otomatis berarti receipt terkirim. Pencatatan receipt dan provider delivery harus dilihat terpisah.</a:t>
            </a:r>
          </a:p>
          <a:p xmlns:a="http://schemas.openxmlformats.org/drawingml/2006/main">
            <a:r>
              <a:t/>
            </a:r>
          </a:p>
          <a:p xmlns:a="http://schemas.openxmlformats.org/drawingml/2006/main">
            <a:r>
              <a:t>Sumber internal (ditinjau 15 Oktober 2026):</a:t>
            </a:r>
          </a:p>
          <a:p xmlns:a="http://schemas.openxmlformats.org/drawingml/2006/main">
            <a:r>
              <a:t>- app/Http/Requests/FinalizePickupRequest.php</a:t>
            </a:r>
          </a:p>
          <a:p xmlns:a="http://schemas.openxmlformats.org/drawingml/2006/main">
            <a:r>
              <a:t>- app/Actions/Pickup/FinalizePickup.php</a:t>
            </a:r>
          </a:p>
          <a:p xmlns:a="http://schemas.openxmlformats.org/drawingml/2006/main">
            <a:r>
              <a:t>- resources/mobile/src/proof-panel.tsx</a:t>
            </a:r>
          </a:p>
          <a:p xmlns:a="http://schemas.openxmlformats.org/drawingml/2006/main">
            <a:r>
              <a:t>- docs/PRD_MOBILE_V1.md MOB-06, MOB-09</a:t>
            </a:r>
          </a:p>
          <a:p xmlns:a="http://schemas.openxmlformats.org/drawingml/2006/main">
            <a:r>
              <a:t>- storage/mobile-mockup-pop-quantities.png</a:t>
            </a:r>
          </a:p>
          <a:p xmlns:a="http://schemas.openxmlformats.org/drawingml/2006/main">
            <a:r>
              <a:t>- storage/mobile-mockup-pop-review.png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Alur bisnis menghubungkan penyerahan Pickup Staff dan penerimaan Retail. Hak verifikasi/close backend tidak Retail-only: canExecutePickup() juga mencakup Pickup Staff dan Admin. Perluasan verify/close mobile telah disetujui owner dan tersedia pada API/UI, sesuai §19. Perubahan anggota hanya DRAFT, seluruh item harus diperiksa, perubahan POP yang memerlukan review menghalangi close, selisih memerlukan catatan. CLOSED tidak menyelesaikan discrepancy. Koreksi/reopen adalah batas kewenangan tersendiri, bukan fitur mobile.</a:t>
            </a:r>
          </a:p>
          <a:p xmlns:a="http://schemas.openxmlformats.org/drawingml/2006/main">
            <a:r>
              <a:t/>
            </a:r>
          </a:p>
          <a:p xmlns:a="http://schemas.openxmlformats.org/drawingml/2006/main">
            <a:r>
              <a:t>Sumber internal (ditinjau 15 Oktober 2026):</a:t>
            </a:r>
          </a:p>
          <a:p xmlns:a="http://schemas.openxmlformats.org/drawingml/2006/main">
            <a:r>
              <a:t>- routes/api.php</a:t>
            </a:r>
          </a:p>
          <a:p xmlns:a="http://schemas.openxmlformats.org/drawingml/2006/main">
            <a:r>
              <a:t>- app/Actions/Handover/VerifyItem.php</a:t>
            </a:r>
          </a:p>
          <a:p xmlns:a="http://schemas.openxmlformats.org/drawingml/2006/main">
            <a:r>
              <a:t>- app/Actions/Handover/CloseSession.php</a:t>
            </a:r>
          </a:p>
          <a:p xmlns:a="http://schemas.openxmlformats.org/drawingml/2006/main">
            <a:r>
              <a:t>- resources/mobile/src/handover-panel.tsx</a:t>
            </a:r>
          </a:p>
          <a:p xmlns:a="http://schemas.openxmlformats.org/drawingml/2006/main">
            <a:r>
              <a:t>- docs/mobile/IMPLEMENTATION_PLAN.md §19</a:t>
            </a:r>
          </a:p>
          <a:p xmlns:a="http://schemas.openxmlformats.org/drawingml/2006/main">
            <a:r>
              <a:t>- storage/mobile-handover-verification.png</a:t>
            </a:r>
          </a:p>
          <a:p xmlns:a="http://schemas.openxmlformats.org/drawingml/2006/main">
            <a:r>
              <a:t>- storage/mobile-handover-closed.png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OperationalDashboardController menyediakan ringkasan dan tren tujuh hari dari status saat ini per tanggal jadwal, bukan snapshot historis kinerja. Tidak menyebutnya BI atau performance analytics lengkap. Events pada task dan handover menyimpan actor/action/version/timestamp. Private evidence diotorisasi. Snapshot customer pada task dan POP mendukung keterlacakan ketika master customer berubah. Tidak ada GPS live tracking atau optimasi rute dalam mobile V1.</a:t>
            </a:r>
          </a:p>
          <a:p xmlns:a="http://schemas.openxmlformats.org/drawingml/2006/main">
            <a:r>
              <a:t/>
            </a:r>
          </a:p>
          <a:p xmlns:a="http://schemas.openxmlformats.org/drawingml/2006/main">
            <a:r>
              <a:t>Sumber internal (ditinjau 15 Oktober 2026):</a:t>
            </a:r>
          </a:p>
          <a:p xmlns:a="http://schemas.openxmlformats.org/drawingml/2006/main">
            <a:r>
              <a:t>- app/Http/Controllers/OperationalDashboardController.php</a:t>
            </a:r>
          </a:p>
          <a:p xmlns:a="http://schemas.openxmlformats.org/drawingml/2006/main">
            <a:r>
              <a:t>- app/Actions/Pickup/RecordPickupVisit.php</a:t>
            </a:r>
          </a:p>
          <a:p xmlns:a="http://schemas.openxmlformats.org/drawingml/2006/main">
            <a:r>
              <a:t>- app/Actions/Pickup/FinalizePickup.php</a:t>
            </a:r>
          </a:p>
          <a:p xmlns:a="http://schemas.openxmlformats.org/drawingml/2006/main">
            <a:r>
              <a:t>- app/Actions/Handover/VerifyItem.php</a:t>
            </a:r>
          </a:p>
          <a:p xmlns:a="http://schemas.openxmlformats.org/drawingml/2006/main">
            <a:r>
              <a:t>- resources/js/pages/discrepancies.tsx</a:t>
            </a:r>
          </a:p>
          <a:p xmlns:a="http://schemas.openxmlformats.org/drawingml/2006/main">
            <a:r>
              <a:t>- docs/PRD_MOBILE_V1.md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Diagram konseptual arsitektur yang disederhanakan untuk manajemen. Diagram bukan urutan transaksi literal database-ke-service. Laravel 13.35.0 dan Inertia PHP 3.5.1 dikonfirmasi melalui composer show --direct. React dan Capacitor tersedia di package.json, mobile bootstrap, Android project. FCM transport/worker/registration terimplementasi, delivery nyata pada build terbaru belum diverifikasi. Laravel mengirim notifikasi melalui antrean lalu FCM ke Android; connector menyederhanakan routing. Integrasi Hybrid/ERP/Customer Portal belum production. Tidak mengekspos URL internal, credential, DB connection, token atau Firebase project identifier.</a:t>
            </a:r>
          </a:p>
          <a:p xmlns:a="http://schemas.openxmlformats.org/drawingml/2006/main">
            <a:r>
              <a:t/>
            </a:r>
          </a:p>
          <a:p xmlns:a="http://schemas.openxmlformats.org/drawingml/2006/main">
            <a:r>
              <a:t>Sumber internal (ditinjau 15 Oktober 2026):</a:t>
            </a:r>
          </a:p>
          <a:p xmlns:a="http://schemas.openxmlformats.org/drawingml/2006/main">
            <a:r>
              <a:t>- composer show --direct, 15 Oktober 2026</a:t>
            </a:r>
          </a:p>
          <a:p xmlns:a="http://schemas.openxmlformats.org/drawingml/2006/main">
            <a:r>
              <a:t>- package.json</a:t>
            </a:r>
          </a:p>
          <a:p xmlns:a="http://schemas.openxmlformats.org/drawingml/2006/main">
            <a:r>
              <a:t>- routes/api.php</a:t>
            </a:r>
          </a:p>
          <a:p xmlns:a="http://schemas.openxmlformats.org/drawingml/2006/main">
            <a:r>
              <a:t>- resources/mobile/src/main.tsx</a:t>
            </a:r>
          </a:p>
          <a:p xmlns:a="http://schemas.openxmlformats.org/drawingml/2006/main">
            <a:r>
              <a:t>- app/Jobs/SendPickupAssignmentPush.php</a:t>
            </a:r>
          </a:p>
          <a:p xmlns:a="http://schemas.openxmlformats.org/drawingml/2006/main">
            <a:r>
              <a:t>- docs/mobile/TECHNICAL_DESIGN.md</a:t>
            </a:r>
          </a:p>
          <a:p xmlns:a="http://schemas.openxmlformats.org/drawingml/2006/main">
            <a:r>
              <a:t>- docs/mobile/IMPLEMENTATION_PLAN.md §23</a:t>
            </a:r>
          </a:p>
          <a:p xmlns:a="http://schemas.openxmlformats.org/drawingml/2006/main">
            <a:r>
              <a:t>- Roadmap dari brief pengguna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Klasifikasi terverifikasi teknis berarti implementasi terkonfirmasi dari inspeksi kode dan bukti pengujian yang sudah tercatat di repository. Tidak ada suite dijalankan ulang pada tugas presentasi ini karena tidak menjalankan migrasi atau transaksi bisnis. Latest §23 mencatat full Laravel 299 PASS/5 SKIP, mobile client44 PASS dan assembleDebug sukses. Angka ini tidak ditampilkan sebagai hasil audit baru. APK latest tercatat1.0.9/code10, masih development. Native emulator evidence sebelumnya tidak otomatis menjadi bukti physical-device atau real FCM delivery pada build latest. Baseline Technical Design §1–2/§2.1 masih menyebut Sanctum/native belum ada, NO_PACKAGES tetap assigned/retry dan mobile tidak verify/close; composer/routes/code dan addendum §17/§19 menunjukkan kondisi terbaru. PRD MOB-08 juga memuat frasa close tidak memerlukan review POP, sedangkan CloseSession memblokir needsReview(); kode menjadi sumber perilaku. Logo JNE kini ada di resources/mobile/src/jne-logo.svg meski §16 menyatakan tidak tersedia. Provenance otorisasi logo tidak dikonfirmasi, maka tidak dipakai terpisah. Fitur roadmap tetap konsep. M5 dan pilot/release gates terbuka.</a:t>
            </a:r>
          </a:p>
          <a:p xmlns:a="http://schemas.openxmlformats.org/drawingml/2006/main">
            <a:r>
              <a:t/>
            </a:r>
          </a:p>
          <a:p xmlns:a="http://schemas.openxmlformats.org/drawingml/2006/main">
            <a:r>
              <a:t>Sumber internal (ditinjau 15 Oktober 2026):</a:t>
            </a:r>
          </a:p>
          <a:p xmlns:a="http://schemas.openxmlformats.org/drawingml/2006/main">
            <a:r>
              <a:t>- docs/mobile/IMPLEMENTATION_PLAN.md §17–23</a:t>
            </a:r>
          </a:p>
          <a:p xmlns:a="http://schemas.openxmlformats.org/drawingml/2006/main">
            <a:r>
              <a:t>- docs/mobile/TECHNICAL_DESIGN.md §1–2, §16, §18</a:t>
            </a:r>
          </a:p>
          <a:p xmlns:a="http://schemas.openxmlformats.org/drawingml/2006/main">
            <a:r>
              <a:t>- docs/PRD_MOBILE_V1.md MOB-08</a:t>
            </a:r>
          </a:p>
          <a:p xmlns:a="http://schemas.openxmlformats.org/drawingml/2006/main">
            <a:r>
              <a:t>- app/Actions/Handover/CloseSession.php</a:t>
            </a:r>
          </a:p>
          <a:p xmlns:a="http://schemas.openxmlformats.org/drawingml/2006/main">
            <a:r>
              <a:t>- routes/api.php</a:t>
            </a:r>
          </a:p>
          <a:p xmlns:a="http://schemas.openxmlformats.org/drawingml/2006/main">
            <a:r>
              <a:t>- resources/mobile/src/handover-panel.tsx</a:t>
            </a:r>
          </a:p>
          <a:p xmlns:a="http://schemas.openxmlformats.org/drawingml/2006/main">
            <a:r>
              <a:t>- composer show --direct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Semua manfaat pada slide merupakan expected improvements, bukan measured outcomes. Tidak ada persentase peningkatan produktivitas, penghematan, adopsi atau SLA. Dampak perlu diukur dengan baseline proses dan hasil pilot yang disepakati. Kemampuan validasi, tugas, audit dan verifikasi mendukung hipotesis manfaat, tetapi tidak membuktikan besaran dampaknya.</a:t>
            </a:r>
          </a:p>
          <a:p xmlns:a="http://schemas.openxmlformats.org/drawingml/2006/main">
            <a:r>
              <a:t/>
            </a:r>
          </a:p>
          <a:p xmlns:a="http://schemas.openxmlformats.org/drawingml/2006/main">
            <a:r>
              <a:t>Sumber internal (ditinjau 15 Oktober 2026):</a:t>
            </a:r>
          </a:p>
          <a:p xmlns:a="http://schemas.openxmlformats.org/drawingml/2006/main">
            <a:r>
              <a:t>- docs/PRD_MOBILE_V1.md §1.2–1.3</a:t>
            </a:r>
          </a:p>
          <a:p xmlns:a="http://schemas.openxmlformats.org/drawingml/2006/main">
            <a:r>
              <a:t>- routes/web.php</a:t>
            </a:r>
          </a:p>
          <a:p xmlns:a="http://schemas.openxmlformats.org/drawingml/2006/main">
            <a:r>
              <a:t>- resources/mobile/src/execution-panel.tsx</a:t>
            </a:r>
          </a:p>
          <a:p xmlns:a="http://schemas.openxmlformats.org/drawingml/2006/main">
            <a:r>
              <a:t>- app/Actions/Handover/VerifyItem.php</a:t>
            </a:r>
          </a:p>
          <a:p xmlns:a="http://schemas.openxmlformats.org/drawingml/2006/main">
            <a:r>
              <a:t>- Brief pengguna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Roadmap berasal dari brief pengguna dan batas out-of-scope Mobile V1, bukan backlog dengan tanggal komitmen. Monitoring operasional/dashboard sudah ada; reporting/performance analytics adalah perluasan. Kategori jumlah Cashless Hybrid yang sudah ada di POP tidak berarti integrasi cashless handover sudah selesai. Tidak ada klaim AWB scanning, customer portal, fleet integration atau Hybrid API produksi tersedia. Absensi terlihat sebagai placeholder app shell tetapi tidak diprioritaskan sebagai komitmen roadmap.</a:t>
            </a:r>
          </a:p>
          <a:p xmlns:a="http://schemas.openxmlformats.org/drawingml/2006/main">
            <a:r>
              <a:t/>
            </a:r>
          </a:p>
          <a:p xmlns:a="http://schemas.openxmlformats.org/drawingml/2006/main">
            <a:r>
              <a:t>Sumber internal (ditinjau 15 Oktober 2026):</a:t>
            </a:r>
          </a:p>
          <a:p xmlns:a="http://schemas.openxmlformats.org/drawingml/2006/main">
            <a:r>
              <a:t>- Brief pengguna §7</a:t>
            </a:r>
          </a:p>
          <a:p xmlns:a="http://schemas.openxmlformats.org/drawingml/2006/main">
            <a:r>
              <a:t>- docs/PRD_MOBILE_V1.md §2.2</a:t>
            </a:r>
          </a:p>
          <a:p xmlns:a="http://schemas.openxmlformats.org/drawingml/2006/main">
            <a:r>
              <a:t>- resources/mobile/src/app.tsx daftar modul</a:t>
            </a:r>
          </a:p>
          <a:p xmlns:a="http://schemas.openxmlformats.org/drawingml/2006/main">
            <a:r>
              <a:t>- docs/mobile/IMPLEMENTATION_PLAN.md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Konsep secara eksplisit diminta pengguna. Satu pickup berkaitan dengan satu cashless handover, staff scan AWB individual, respons validasi Hybrid tampil di aplikasi, authorized office-side integration/bot dapat memproses HO. Belum ada production integration, AWB scanning atau validasi Hybrid yang terverifikasi dalam repository. Ketersediaan API, akses bot, izin, kontrak layanan, sistem record dan detail exception handling belum dikonfirmasi. Diagram tidak menjanjikan akses bypass atau otomatisasi tanpa otorisasi. Seluruh node dan label editable.</a:t>
            </a:r>
          </a:p>
          <a:p xmlns:a="http://schemas.openxmlformats.org/drawingml/2006/main">
            <a:r>
              <a:t/>
            </a:r>
          </a:p>
          <a:p xmlns:a="http://schemas.openxmlformats.org/drawingml/2006/main">
            <a:r>
              <a:t>Sumber internal (ditinjau 15 Oktober 2026):</a:t>
            </a:r>
          </a:p>
          <a:p xmlns:a="http://schemas.openxmlformats.org/drawingml/2006/main">
            <a:r>
              <a:t>- Brief pengguna §7</a:t>
            </a:r>
          </a:p>
          <a:p xmlns:a="http://schemas.openxmlformats.org/drawingml/2006/main">
            <a:r>
              <a:t>- docs/PRD_MOBILE_V1.md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Usulan next steps mengikuti remaining gates, bukan approval untuk melakukan pilot saat ini. UAT-01 sampai UAT-12 mencakup login, takeover success/conflict, POP, NO_PACKAGES, restart, timeout, ownership lost, handover, unauthorized, receipt status dan web/mobile consistency. Tambahkan manual customer/bulk/Admin push UAT terbaru, real FCM foreground/background/cold tap dan signed upgrade/physical fleet. Kriteria keberhasilan dan baseline proses perlu kesepakatan bisnis; tidak menetapkan target numerik tanpa evidence.</a:t>
            </a:r>
          </a:p>
          <a:p xmlns:a="http://schemas.openxmlformats.org/drawingml/2006/main">
            <a:r>
              <a:t/>
            </a:r>
          </a:p>
          <a:p xmlns:a="http://schemas.openxmlformats.org/drawingml/2006/main">
            <a:r>
              <a:t>Sumber internal (ditinjau 15 Oktober 2026):</a:t>
            </a:r>
          </a:p>
          <a:p xmlns:a="http://schemas.openxmlformats.org/drawingml/2006/main">
            <a:r>
              <a:t>- docs/PRD_MOBILE_V1.md §12–13 dan UAT-01–12</a:t>
            </a:r>
          </a:p>
          <a:p xmlns:a="http://schemas.openxmlformats.org/drawingml/2006/main">
            <a:r>
              <a:t>- docs/mobile/IMPLEMENTATION_PLAN.md §19–23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Penutup membedakan implementasi teknis dari kesiapan pilot. Meminta diskusi scope dan ownership, bukan menyatakan persetujuan pilot telah diperoleh. Narasi inti: satu alur dari penugasan, pekerjaan lapangan, bukti, handover dan visibilitas, kemudian perluasan terukur setelah UAT.</a:t>
            </a:r>
          </a:p>
          <a:p xmlns:a="http://schemas.openxmlformats.org/drawingml/2006/main">
            <a:r>
              <a:t/>
            </a:r>
          </a:p>
          <a:p xmlns:a="http://schemas.openxmlformats.org/drawingml/2006/main">
            <a:r>
              <a:t>Sumber internal (ditinjau 15 Oktober 2026):</a:t>
            </a:r>
          </a:p>
          <a:p xmlns:a="http://schemas.openxmlformats.org/drawingml/2006/main">
            <a:r>
              <a:t>- docs/PRD_MOBILE_V1.md §1, §13</a:t>
            </a:r>
          </a:p>
          <a:p xmlns:a="http://schemas.openxmlformats.org/drawingml/2006/main">
            <a:r>
              <a:t>- docs/mobile/IMPLEMENTATION_PLAN.md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5a9d254d944e3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2c03dfc2f6140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e19057d4ec14df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4578f39b4934f4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006306d8d0e4d7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7fd5cda728944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3D35318-F37A-4582-80C0-CC40B474E9FF}"/>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1545526-07EC-4562-B27C-8E224BA56F12}"/>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165079D-1BD3-4C54-81DA-0B3DA1E48329}"/>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B1DFD8-8298-49E2-BEB1-6C0B823429BC}"/>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FB84BD4-2468-4193-AE50-170E468F5D8D}"/>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93522A0-802B-4BA1-A926-6AB0B9304F3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530EF33-F98F-47C5-A3AB-3753DC38E0AD}"/>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B9052E-4DEB-4967-947F-696110BDCF52}"/>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3DFB4D4-5A8A-48B5-80FF-CD9577614D60}"/>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4C1234-69B3-48B1-96E8-819D7A83B3A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lvl1pPr>
            <a:lvl2pPr marL="666750" indent="-285750">
              <a:lnSpc>
                <a:spcPct val="110000"/>
              </a:lnSpc>
              <a:spcBef>
                <a:spcPts val="0"/>
              </a:spcBef>
              <a:spcAft>
                <a:spcPts val="1500"/>
              </a:spcAft>
              <a:buChar char="•"/>
            </a:lvl2pPr>
            <a:lvl3pPr marL="1047750" indent="-285750">
              <a:lnSpc>
                <a:spcPct val="110000"/>
              </a:lnSpc>
              <a:spcBef>
                <a:spcPts val="0"/>
              </a:spcBef>
              <a:spcAft>
                <a:spcPts val="1500"/>
              </a:spcAft>
              <a:buChar char="•"/>
            </a:lvl3pPr>
            <a:lvl4pPr marL="1428750" indent="-285750">
              <a:lnSpc>
                <a:spcPct val="110000"/>
              </a:lnSpc>
              <a:spcBef>
                <a:spcPts val="0"/>
              </a:spcBef>
              <a:spcAft>
                <a:spcPts val="1500"/>
              </a:spcAft>
              <a:buChar char="•"/>
            </a:lvl4pPr>
            <a:lvl5pPr marL="1809750" indent="-285750">
              <a:lnSpc>
                <a:spcPct val="110000"/>
              </a:lnSpc>
              <a:spcBef>
                <a:spcPts val="0"/>
              </a:spcBef>
              <a:spcAft>
                <a:spcPts val="1500"/>
              </a:spcAft>
              <a:buChar char="•"/>
            </a:lvl5pPr>
            <a:lvl6pPr marL="2190750" indent="-285750">
              <a:lnSpc>
                <a:spcPct val="110000"/>
              </a:lnSpc>
              <a:spcBef>
                <a:spcPts val="0"/>
              </a:spcBef>
              <a:spcAft>
                <a:spcPts val="1500"/>
              </a:spcAft>
              <a:buChar char="•"/>
            </a:lvl6pPr>
            <a:lvl7pPr marL="2571750" indent="-285750">
              <a:lnSpc>
                <a:spcPct val="110000"/>
              </a:lnSpc>
              <a:spcBef>
                <a:spcPts val="0"/>
              </a:spcBef>
              <a:spcAft>
                <a:spcPts val="1500"/>
              </a:spcAft>
              <a:buChar char="•"/>
            </a:lvl7pPr>
            <a:lvl8pPr marL="2952750" indent="-285750">
              <a:lnSpc>
                <a:spcPct val="110000"/>
              </a:lnSpc>
              <a:spcBef>
                <a:spcPts val="0"/>
              </a:spcBef>
              <a:spcAft>
                <a:spcPts val="1500"/>
              </a:spcAft>
              <a:buChar char="•"/>
            </a:lvl8pPr>
            <a:lvl9pPr marL="3333750" indent="-285750">
              <a:lnSpc>
                <a:spcPct val="110000"/>
              </a:lnSpc>
              <a:spcBef>
                <a:spcPts val="0"/>
              </a:spcBef>
              <a:spcAft>
                <a:spcPts val="15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0febd86e804111" /><Relationship Type="http://schemas.openxmlformats.org/officeDocument/2006/relationships/slideLayout" Target="/ppt/slideLayouts/slideLayout1.xml" Id="R4e6cec083ed04319" /><Relationship Type="http://schemas.openxmlformats.org/officeDocument/2006/relationships/slideLayout" Target="/ppt/slideLayouts/slideLayout2.xml" Id="R840eba6801b845ae" /><Relationship Type="http://schemas.openxmlformats.org/officeDocument/2006/relationships/slideLayout" Target="/ppt/slideLayouts/slideLayout3.xml" Id="Rf3f589ef738d4e46" /><Relationship Type="http://schemas.openxmlformats.org/officeDocument/2006/relationships/slideLayout" Target="/ppt/slideLayouts/slideLayout4.xml" Id="R258342362527431c" /><Relationship Type="http://schemas.openxmlformats.org/officeDocument/2006/relationships/slideLayout" Target="/ppt/slideLayouts/slideLayout5.xml" Id="Rc3974872480541f5" /><Relationship Type="http://schemas.openxmlformats.org/officeDocument/2006/relationships/slideLayout" Target="/ppt/slideLayouts/slideLayout6.xml" Id="R211bfc4f39af43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6cec083ed04319"/>
    <p:sldLayoutId xmlns:r="http://schemas.openxmlformats.org/officeDocument/2006/relationships" id="2147483650" r:id="R840eba6801b845ae"/>
    <p:sldLayoutId xmlns:r="http://schemas.openxmlformats.org/officeDocument/2006/relationships" id="2147483651" r:id="Rf3f589ef738d4e46"/>
    <p:sldLayoutId xmlns:r="http://schemas.openxmlformats.org/officeDocument/2006/relationships" id="2147483652" r:id="R258342362527431c"/>
    <p:sldLayoutId xmlns:r="http://schemas.openxmlformats.org/officeDocument/2006/relationships" id="2147483653" r:id="Rc3974872480541f5"/>
    <p:sldLayoutId xmlns:r="http://schemas.openxmlformats.org/officeDocument/2006/relationships" id="2147483654" r:id="R211bfc4f39af43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99fbde6b5f942c5" /><Relationship Type="http://schemas.openxmlformats.org/officeDocument/2006/relationships/image" Target="/ppt/media/image.png" Id="R60fc614775b34123" /><Relationship Type="http://schemas.openxmlformats.org/officeDocument/2006/relationships/notesSlide" Target="/ppt/notesSlides/notesSlide1.xml" Id="Rf4d3cbf23a2740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b3ef17776248c8" /><Relationship Type="http://schemas.openxmlformats.org/officeDocument/2006/relationships/notesSlide" Target="/ppt/notesSlides/notesSlide2.xml" Id="Rb1e20f4fcd8046b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579d015b0b74083" /><Relationship Type="http://schemas.openxmlformats.org/officeDocument/2006/relationships/notesSlide" Target="/ppt/notesSlides/notesSlide3.xml" Id="R330d604db8024b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ffa8b1ea71412f" /><Relationship Type="http://schemas.openxmlformats.org/officeDocument/2006/relationships/notesSlide" Target="/ppt/notesSlides/notesSlide4.xml" Id="Rfb6ea52a48844a0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9664842b0c2415a" /><Relationship Type="http://schemas.openxmlformats.org/officeDocument/2006/relationships/notesSlide" Target="/ppt/notesSlides/notesSlide5.xml" Id="R48fc0a42b027404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f9301e7b3004790" /><Relationship Type="http://schemas.openxmlformats.org/officeDocument/2006/relationships/image" Target="/ppt/media/image2.png" Id="R792b7edf8ddf4d89" /><Relationship Type="http://schemas.openxmlformats.org/officeDocument/2006/relationships/notesSlide" Target="/ppt/notesSlides/notesSlide6.xml" Id="R8af787e0b93642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9669fae23b64b9b" /><Relationship Type="http://schemas.openxmlformats.org/officeDocument/2006/relationships/image" Target="/ppt/media/image3.png" Id="Rda2e29fb6ca54ef0" /><Relationship Type="http://schemas.openxmlformats.org/officeDocument/2006/relationships/image" Target="/ppt/media/image4.png" Id="Re6e9588ab1bc40e6" /><Relationship Type="http://schemas.openxmlformats.org/officeDocument/2006/relationships/notesSlide" Target="/ppt/notesSlides/notesSlide7.xml" Id="Re6ad52aadcbb47e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05f59c64266476c" /><Relationship Type="http://schemas.openxmlformats.org/officeDocument/2006/relationships/image" Target="/ppt/media/image5.png" Id="R330e6da6806746be" /><Relationship Type="http://schemas.openxmlformats.org/officeDocument/2006/relationships/notesSlide" Target="/ppt/notesSlides/notesSlide8.xml" Id="R30b8005acd284ce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1990ca31b5d4aef" /><Relationship Type="http://schemas.openxmlformats.org/officeDocument/2006/relationships/image" Target="/ppt/media/image6.png" Id="R5384e969ff6a46af" /><Relationship Type="http://schemas.openxmlformats.org/officeDocument/2006/relationships/image" Target="/ppt/media/image7.png" Id="R2b07c5d411744d92" /><Relationship Type="http://schemas.openxmlformats.org/officeDocument/2006/relationships/notesSlide" Target="/ppt/notesSlides/notesSlide9.xml" Id="Rd9aebc67eedc42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779c14f16364cca" /><Relationship Type="http://schemas.openxmlformats.org/officeDocument/2006/relationships/image" Target="/ppt/media/image8.png" Id="R15c26846eb78498a" /><Relationship Type="http://schemas.openxmlformats.org/officeDocument/2006/relationships/image" Target="/ppt/media/image9.png" Id="R1b68792d93794a59" /><Relationship Type="http://schemas.openxmlformats.org/officeDocument/2006/relationships/notesSlide" Target="/ppt/notesSlides/notesSlide10.xml" Id="R5a6fb0aa44cb488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70090b6a8e44a24" /><Relationship Type="http://schemas.openxmlformats.org/officeDocument/2006/relationships/notesSlide" Target="/ppt/notesSlides/notesSlide11.xml" Id="R02829ee59c3940d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7ede04688ae4aab" /><Relationship Type="http://schemas.openxmlformats.org/officeDocument/2006/relationships/notesSlide" Target="/ppt/notesSlides/notesSlide12.xml" Id="R216137bb052d4c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ba3874fcc8e4cff" /><Relationship Type="http://schemas.openxmlformats.org/officeDocument/2006/relationships/notesSlide" Target="/ppt/notesSlides/notesSlide13.xml" Id="R58c26170b06942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f3c1f648c6242d9" /><Relationship Type="http://schemas.openxmlformats.org/officeDocument/2006/relationships/notesSlide" Target="/ppt/notesSlides/notesSlide14.xml" Id="R9cf7c42c914f40d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0cf3e99ae624bc8" /><Relationship Type="http://schemas.openxmlformats.org/officeDocument/2006/relationships/notesSlide" Target="/ppt/notesSlides/notesSlide15.xml" Id="Rdb11ce0d8b334a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f94663edece42b4" /><Relationship Type="http://schemas.openxmlformats.org/officeDocument/2006/relationships/notesSlide" Target="/ppt/notesSlides/notesSlide16.xml" Id="R667d3714051744f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50948724459423b" /><Relationship Type="http://schemas.openxmlformats.org/officeDocument/2006/relationships/notesSlide" Target="/ppt/notesSlides/notesSlide17.xml" Id="Rc92c0da32bb74e2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035215171d384df1" /><Relationship Type="http://schemas.openxmlformats.org/officeDocument/2006/relationships/notesSlide" Target="/ppt/notesSlides/notesSlide18.xml" Id="R50a9f10f7d44488b"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ccent">
            <a:extLst xmlns:a="http://schemas.openxmlformats.org/drawingml/2006/main">
              <a:ext uri="{FF2B5EF4-FFF2-40B4-BE49-F238E27FC236}">
                <a16:creationId xmlns:a16="http://schemas.microsoft.com/office/drawing/2014/main" id="{03D4F74A-46A5-4A03-9B52-0224E24E2B2C}"/>
              </a:ext>
            </a:extLst>
          </p:cNvPr>
          <p:cNvSpPr>
            <a:spLocks xmlns:a="http://schemas.openxmlformats.org/drawingml/2006/main" noGrp="1"/>
          </p:cNvSpPr>
          <p:nvPr/>
        </p:nvSpPr>
        <p:spPr>
          <a:xfrm xmlns:a="http://schemas.openxmlformats.org/drawingml/2006/main">
            <a:off x="762000" y="904875"/>
            <a:ext cx="762000" cy="57150"/>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2" name="Text RETAIL OPERATIONS">
            <a:extLst xmlns:a="http://schemas.openxmlformats.org/drawingml/2006/main">
              <a:ext uri="{FF2B5EF4-FFF2-40B4-BE49-F238E27FC236}">
                <a16:creationId xmlns:a16="http://schemas.microsoft.com/office/drawing/2014/main" id="{0831E00B-7C43-4C24-88EA-201191D7CE86}"/>
              </a:ext>
            </a:extLst>
          </p:cNvPr>
          <p:cNvSpPr>
            <a:spLocks xmlns:a="http://schemas.openxmlformats.org/drawingml/2006/main" noGrp="1"/>
          </p:cNvSpPr>
          <p:nvPr/>
        </p:nvSpPr>
        <p:spPr>
          <a:xfrm xmlns:a="http://schemas.openxmlformats.org/drawingml/2006/main">
            <a:off x="762000" y="12858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7336F"/>
                </a:solidFill>
                <a:latin typeface="Arial"/>
                <a:ea typeface="Arial"/>
                <a:cs typeface="Arial"/>
              </a:defRPr>
            </a:defPPr>
          </a:lstStyle>
          <a:p xmlns:a="http://schemas.openxmlformats.org/drawingml/2006/main">
            <a:pPr algn="l">
              <a:defRPr sz="1800" b="1">
                <a:solidFill>
                  <a:srgbClr val="17336F"/>
                </a:solidFill>
                <a:latin typeface="Arial"/>
                <a:ea typeface="Arial"/>
                <a:cs typeface="Arial"/>
              </a:defRPr>
            </a:pPr>
            <a:r>
              <a:rPr sz="1800" b="1">
                <a:solidFill>
                  <a:srgbClr val="17336F"/>
                </a:solidFill>
                <a:latin typeface="Arial"/>
                <a:ea typeface="Arial"/>
                <a:cs typeface="Arial"/>
              </a:rPr>
              <a:t>RETAIL OPERATIONS</a:t>
            </a:r>
          </a:p>
        </p:txBody>
      </p:sp>
      <p:sp>
        <p:nvSpPr>
          <p:cNvPr id="3" name="Text Retail Operations&#10;Platform">
            <a:extLst xmlns:a="http://schemas.openxmlformats.org/drawingml/2006/main">
              <a:ext uri="{FF2B5EF4-FFF2-40B4-BE49-F238E27FC236}">
                <a16:creationId xmlns:a16="http://schemas.microsoft.com/office/drawing/2014/main" id="{5B699E8D-035F-4F8A-ACF4-4E3879397238}"/>
              </a:ext>
            </a:extLst>
          </p:cNvPr>
          <p:cNvSpPr>
            <a:spLocks xmlns:a="http://schemas.openxmlformats.org/drawingml/2006/main" noGrp="1"/>
          </p:cNvSpPr>
          <p:nvPr/>
        </p:nvSpPr>
        <p:spPr>
          <a:xfrm xmlns:a="http://schemas.openxmlformats.org/drawingml/2006/main">
            <a:off x="762000" y="2381250"/>
            <a:ext cx="942975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225" b="1">
                <a:solidFill>
                  <a:srgbClr val="17336F"/>
                </a:solidFill>
                <a:latin typeface="Arial"/>
                <a:ea typeface="Arial"/>
                <a:cs typeface="Arial"/>
              </a:defRPr>
            </a:defPPr>
          </a:lstStyle>
          <a:p xmlns:a="http://schemas.openxmlformats.org/drawingml/2006/main">
            <a:pPr algn="l">
              <a:defRPr sz="6225" b="1">
                <a:solidFill>
                  <a:srgbClr val="17336F"/>
                </a:solidFill>
                <a:latin typeface="Arial"/>
                <a:ea typeface="Arial"/>
                <a:cs typeface="Arial"/>
              </a:defRPr>
            </a:pPr>
            <a:r>
              <a:rPr sz="6225" b="1">
                <a:solidFill>
                  <a:srgbClr val="17336F"/>
                </a:solidFill>
                <a:latin typeface="Arial"/>
                <a:ea typeface="Arial"/>
                <a:cs typeface="Arial"/>
              </a:rPr>
              <a:t>Retail Operations</a:t>
            </a:r>
          </a:p>
          <a:p xmlns:a="http://schemas.openxmlformats.org/drawingml/2006/main">
            <a:pPr algn="l">
              <a:defRPr sz="6225" b="1">
                <a:solidFill>
                  <a:srgbClr val="17336F"/>
                </a:solidFill>
                <a:latin typeface="Arial"/>
                <a:ea typeface="Arial"/>
                <a:cs typeface="Arial"/>
              </a:defRPr>
            </a:pPr>
            <a:r>
              <a:rPr sz="6225" b="1">
                <a:solidFill>
                  <a:srgbClr val="17336F"/>
                </a:solidFill>
                <a:latin typeface="Arial"/>
                <a:ea typeface="Arial"/>
                <a:cs typeface="Arial"/>
              </a:rPr>
              <a:t>Platform</a:t>
            </a:r>
          </a:p>
        </p:txBody>
      </p:sp>
      <p:sp>
        <p:nvSpPr>
          <p:cNvPr id="4" name="Text Pickup Management untuk&#10;operasional ca">
            <a:extLst xmlns:a="http://schemas.openxmlformats.org/drawingml/2006/main">
              <a:ext uri="{FF2B5EF4-FFF2-40B4-BE49-F238E27FC236}">
                <a16:creationId xmlns:a16="http://schemas.microsoft.com/office/drawing/2014/main" id="{D18A62B1-B36F-4F9D-9E88-996F36D2E574}"/>
              </a:ext>
            </a:extLst>
          </p:cNvPr>
          <p:cNvSpPr>
            <a:spLocks xmlns:a="http://schemas.openxmlformats.org/drawingml/2006/main" noGrp="1"/>
          </p:cNvSpPr>
          <p:nvPr/>
        </p:nvSpPr>
        <p:spPr>
          <a:xfrm xmlns:a="http://schemas.openxmlformats.org/drawingml/2006/main">
            <a:off x="800100" y="4667250"/>
            <a:ext cx="876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0">
                <a:solidFill>
                  <a:srgbClr val="15243B"/>
                </a:solidFill>
                <a:latin typeface="Arial"/>
                <a:ea typeface="Arial"/>
                <a:cs typeface="Arial"/>
              </a:defRPr>
            </a:defPPr>
          </a:lstStyle>
          <a:p xmlns:a="http://schemas.openxmlformats.org/drawingml/2006/main">
            <a:pPr algn="l">
              <a:defRPr sz="2700" b="0">
                <a:solidFill>
                  <a:srgbClr val="15243B"/>
                </a:solidFill>
                <a:latin typeface="Arial"/>
                <a:ea typeface="Arial"/>
                <a:cs typeface="Arial"/>
              </a:defRPr>
            </a:pPr>
            <a:r>
              <a:rPr sz="2700" b="0">
                <a:solidFill>
                  <a:srgbClr val="15243B"/>
                </a:solidFill>
                <a:latin typeface="Arial"/>
                <a:ea typeface="Arial"/>
                <a:cs typeface="Arial"/>
              </a:rPr>
              <a:t>Pickup Management untuk</a:t>
            </a:r>
          </a:p>
          <a:p xmlns:a="http://schemas.openxmlformats.org/drawingml/2006/main">
            <a:pPr algn="l">
              <a:defRPr sz="2700" b="0">
                <a:solidFill>
                  <a:srgbClr val="15243B"/>
                </a:solidFill>
                <a:latin typeface="Arial"/>
                <a:ea typeface="Arial"/>
                <a:cs typeface="Arial"/>
              </a:defRPr>
            </a:pPr>
            <a:r>
              <a:rPr sz="2700" b="0">
                <a:solidFill>
                  <a:srgbClr val="15243B"/>
                </a:solidFill>
                <a:latin typeface="Arial"/>
                <a:ea typeface="Arial"/>
                <a:cs typeface="Arial"/>
              </a:rPr>
              <a:t>operasional cabang dan petugas lapangan</a:t>
            </a:r>
          </a:p>
        </p:txBody>
      </p:sp>
      <p:sp>
        <p:nvSpPr>
          <p:cNvPr id="5" name="Text Paparan produk internal&#10;15 Oktober 202">
            <a:extLst xmlns:a="http://schemas.openxmlformats.org/drawingml/2006/main">
              <a:ext uri="{FF2B5EF4-FFF2-40B4-BE49-F238E27FC236}">
                <a16:creationId xmlns:a16="http://schemas.microsoft.com/office/drawing/2014/main" id="{FED14FA9-3872-4C81-9FD0-43D81CF37574}"/>
              </a:ext>
            </a:extLst>
          </p:cNvPr>
          <p:cNvSpPr>
            <a:spLocks xmlns:a="http://schemas.openxmlformats.org/drawingml/2006/main" noGrp="1"/>
          </p:cNvSpPr>
          <p:nvPr/>
        </p:nvSpPr>
        <p:spPr>
          <a:xfrm xmlns:a="http://schemas.openxmlformats.org/drawingml/2006/main">
            <a:off x="800100" y="6572250"/>
            <a:ext cx="762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C82"/>
                </a:solidFill>
                <a:latin typeface="Arial"/>
                <a:ea typeface="Arial"/>
                <a:cs typeface="Arial"/>
              </a:defRPr>
            </a:defPPr>
          </a:lstStyle>
          <a:p xmlns:a="http://schemas.openxmlformats.org/drawingml/2006/main">
            <a:pPr algn="l">
              <a:defRPr sz="1875" b="0">
                <a:solidFill>
                  <a:srgbClr val="5D6C82"/>
                </a:solidFill>
                <a:latin typeface="Arial"/>
                <a:ea typeface="Arial"/>
                <a:cs typeface="Arial"/>
              </a:defRPr>
            </a:pPr>
            <a:r>
              <a:rPr sz="1875" b="0">
                <a:solidFill>
                  <a:srgbClr val="5D6C82"/>
                </a:solidFill>
                <a:latin typeface="Arial"/>
                <a:ea typeface="Arial"/>
                <a:cs typeface="Arial"/>
              </a:rPr>
              <a:t>Paparan produk internal</a:t>
            </a:r>
          </a:p>
          <a:p xmlns:a="http://schemas.openxmlformats.org/drawingml/2006/main">
            <a:pPr algn="l">
              <a:defRPr sz="1875" b="0">
                <a:solidFill>
                  <a:srgbClr val="5D6C82"/>
                </a:solidFill>
                <a:latin typeface="Arial"/>
                <a:ea typeface="Arial"/>
                <a:cs typeface="Arial"/>
              </a:defRPr>
            </a:pPr>
            <a:r>
              <a:rPr sz="1875" b="0">
                <a:solidFill>
                  <a:srgbClr val="5D6C82"/>
                </a:solidFill>
                <a:latin typeface="Arial"/>
                <a:ea typeface="Arial"/>
                <a:cs typeface="Arial"/>
              </a:rPr>
              <a:t>15 Oktober 2026</a:t>
            </a:r>
          </a:p>
        </p:txBody>
      </p:sp>
      <p:sp>
        <p:nvSpPr>
          <p:cNvPr id="6" name="Frame Android">
            <a:extLst xmlns:a="http://schemas.openxmlformats.org/drawingml/2006/main">
              <a:ext uri="{FF2B5EF4-FFF2-40B4-BE49-F238E27FC236}">
                <a16:creationId xmlns:a16="http://schemas.microsoft.com/office/drawing/2014/main" id="{E7ED6454-CE1B-4BD6-91E5-064E0CA152BD}"/>
              </a:ext>
            </a:extLst>
          </p:cNvPr>
          <p:cNvSpPr>
            <a:spLocks xmlns:a="http://schemas.openxmlformats.org/drawingml/2006/main" noGrp="1"/>
          </p:cNvSpPr>
          <p:nvPr/>
        </p:nvSpPr>
        <p:spPr>
          <a:xfrm xmlns:a="http://schemas.openxmlformats.org/drawingml/2006/main">
            <a:off x="10749609" y="914400"/>
            <a:ext cx="3313407" cy="6600825"/>
          </a:xfrm>
          <a:prstGeom xmlns:a="http://schemas.openxmlformats.org/drawingml/2006/main" prst="roundRect">
            <a:avLst>
              <a:gd name="adj" fmla="val 6324"/>
            </a:avLst>
          </a:prstGeom>
          <a:solidFill xmlns:a="http://schemas.openxmlformats.org/drawingml/2006/main">
            <a:srgbClr val="15243B"/>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F1C0D185-28CB-41FA-BF07-8C30E387AB6C}"/>
              </a:ext>
            </a:extLst>
          </p:cNvPr>
          <p:cNvPicPr>
            <a:picLocks xmlns:a="http://schemas.openxmlformats.org/drawingml/2006/main" noChangeAspect="1"/>
          </p:cNvPicPr>
          <p:nvPr/>
        </p:nvPicPr>
        <p:blipFill>
          <a:blip xmlns:r="http://schemas.openxmlformats.org/officeDocument/2006/relationships" xmlns:a="http://schemas.openxmlformats.org/drawingml/2006/main" r:embed="R60fc614775b34123"/>
          <a:stretch xmlns:a="http://schemas.openxmlformats.org/drawingml/2006/main"/>
        </p:blipFill>
        <p:spPr>
          <a:xfrm xmlns:a="http://schemas.openxmlformats.org/drawingml/2006/main">
            <a:off x="10835334" y="1000125"/>
            <a:ext cx="3141957" cy="6429375"/>
          </a:xfrm>
          <a:prstGeom xmlns:a="http://schemas.openxmlformats.org/drawingml/2006/main" prst="rect">
            <a:avLst/>
          </a:prstGeom>
        </p:spPr>
      </p:pic>
      <p:sp>
        <p:nvSpPr>
          <p:cNvPr id="8" name="Text Aplikasi aktual pada emulator; data uj">
            <a:extLst xmlns:a="http://schemas.openxmlformats.org/drawingml/2006/main">
              <a:ext uri="{FF2B5EF4-FFF2-40B4-BE49-F238E27FC236}">
                <a16:creationId xmlns:a16="http://schemas.microsoft.com/office/drawing/2014/main" id="{9D5FA8FF-CC0D-4481-82D6-1C5065EEFA32}"/>
              </a:ext>
            </a:extLst>
          </p:cNvPr>
          <p:cNvSpPr>
            <a:spLocks xmlns:a="http://schemas.openxmlformats.org/drawingml/2006/main" noGrp="1"/>
          </p:cNvSpPr>
          <p:nvPr/>
        </p:nvSpPr>
        <p:spPr>
          <a:xfrm xmlns:a="http://schemas.openxmlformats.org/drawingml/2006/main">
            <a:off x="10001250" y="7715250"/>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Aplikasi aktual pada emulator; data uji sintetis</a:t>
            </a:r>
          </a:p>
        </p:txBody>
      </p:sp>
    </p:spTree>
    <p:extLst>
      <p:ext uri="{BB962C8B-B14F-4D97-AF65-F5344CB8AC3E}">
        <p14:creationId xmlns:p14="http://schemas.microsoft.com/office/powerpoint/2010/main" val="7570510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Text 02">
            <a:extLst xmlns:a="http://schemas.openxmlformats.org/drawingml/2006/main">
              <a:ext uri="{FF2B5EF4-FFF2-40B4-BE49-F238E27FC236}">
                <a16:creationId xmlns:a16="http://schemas.microsoft.com/office/drawing/2014/main" id="{352347F1-4BE4-4F01-AF0F-EB243556B435}"/>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02</a:t>
            </a:r>
          </a:p>
        </p:txBody>
      </p:sp>
      <p:sp>
        <p:nvSpPr>
          <p:cNvPr id="2" name="Text Retail Operations Platform   /   Inter">
            <a:extLst xmlns:a="http://schemas.openxmlformats.org/drawingml/2006/main">
              <a:ext uri="{FF2B5EF4-FFF2-40B4-BE49-F238E27FC236}">
                <a16:creationId xmlns:a16="http://schemas.microsoft.com/office/drawing/2014/main" id="{9195C4FA-BB67-4069-AFA7-63D2002633DE}"/>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C7AF047A-09D0-42FD-84F6-40B4C9521D1B}"/>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485269F8-FEB5-4A1C-B1C2-046F7C79611E}"/>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Tantangan operasional yang ingin ditan">
            <a:extLst xmlns:a="http://schemas.openxmlformats.org/drawingml/2006/main">
              <a:ext uri="{FF2B5EF4-FFF2-40B4-BE49-F238E27FC236}">
                <a16:creationId xmlns:a16="http://schemas.microsoft.com/office/drawing/2014/main" id="{6AFC46F3-E990-4D52-B415-C6293CEEF434}"/>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Tantangan operasional yang ingin ditangani</a:t>
            </a:r>
          </a:p>
        </p:txBody>
      </p:sp>
      <p:sp>
        <p:nvSpPr>
          <p:cNvPr id="6" name="Text Kebutuhan proses berdasarkan PRD. Besa">
            <a:extLst xmlns:a="http://schemas.openxmlformats.org/drawingml/2006/main">
              <a:ext uri="{FF2B5EF4-FFF2-40B4-BE49-F238E27FC236}">
                <a16:creationId xmlns:a16="http://schemas.microsoft.com/office/drawing/2014/main" id="{1AB9DF77-EEAD-4D83-9AEC-B22226D5D4F8}"/>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Kebutuhan proses berdasarkan PRD. Besaran masalah belum diukur.</a:t>
            </a:r>
          </a:p>
        </p:txBody>
      </p:sp>
      <p:sp>
        <p:nvSpPr>
          <p:cNvPr id="7" name="Text TITIK KOORDINASI">
            <a:extLst xmlns:a="http://schemas.openxmlformats.org/drawingml/2006/main">
              <a:ext uri="{FF2B5EF4-FFF2-40B4-BE49-F238E27FC236}">
                <a16:creationId xmlns:a16="http://schemas.microsoft.com/office/drawing/2014/main" id="{3DA6CBC7-EEBA-440B-88B7-FD3C84DB1F4C}"/>
              </a:ext>
            </a:extLst>
          </p:cNvPr>
          <p:cNvSpPr>
            <a:spLocks xmlns:a="http://schemas.openxmlformats.org/drawingml/2006/main" noGrp="1"/>
          </p:cNvSpPr>
          <p:nvPr/>
        </p:nvSpPr>
        <p:spPr>
          <a:xfrm xmlns:a="http://schemas.openxmlformats.org/drawingml/2006/main">
            <a:off x="762000" y="261937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DF2335"/>
                </a:solidFill>
                <a:latin typeface="Arial"/>
                <a:ea typeface="Arial"/>
                <a:cs typeface="Arial"/>
              </a:defRPr>
            </a:defPPr>
          </a:lstStyle>
          <a:p xmlns:a="http://schemas.openxmlformats.org/drawingml/2006/main">
            <a:pPr algn="l">
              <a:defRPr sz="1650" b="1">
                <a:solidFill>
                  <a:srgbClr val="DF2335"/>
                </a:solidFill>
                <a:latin typeface="Arial"/>
                <a:ea typeface="Arial"/>
                <a:cs typeface="Arial"/>
              </a:defRPr>
            </a:pPr>
            <a:r>
              <a:rPr sz="1650" b="1">
                <a:solidFill>
                  <a:srgbClr val="DF2335"/>
                </a:solidFill>
                <a:latin typeface="Arial"/>
                <a:ea typeface="Arial"/>
                <a:cs typeface="Arial"/>
              </a:rPr>
              <a:t>TITIK KOORDINASI</a:t>
            </a:r>
          </a:p>
        </p:txBody>
      </p:sp>
      <p:sp>
        <p:nvSpPr>
          <p:cNvPr id="8" name="Text KEBUTUHAN OPERASIONAL">
            <a:extLst xmlns:a="http://schemas.openxmlformats.org/drawingml/2006/main">
              <a:ext uri="{FF2B5EF4-FFF2-40B4-BE49-F238E27FC236}">
                <a16:creationId xmlns:a16="http://schemas.microsoft.com/office/drawing/2014/main" id="{C10A3BD0-25D7-4861-BFDA-F9DC0BAAA61D}"/>
              </a:ext>
            </a:extLst>
          </p:cNvPr>
          <p:cNvSpPr>
            <a:spLocks xmlns:a="http://schemas.openxmlformats.org/drawingml/2006/main" noGrp="1"/>
          </p:cNvSpPr>
          <p:nvPr/>
        </p:nvSpPr>
        <p:spPr>
          <a:xfrm xmlns:a="http://schemas.openxmlformats.org/drawingml/2006/main">
            <a:off x="7524750" y="26193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7336F"/>
                </a:solidFill>
                <a:latin typeface="Arial"/>
                <a:ea typeface="Arial"/>
                <a:cs typeface="Arial"/>
              </a:defRPr>
            </a:defPPr>
          </a:lstStyle>
          <a:p xmlns:a="http://schemas.openxmlformats.org/drawingml/2006/main">
            <a:pPr algn="l">
              <a:defRPr sz="1650" b="1">
                <a:solidFill>
                  <a:srgbClr val="17336F"/>
                </a:solidFill>
                <a:latin typeface="Arial"/>
                <a:ea typeface="Arial"/>
                <a:cs typeface="Arial"/>
              </a:defRPr>
            </a:pPr>
            <a:r>
              <a:rPr sz="1650" b="1">
                <a:solidFill>
                  <a:srgbClr val="17336F"/>
                </a:solidFill>
                <a:latin typeface="Arial"/>
                <a:ea typeface="Arial"/>
                <a:cs typeface="Arial"/>
              </a:rPr>
              <a:t>KEBUTUHAN OPERASIONAL</a:t>
            </a:r>
          </a:p>
        </p:txBody>
      </p:sp>
      <p:sp>
        <p:nvSpPr>
          <p:cNvPr id="9" name="Text Pembagian tugas">
            <a:extLst xmlns:a="http://schemas.openxmlformats.org/drawingml/2006/main">
              <a:ext uri="{FF2B5EF4-FFF2-40B4-BE49-F238E27FC236}">
                <a16:creationId xmlns:a16="http://schemas.microsoft.com/office/drawing/2014/main" id="{50D167DB-07B3-4206-B4D8-D2F238ECAC4C}"/>
              </a:ext>
            </a:extLst>
          </p:cNvPr>
          <p:cNvSpPr>
            <a:spLocks xmlns:a="http://schemas.openxmlformats.org/drawingml/2006/main" noGrp="1"/>
          </p:cNvSpPr>
          <p:nvPr/>
        </p:nvSpPr>
        <p:spPr>
          <a:xfrm xmlns:a="http://schemas.openxmlformats.org/drawingml/2006/main">
            <a:off x="762000" y="3257550"/>
            <a:ext cx="585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43B"/>
                </a:solidFill>
                <a:latin typeface="Arial"/>
                <a:ea typeface="Arial"/>
                <a:cs typeface="Arial"/>
              </a:defRPr>
            </a:defPPr>
          </a:lstStyle>
          <a:p xmlns:a="http://schemas.openxmlformats.org/drawingml/2006/main">
            <a:pPr algn="l">
              <a:defRPr sz="2475" b="1">
                <a:solidFill>
                  <a:srgbClr val="15243B"/>
                </a:solidFill>
                <a:latin typeface="Arial"/>
                <a:ea typeface="Arial"/>
                <a:cs typeface="Arial"/>
              </a:defRPr>
            </a:pPr>
            <a:r>
              <a:rPr sz="2475" b="1">
                <a:solidFill>
                  <a:srgbClr val="15243B"/>
                </a:solidFill>
                <a:latin typeface="Arial"/>
                <a:ea typeface="Arial"/>
                <a:cs typeface="Arial"/>
              </a:rPr>
              <a:t>Pembagian tugas</a:t>
            </a:r>
          </a:p>
        </p:txBody>
      </p:sp>
      <p:sp>
        <p:nvSpPr>
          <p:cNvPr id="10" name="Text Penanggung jawab dan jadwal yang jelas">
            <a:extLst xmlns:a="http://schemas.openxmlformats.org/drawingml/2006/main">
              <a:ext uri="{FF2B5EF4-FFF2-40B4-BE49-F238E27FC236}">
                <a16:creationId xmlns:a16="http://schemas.microsoft.com/office/drawing/2014/main" id="{2792B334-006D-4D5B-9A7D-8527C1F80C2F}"/>
              </a:ext>
            </a:extLst>
          </p:cNvPr>
          <p:cNvSpPr>
            <a:spLocks xmlns:a="http://schemas.openxmlformats.org/drawingml/2006/main" noGrp="1"/>
          </p:cNvSpPr>
          <p:nvPr/>
        </p:nvSpPr>
        <p:spPr>
          <a:xfrm xmlns:a="http://schemas.openxmlformats.org/drawingml/2006/main">
            <a:off x="7524750" y="325755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D6C82"/>
                </a:solidFill>
                <a:latin typeface="Arial"/>
                <a:ea typeface="Arial"/>
                <a:cs typeface="Arial"/>
              </a:defRPr>
            </a:defPPr>
          </a:lstStyle>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Penanggung jawab dan jadwal yang jelas</a:t>
            </a:r>
          </a:p>
        </p:txBody>
      </p:sp>
      <p:sp>
        <p:nvSpPr>
          <p:cNvPr id="11" name="Rule">
            <a:extLst xmlns:a="http://schemas.openxmlformats.org/drawingml/2006/main">
              <a:ext uri="{FF2B5EF4-FFF2-40B4-BE49-F238E27FC236}">
                <a16:creationId xmlns:a16="http://schemas.microsoft.com/office/drawing/2014/main" id="{37612EB3-E4D9-4B62-AF39-B2EF20D0E633}"/>
              </a:ext>
            </a:extLst>
          </p:cNvPr>
          <p:cNvSpPr>
            <a:spLocks xmlns:a="http://schemas.openxmlformats.org/drawingml/2006/main" noGrp="1"/>
          </p:cNvSpPr>
          <p:nvPr/>
        </p:nvSpPr>
        <p:spPr>
          <a:xfrm xmlns:a="http://schemas.openxmlformats.org/drawingml/2006/main">
            <a:off x="762000" y="4048125"/>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12" name="Text Pekerjaan lapangan">
            <a:extLst xmlns:a="http://schemas.openxmlformats.org/drawingml/2006/main">
              <a:ext uri="{FF2B5EF4-FFF2-40B4-BE49-F238E27FC236}">
                <a16:creationId xmlns:a16="http://schemas.microsoft.com/office/drawing/2014/main" id="{2D89DFF0-DA19-4B25-B91E-76D3E7355FC6}"/>
              </a:ext>
            </a:extLst>
          </p:cNvPr>
          <p:cNvSpPr>
            <a:spLocks xmlns:a="http://schemas.openxmlformats.org/drawingml/2006/main" noGrp="1"/>
          </p:cNvSpPr>
          <p:nvPr/>
        </p:nvSpPr>
        <p:spPr>
          <a:xfrm xmlns:a="http://schemas.openxmlformats.org/drawingml/2006/main">
            <a:off x="762000" y="4238625"/>
            <a:ext cx="585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43B"/>
                </a:solidFill>
                <a:latin typeface="Arial"/>
                <a:ea typeface="Arial"/>
                <a:cs typeface="Arial"/>
              </a:defRPr>
            </a:defPPr>
          </a:lstStyle>
          <a:p xmlns:a="http://schemas.openxmlformats.org/drawingml/2006/main">
            <a:pPr algn="l">
              <a:defRPr sz="2475" b="1">
                <a:solidFill>
                  <a:srgbClr val="15243B"/>
                </a:solidFill>
                <a:latin typeface="Arial"/>
                <a:ea typeface="Arial"/>
                <a:cs typeface="Arial"/>
              </a:defRPr>
            </a:pPr>
            <a:r>
              <a:rPr sz="2475" b="1">
                <a:solidFill>
                  <a:srgbClr val="15243B"/>
                </a:solidFill>
                <a:latin typeface="Arial"/>
                <a:ea typeface="Arial"/>
                <a:cs typeface="Arial"/>
              </a:rPr>
              <a:t>Pekerjaan lapangan</a:t>
            </a:r>
          </a:p>
        </p:txBody>
      </p:sp>
      <p:sp>
        <p:nvSpPr>
          <p:cNvPr id="13" name="Text Input hasil kunjungan melalui perangka">
            <a:extLst xmlns:a="http://schemas.openxmlformats.org/drawingml/2006/main">
              <a:ext uri="{FF2B5EF4-FFF2-40B4-BE49-F238E27FC236}">
                <a16:creationId xmlns:a16="http://schemas.microsoft.com/office/drawing/2014/main" id="{8888FDD4-B9B5-49E1-8288-5629674311EB}"/>
              </a:ext>
            </a:extLst>
          </p:cNvPr>
          <p:cNvSpPr>
            <a:spLocks xmlns:a="http://schemas.openxmlformats.org/drawingml/2006/main" noGrp="1"/>
          </p:cNvSpPr>
          <p:nvPr/>
        </p:nvSpPr>
        <p:spPr>
          <a:xfrm xmlns:a="http://schemas.openxmlformats.org/drawingml/2006/main">
            <a:off x="7524750" y="4238625"/>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D6C82"/>
                </a:solidFill>
                <a:latin typeface="Arial"/>
                <a:ea typeface="Arial"/>
                <a:cs typeface="Arial"/>
              </a:defRPr>
            </a:defPPr>
          </a:lstStyle>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Input hasil kunjungan melalui perangkat seluler</a:t>
            </a:r>
          </a:p>
        </p:txBody>
      </p:sp>
      <p:sp>
        <p:nvSpPr>
          <p:cNvPr id="14" name="Rule">
            <a:extLst xmlns:a="http://schemas.openxmlformats.org/drawingml/2006/main">
              <a:ext uri="{FF2B5EF4-FFF2-40B4-BE49-F238E27FC236}">
                <a16:creationId xmlns:a16="http://schemas.microsoft.com/office/drawing/2014/main" id="{E4A14F7B-5D25-4408-B532-E587A60A2428}"/>
              </a:ext>
            </a:extLst>
          </p:cNvPr>
          <p:cNvSpPr>
            <a:spLocks xmlns:a="http://schemas.openxmlformats.org/drawingml/2006/main" noGrp="1"/>
          </p:cNvSpPr>
          <p:nvPr/>
        </p:nvSpPr>
        <p:spPr>
          <a:xfrm xmlns:a="http://schemas.openxmlformats.org/drawingml/2006/main">
            <a:off x="762000" y="50292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15" name="Text Serah terima paket">
            <a:extLst xmlns:a="http://schemas.openxmlformats.org/drawingml/2006/main">
              <a:ext uri="{FF2B5EF4-FFF2-40B4-BE49-F238E27FC236}">
                <a16:creationId xmlns:a16="http://schemas.microsoft.com/office/drawing/2014/main" id="{E5EDBCAA-745A-478D-8F2B-2287AFC92C06}"/>
              </a:ext>
            </a:extLst>
          </p:cNvPr>
          <p:cNvSpPr>
            <a:spLocks xmlns:a="http://schemas.openxmlformats.org/drawingml/2006/main" noGrp="1"/>
          </p:cNvSpPr>
          <p:nvPr/>
        </p:nvSpPr>
        <p:spPr>
          <a:xfrm xmlns:a="http://schemas.openxmlformats.org/drawingml/2006/main">
            <a:off x="762000" y="5219700"/>
            <a:ext cx="585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43B"/>
                </a:solidFill>
                <a:latin typeface="Arial"/>
                <a:ea typeface="Arial"/>
                <a:cs typeface="Arial"/>
              </a:defRPr>
            </a:defPPr>
          </a:lstStyle>
          <a:p xmlns:a="http://schemas.openxmlformats.org/drawingml/2006/main">
            <a:pPr algn="l">
              <a:defRPr sz="2475" b="1">
                <a:solidFill>
                  <a:srgbClr val="15243B"/>
                </a:solidFill>
                <a:latin typeface="Arial"/>
                <a:ea typeface="Arial"/>
                <a:cs typeface="Arial"/>
              </a:defRPr>
            </a:pPr>
            <a:r>
              <a:rPr sz="2475" b="1">
                <a:solidFill>
                  <a:srgbClr val="15243B"/>
                </a:solidFill>
                <a:latin typeface="Arial"/>
                <a:ea typeface="Arial"/>
                <a:cs typeface="Arial"/>
              </a:rPr>
              <a:t>Serah terima paket</a:t>
            </a:r>
          </a:p>
        </p:txBody>
      </p:sp>
      <p:sp>
        <p:nvSpPr>
          <p:cNvPr id="16" name="Text Perbandingan jumlah dan pencatatan sel">
            <a:extLst xmlns:a="http://schemas.openxmlformats.org/drawingml/2006/main">
              <a:ext uri="{FF2B5EF4-FFF2-40B4-BE49-F238E27FC236}">
                <a16:creationId xmlns:a16="http://schemas.microsoft.com/office/drawing/2014/main" id="{363BAAD3-AD3E-4C9A-ACFF-1DEB721793DA}"/>
              </a:ext>
            </a:extLst>
          </p:cNvPr>
          <p:cNvSpPr>
            <a:spLocks xmlns:a="http://schemas.openxmlformats.org/drawingml/2006/main" noGrp="1"/>
          </p:cNvSpPr>
          <p:nvPr/>
        </p:nvSpPr>
        <p:spPr>
          <a:xfrm xmlns:a="http://schemas.openxmlformats.org/drawingml/2006/main">
            <a:off x="7524750" y="5219700"/>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D6C82"/>
                </a:solidFill>
                <a:latin typeface="Arial"/>
                <a:ea typeface="Arial"/>
                <a:cs typeface="Arial"/>
              </a:defRPr>
            </a:defPPr>
          </a:lstStyle>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Perbandingan jumlah dan pencatatan selisih</a:t>
            </a:r>
          </a:p>
        </p:txBody>
      </p:sp>
      <p:sp>
        <p:nvSpPr>
          <p:cNvPr id="17" name="Rule">
            <a:extLst xmlns:a="http://schemas.openxmlformats.org/drawingml/2006/main">
              <a:ext uri="{FF2B5EF4-FFF2-40B4-BE49-F238E27FC236}">
                <a16:creationId xmlns:a16="http://schemas.microsoft.com/office/drawing/2014/main" id="{DAE061F1-C6CE-4365-BC63-9FBA7C5E209B}"/>
              </a:ext>
            </a:extLst>
          </p:cNvPr>
          <p:cNvSpPr>
            <a:spLocks xmlns:a="http://schemas.openxmlformats.org/drawingml/2006/main" noGrp="1"/>
          </p:cNvSpPr>
          <p:nvPr/>
        </p:nvSpPr>
        <p:spPr>
          <a:xfrm xmlns:a="http://schemas.openxmlformats.org/drawingml/2006/main">
            <a:off x="762000" y="6010275"/>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18" name="Text Penelusuran aktivitas">
            <a:extLst xmlns:a="http://schemas.openxmlformats.org/drawingml/2006/main">
              <a:ext uri="{FF2B5EF4-FFF2-40B4-BE49-F238E27FC236}">
                <a16:creationId xmlns:a16="http://schemas.microsoft.com/office/drawing/2014/main" id="{0DEDEB5F-F15C-4D34-A71F-3FAC152ECB4E}"/>
              </a:ext>
            </a:extLst>
          </p:cNvPr>
          <p:cNvSpPr>
            <a:spLocks xmlns:a="http://schemas.openxmlformats.org/drawingml/2006/main" noGrp="1"/>
          </p:cNvSpPr>
          <p:nvPr/>
        </p:nvSpPr>
        <p:spPr>
          <a:xfrm xmlns:a="http://schemas.openxmlformats.org/drawingml/2006/main">
            <a:off x="762000" y="6200775"/>
            <a:ext cx="5857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43B"/>
                </a:solidFill>
                <a:latin typeface="Arial"/>
                <a:ea typeface="Arial"/>
                <a:cs typeface="Arial"/>
              </a:defRPr>
            </a:defPPr>
          </a:lstStyle>
          <a:p xmlns:a="http://schemas.openxmlformats.org/drawingml/2006/main">
            <a:pPr algn="l">
              <a:defRPr sz="2475" b="1">
                <a:solidFill>
                  <a:srgbClr val="15243B"/>
                </a:solidFill>
                <a:latin typeface="Arial"/>
                <a:ea typeface="Arial"/>
                <a:cs typeface="Arial"/>
              </a:defRPr>
            </a:pPr>
            <a:r>
              <a:rPr sz="2475" b="1">
                <a:solidFill>
                  <a:srgbClr val="15243B"/>
                </a:solidFill>
                <a:latin typeface="Arial"/>
                <a:ea typeface="Arial"/>
                <a:cs typeface="Arial"/>
              </a:rPr>
              <a:t>Penelusuran aktivitas</a:t>
            </a:r>
          </a:p>
        </p:txBody>
      </p:sp>
      <p:sp>
        <p:nvSpPr>
          <p:cNvPr id="19" name="Text Riwayat yang menghubungkan tugas, bukt">
            <a:extLst xmlns:a="http://schemas.openxmlformats.org/drawingml/2006/main">
              <a:ext uri="{FF2B5EF4-FFF2-40B4-BE49-F238E27FC236}">
                <a16:creationId xmlns:a16="http://schemas.microsoft.com/office/drawing/2014/main" id="{C927F77E-CB3D-4465-9A1B-7C618A0F6288}"/>
              </a:ext>
            </a:extLst>
          </p:cNvPr>
          <p:cNvSpPr>
            <a:spLocks xmlns:a="http://schemas.openxmlformats.org/drawingml/2006/main" noGrp="1"/>
          </p:cNvSpPr>
          <p:nvPr/>
        </p:nvSpPr>
        <p:spPr>
          <a:xfrm xmlns:a="http://schemas.openxmlformats.org/drawingml/2006/main">
            <a:off x="7524750" y="6200775"/>
            <a:ext cx="666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D6C82"/>
                </a:solidFill>
                <a:latin typeface="Arial"/>
                <a:ea typeface="Arial"/>
                <a:cs typeface="Arial"/>
              </a:defRPr>
            </a:defPPr>
          </a:lstStyle>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Riwayat yang menghubungkan tugas, bukti, dan penerimaan</a:t>
            </a:r>
          </a:p>
        </p:txBody>
      </p:sp>
      <p:sp>
        <p:nvSpPr>
          <p:cNvPr id="20" name="Rule">
            <a:extLst xmlns:a="http://schemas.openxmlformats.org/drawingml/2006/main">
              <a:ext uri="{FF2B5EF4-FFF2-40B4-BE49-F238E27FC236}">
                <a16:creationId xmlns:a16="http://schemas.microsoft.com/office/drawing/2014/main" id="{D0389396-93C7-4BD8-8071-B9656F46ACF7}"/>
              </a:ext>
            </a:extLst>
          </p:cNvPr>
          <p:cNvSpPr>
            <a:spLocks xmlns:a="http://schemas.openxmlformats.org/drawingml/2006/main" noGrp="1"/>
          </p:cNvSpPr>
          <p:nvPr/>
        </p:nvSpPr>
        <p:spPr>
          <a:xfrm xmlns:a="http://schemas.openxmlformats.org/drawingml/2006/main">
            <a:off x="762000" y="699135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Tree>
    <p:extLst>
      <p:ext uri="{BB962C8B-B14F-4D97-AF65-F5344CB8AC3E}">
        <p14:creationId xmlns:p14="http://schemas.microsoft.com/office/powerpoint/2010/main" val="32297462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4A89419B-25C2-4D4A-AA91-D4CEB0CF6EA3}"/>
              </a:ext>
            </a:extLst>
          </p:cNvPr>
          <p:cNvCxnSpPr>
            <a:stCxn xmlns:a="http://schemas.openxmlformats.org/drawingml/2006/main" id="10" idx="2"/>
            <a:endCxn xmlns:a="http://schemas.openxmlformats.org/drawingml/2006/main" id="17" idx="0"/>
          </p:cNvCxnSpPr>
          <p:nvPr/>
        </p:nvCxnSpPr>
        <p:spPr>
          <a:xfrm xmlns:a="http://schemas.openxmlformats.org/drawingml/2006/main">
            <a:off x="7477125" y="5381625"/>
            <a:ext cx="0" cy="66675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16D49E22-8F7C-4614-9BAB-58F7C329AE64}"/>
              </a:ext>
            </a:extLst>
          </p:cNvPr>
          <p:cNvCxnSpPr>
            <a:stCxn xmlns:a="http://schemas.openxmlformats.org/drawingml/2006/main" id="9" idx="3"/>
            <a:endCxn xmlns:a="http://schemas.openxmlformats.org/drawingml/2006/main" id="10" idx="1"/>
          </p:cNvCxnSpPr>
          <p:nvPr/>
        </p:nvCxnSpPr>
        <p:spPr>
          <a:xfrm xmlns:a="http://schemas.openxmlformats.org/drawingml/2006/main" flipV="1">
            <a:off x="3714750" y="4381500"/>
            <a:ext cx="1428750" cy="1666875"/>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EC1C2B83-E1E3-4225-BA8B-0DDE1AB5732D}"/>
              </a:ext>
            </a:extLst>
          </p:cNvPr>
          <p:cNvCxnSpPr>
            <a:stCxn xmlns:a="http://schemas.openxmlformats.org/drawingml/2006/main" id="8" idx="3"/>
            <a:endCxn xmlns:a="http://schemas.openxmlformats.org/drawingml/2006/main" id="10" idx="1"/>
          </p:cNvCxnSpPr>
          <p:nvPr/>
        </p:nvCxnSpPr>
        <p:spPr>
          <a:xfrm xmlns:a="http://schemas.openxmlformats.org/drawingml/2006/main" flipV="1">
            <a:off x="3714750" y="4381500"/>
            <a:ext cx="1428750" cy="19050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17046D45-8164-4FF2-BBBE-03B2F1CA24D7}"/>
              </a:ext>
            </a:extLst>
          </p:cNvPr>
          <p:cNvCxnSpPr>
            <a:stCxn xmlns:a="http://schemas.openxmlformats.org/drawingml/2006/main" id="7" idx="3"/>
            <a:endCxn xmlns:a="http://schemas.openxmlformats.org/drawingml/2006/main" id="10" idx="1"/>
          </p:cNvCxnSpPr>
          <p:nvPr/>
        </p:nvCxnSpPr>
        <p:spPr>
          <a:xfrm xmlns:a="http://schemas.openxmlformats.org/drawingml/2006/main">
            <a:off x="3714750" y="3095625"/>
            <a:ext cx="1428750" cy="1285875"/>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sp>
        <p:nvSpPr>
          <p:cNvPr id="19" name="Text 03">
            <a:extLst xmlns:a="http://schemas.openxmlformats.org/drawingml/2006/main">
              <a:ext uri="{FF2B5EF4-FFF2-40B4-BE49-F238E27FC236}">
                <a16:creationId xmlns:a16="http://schemas.microsoft.com/office/drawing/2014/main" id="{F49DE968-6A42-4270-ABDA-4B637F6B2EC5}"/>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03</a:t>
            </a:r>
          </a:p>
        </p:txBody>
      </p:sp>
      <p:sp>
        <p:nvSpPr>
          <p:cNvPr id="2" name="Text Retail Operations Platform   /   Inter">
            <a:extLst xmlns:a="http://schemas.openxmlformats.org/drawingml/2006/main">
              <a:ext uri="{FF2B5EF4-FFF2-40B4-BE49-F238E27FC236}">
                <a16:creationId xmlns:a16="http://schemas.microsoft.com/office/drawing/2014/main" id="{5CF655FA-7B08-48D7-823A-8665B3D49017}"/>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3F3E0B37-C2DC-4467-A864-509657650C86}"/>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D6873EA5-800C-4389-B85D-CBAEB5957AAA}"/>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Visi satu platform operasional retail">
            <a:extLst xmlns:a="http://schemas.openxmlformats.org/drawingml/2006/main">
              <a:ext uri="{FF2B5EF4-FFF2-40B4-BE49-F238E27FC236}">
                <a16:creationId xmlns:a16="http://schemas.microsoft.com/office/drawing/2014/main" id="{C4E25E76-9580-4031-A5DC-0301321A718D}"/>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Visi satu platform operasional retail</a:t>
            </a:r>
          </a:p>
        </p:txBody>
      </p:sp>
      <p:sp>
        <p:nvSpPr>
          <p:cNvPr id="6" name="Text Satu sumber data operasional untuk pen">
            <a:extLst xmlns:a="http://schemas.openxmlformats.org/drawingml/2006/main">
              <a:ext uri="{FF2B5EF4-FFF2-40B4-BE49-F238E27FC236}">
                <a16:creationId xmlns:a16="http://schemas.microsoft.com/office/drawing/2014/main" id="{F27F4CEC-136A-482E-AB8E-9D0FA891F817}"/>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Satu sumber data operasional untuk pengguna web dan petugas Android</a:t>
            </a:r>
          </a:p>
        </p:txBody>
      </p:sp>
      <p:sp>
        <p:nvSpPr>
          <p:cNvPr id="7" name="Diagram CS / Admin">
            <a:extLst xmlns:a="http://schemas.openxmlformats.org/drawingml/2006/main">
              <a:ext uri="{FF2B5EF4-FFF2-40B4-BE49-F238E27FC236}">
                <a16:creationId xmlns:a16="http://schemas.microsoft.com/office/drawing/2014/main" id="{7DDFE456-88DC-4FCA-AE48-74ACD71E1A37}"/>
              </a:ext>
            </a:extLst>
          </p:cNvPr>
          <p:cNvSpPr>
            <a:spLocks xmlns:a="http://schemas.openxmlformats.org/drawingml/2006/main" noGrp="1"/>
          </p:cNvSpPr>
          <p:nvPr/>
        </p:nvSpPr>
        <p:spPr>
          <a:xfrm xmlns:a="http://schemas.openxmlformats.org/drawingml/2006/main">
            <a:off x="762000" y="2667000"/>
            <a:ext cx="2952750" cy="857250"/>
          </a:xfrm>
          <a:prstGeom xmlns:a="http://schemas.openxmlformats.org/drawingml/2006/main" prst="roundRect">
            <a:avLst>
              <a:gd name="adj" fmla="val 8889"/>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CS / Admin</a:t>
            </a:r>
          </a:p>
        </p:txBody>
      </p:sp>
      <p:sp>
        <p:nvSpPr>
          <p:cNvPr id="8" name="Diagram Pickup Staff">
            <a:extLst xmlns:a="http://schemas.openxmlformats.org/drawingml/2006/main">
              <a:ext uri="{FF2B5EF4-FFF2-40B4-BE49-F238E27FC236}">
                <a16:creationId xmlns:a16="http://schemas.microsoft.com/office/drawing/2014/main" id="{784DC600-5112-481B-9DB7-F3EE437871A6}"/>
              </a:ext>
            </a:extLst>
          </p:cNvPr>
          <p:cNvSpPr>
            <a:spLocks xmlns:a="http://schemas.openxmlformats.org/drawingml/2006/main" noGrp="1"/>
          </p:cNvSpPr>
          <p:nvPr/>
        </p:nvSpPr>
        <p:spPr>
          <a:xfrm xmlns:a="http://schemas.openxmlformats.org/drawingml/2006/main">
            <a:off x="762000" y="4143375"/>
            <a:ext cx="2952750" cy="857250"/>
          </a:xfrm>
          <a:prstGeom xmlns:a="http://schemas.openxmlformats.org/drawingml/2006/main" prst="roundRect">
            <a:avLst>
              <a:gd name="adj" fmla="val 8889"/>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Pickup Staff</a:t>
            </a:r>
          </a:p>
        </p:txBody>
      </p:sp>
      <p:sp>
        <p:nvSpPr>
          <p:cNvPr id="9" name="Diagram Retail / Supervisor">
            <a:extLst xmlns:a="http://schemas.openxmlformats.org/drawingml/2006/main">
              <a:ext uri="{FF2B5EF4-FFF2-40B4-BE49-F238E27FC236}">
                <a16:creationId xmlns:a16="http://schemas.microsoft.com/office/drawing/2014/main" id="{761CA5C6-D4E2-45F0-A4F2-130E021949B0}"/>
              </a:ext>
            </a:extLst>
          </p:cNvPr>
          <p:cNvSpPr>
            <a:spLocks xmlns:a="http://schemas.openxmlformats.org/drawingml/2006/main" noGrp="1"/>
          </p:cNvSpPr>
          <p:nvPr/>
        </p:nvSpPr>
        <p:spPr>
          <a:xfrm xmlns:a="http://schemas.openxmlformats.org/drawingml/2006/main">
            <a:off x="762000" y="5619750"/>
            <a:ext cx="2952750" cy="857250"/>
          </a:xfrm>
          <a:prstGeom xmlns:a="http://schemas.openxmlformats.org/drawingml/2006/main" prst="roundRect">
            <a:avLst>
              <a:gd name="adj" fmla="val 8889"/>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Retail / Supervisor</a:t>
            </a:r>
          </a:p>
        </p:txBody>
      </p:sp>
      <p:sp>
        <p:nvSpPr>
          <p:cNvPr id="10" name="Diagram Retail Operations&#10;Platform">
            <a:extLst xmlns:a="http://schemas.openxmlformats.org/drawingml/2006/main">
              <a:ext uri="{FF2B5EF4-FFF2-40B4-BE49-F238E27FC236}">
                <a16:creationId xmlns:a16="http://schemas.microsoft.com/office/drawing/2014/main" id="{96175152-B8F7-494F-8BBB-AD461E644410}"/>
              </a:ext>
            </a:extLst>
          </p:cNvPr>
          <p:cNvSpPr>
            <a:spLocks xmlns:a="http://schemas.openxmlformats.org/drawingml/2006/main" noGrp="1"/>
          </p:cNvSpPr>
          <p:nvPr/>
        </p:nvSpPr>
        <p:spPr>
          <a:xfrm xmlns:a="http://schemas.openxmlformats.org/drawingml/2006/main">
            <a:off x="5143500" y="3381375"/>
            <a:ext cx="4667250" cy="2000250"/>
          </a:xfrm>
          <a:prstGeom xmlns:a="http://schemas.openxmlformats.org/drawingml/2006/main" prst="roundRect">
            <a:avLst>
              <a:gd name="adj" fmla="val 3810"/>
            </a:avLst>
          </a:prstGeom>
          <a:solidFill xmlns:a="http://schemas.openxmlformats.org/drawingml/2006/main">
            <a:srgbClr val="17336F"/>
          </a:solidFill>
          <a:ln xmlns:a="http://schemas.openxmlformats.org/drawingml/2006/main" w="0">
            <a:noFill/>
          </a:ln>
        </p:spPr>
        <p:txBody>
          <a:bodyPr xmlns:a="http://schemas.openxmlformats.org/drawingml/2006/main" lIns="152400" tIns="152400" rIns="152400" bIns="152400" anchor="ctr">
            <a:noAutofit/>
          </a:bodyPr>
          <a:lstStyle xmlns:a="http://schemas.openxmlformats.org/drawingml/2006/main">
            <a:defPPr algn="ctr">
              <a:defRPr sz="3000" b="1">
                <a:solidFill>
                  <a:srgbClr val="FFFFFF"/>
                </a:solidFill>
                <a:latin typeface="Arial"/>
                <a:ea typeface="Arial"/>
                <a:cs typeface="Arial"/>
              </a:defRPr>
            </a:defPPr>
          </a:lstStyle>
          <a:p xmlns:a="http://schemas.openxmlformats.org/drawingml/2006/main">
            <a:pPr algn="ctr">
              <a:defRPr sz="3000" b="1">
                <a:solidFill>
                  <a:srgbClr val="FFFFFF"/>
                </a:solidFill>
                <a:latin typeface="Arial"/>
                <a:ea typeface="Arial"/>
                <a:cs typeface="Arial"/>
              </a:defRPr>
            </a:pPr>
            <a:r>
              <a:rPr sz="3000" b="1">
                <a:solidFill>
                  <a:srgbClr val="FFFFFF"/>
                </a:solidFill>
                <a:latin typeface="Arial"/>
                <a:ea typeface="Arial"/>
                <a:cs typeface="Arial"/>
              </a:rPr>
              <a:t>Retail Operations</a:t>
            </a:r>
          </a:p>
          <a:p xmlns:a="http://schemas.openxmlformats.org/drawingml/2006/main">
            <a:pPr algn="ctr">
              <a:defRPr sz="3000" b="1">
                <a:solidFill>
                  <a:srgbClr val="FFFFFF"/>
                </a:solidFill>
                <a:latin typeface="Arial"/>
                <a:ea typeface="Arial"/>
                <a:cs typeface="Arial"/>
              </a:defRPr>
            </a:pPr>
            <a:r>
              <a:rPr sz="3000" b="1">
                <a:solidFill>
                  <a:srgbClr val="FFFFFF"/>
                </a:solidFill>
                <a:latin typeface="Arial"/>
                <a:ea typeface="Arial"/>
                <a:cs typeface="Arial"/>
              </a:rPr>
              <a:t>Platform</a:t>
            </a:r>
          </a:p>
        </p:txBody>
      </p:sp>
      <p:sp>
        <p:nvSpPr>
          <p:cNvPr id="14" name="Text Fokus saat ini">
            <a:extLst xmlns:a="http://schemas.openxmlformats.org/drawingml/2006/main">
              <a:ext uri="{FF2B5EF4-FFF2-40B4-BE49-F238E27FC236}">
                <a16:creationId xmlns:a16="http://schemas.microsoft.com/office/drawing/2014/main" id="{5FCC8802-E32F-4DC1-B731-476E0CC90FAE}"/>
              </a:ext>
            </a:extLst>
          </p:cNvPr>
          <p:cNvSpPr>
            <a:spLocks xmlns:a="http://schemas.openxmlformats.org/drawingml/2006/main" noGrp="1"/>
          </p:cNvSpPr>
          <p:nvPr/>
        </p:nvSpPr>
        <p:spPr>
          <a:xfrm xmlns:a="http://schemas.openxmlformats.org/drawingml/2006/main">
            <a:off x="10858500" y="2733675"/>
            <a:ext cx="342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DF2335"/>
                </a:solidFill>
                <a:latin typeface="Arial"/>
                <a:ea typeface="Arial"/>
                <a:cs typeface="Arial"/>
              </a:defRPr>
            </a:defPPr>
          </a:lstStyle>
          <a:p xmlns:a="http://schemas.openxmlformats.org/drawingml/2006/main">
            <a:pPr algn="l">
              <a:defRPr sz="1875" b="1">
                <a:solidFill>
                  <a:srgbClr val="DF2335"/>
                </a:solidFill>
                <a:latin typeface="Arial"/>
                <a:ea typeface="Arial"/>
                <a:cs typeface="Arial"/>
              </a:defRPr>
            </a:pPr>
            <a:r>
              <a:rPr sz="1875" b="1">
                <a:solidFill>
                  <a:srgbClr val="DF2335"/>
                </a:solidFill>
                <a:latin typeface="Arial"/>
                <a:ea typeface="Arial"/>
                <a:cs typeface="Arial"/>
              </a:rPr>
              <a:t>Fokus saat ini</a:t>
            </a:r>
          </a:p>
        </p:txBody>
      </p:sp>
      <p:sp>
        <p:nvSpPr>
          <p:cNvPr id="15" name="Text Pickup&#10;Management">
            <a:extLst xmlns:a="http://schemas.openxmlformats.org/drawingml/2006/main">
              <a:ext uri="{FF2B5EF4-FFF2-40B4-BE49-F238E27FC236}">
                <a16:creationId xmlns:a16="http://schemas.microsoft.com/office/drawing/2014/main" id="{943D1C14-CB31-45D5-BE40-7C923C1D02C2}"/>
              </a:ext>
            </a:extLst>
          </p:cNvPr>
          <p:cNvSpPr>
            <a:spLocks xmlns:a="http://schemas.openxmlformats.org/drawingml/2006/main" noGrp="1"/>
          </p:cNvSpPr>
          <p:nvPr/>
        </p:nvSpPr>
        <p:spPr>
          <a:xfrm xmlns:a="http://schemas.openxmlformats.org/drawingml/2006/main">
            <a:off x="10858500" y="3238500"/>
            <a:ext cx="3619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7336F"/>
                </a:solidFill>
                <a:latin typeface="Arial"/>
                <a:ea typeface="Arial"/>
                <a:cs typeface="Arial"/>
              </a:defRPr>
            </a:defPPr>
          </a:lstStyle>
          <a:p xmlns:a="http://schemas.openxmlformats.org/drawingml/2006/main">
            <a:pPr algn="l">
              <a:defRPr sz="3300" b="1">
                <a:solidFill>
                  <a:srgbClr val="17336F"/>
                </a:solidFill>
                <a:latin typeface="Arial"/>
                <a:ea typeface="Arial"/>
                <a:cs typeface="Arial"/>
              </a:defRPr>
            </a:pPr>
            <a:r>
              <a:rPr sz="3300" b="1">
                <a:solidFill>
                  <a:srgbClr val="17336F"/>
                </a:solidFill>
                <a:latin typeface="Arial"/>
                <a:ea typeface="Arial"/>
                <a:cs typeface="Arial"/>
              </a:rPr>
              <a:t>Pickup</a:t>
            </a:r>
          </a:p>
          <a:p xmlns:a="http://schemas.openxmlformats.org/drawingml/2006/main">
            <a:pPr algn="l">
              <a:defRPr sz="3300" b="1">
                <a:solidFill>
                  <a:srgbClr val="17336F"/>
                </a:solidFill>
                <a:latin typeface="Arial"/>
                <a:ea typeface="Arial"/>
                <a:cs typeface="Arial"/>
              </a:defRPr>
            </a:pPr>
            <a:r>
              <a:rPr sz="3300" b="1">
                <a:solidFill>
                  <a:srgbClr val="17336F"/>
                </a:solidFill>
                <a:latin typeface="Arial"/>
                <a:ea typeface="Arial"/>
                <a:cs typeface="Arial"/>
              </a:rPr>
              <a:t>Management</a:t>
            </a:r>
          </a:p>
        </p:txBody>
      </p:sp>
      <p:sp>
        <p:nvSpPr>
          <p:cNvPr id="16" name="Text Modul retail berikutnya&#10;memakai fondas">
            <a:extLst xmlns:a="http://schemas.openxmlformats.org/drawingml/2006/main">
              <a:ext uri="{FF2B5EF4-FFF2-40B4-BE49-F238E27FC236}">
                <a16:creationId xmlns:a16="http://schemas.microsoft.com/office/drawing/2014/main" id="{3D039284-12DD-4B6E-A8DF-79840CE8807A}"/>
              </a:ext>
            </a:extLst>
          </p:cNvPr>
          <p:cNvSpPr>
            <a:spLocks xmlns:a="http://schemas.openxmlformats.org/drawingml/2006/main" noGrp="1"/>
          </p:cNvSpPr>
          <p:nvPr/>
        </p:nvSpPr>
        <p:spPr>
          <a:xfrm xmlns:a="http://schemas.openxmlformats.org/drawingml/2006/main">
            <a:off x="10858500" y="4810125"/>
            <a:ext cx="35718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D6C82"/>
                </a:solidFill>
                <a:latin typeface="Arial"/>
                <a:ea typeface="Arial"/>
                <a:cs typeface="Arial"/>
              </a:defRPr>
            </a:defPPr>
          </a:lstStyle>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Modul retail berikutnya</a:t>
            </a:r>
          </a:p>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memakai fondasi data</a:t>
            </a:r>
          </a:p>
          <a:p xmlns:a="http://schemas.openxmlformats.org/drawingml/2006/main">
            <a:pPr algn="l">
              <a:defRPr sz="2100" b="0">
                <a:solidFill>
                  <a:srgbClr val="5D6C82"/>
                </a:solidFill>
                <a:latin typeface="Arial"/>
                <a:ea typeface="Arial"/>
                <a:cs typeface="Arial"/>
              </a:defRPr>
            </a:pPr>
            <a:r>
              <a:rPr sz="2100" b="0">
                <a:solidFill>
                  <a:srgbClr val="5D6C82"/>
                </a:solidFill>
                <a:latin typeface="Arial"/>
                <a:ea typeface="Arial"/>
                <a:cs typeface="Arial"/>
              </a:rPr>
              <a:t>dan hak akses yang sama.</a:t>
            </a:r>
          </a:p>
        </p:txBody>
      </p:sp>
      <p:sp>
        <p:nvSpPr>
          <p:cNvPr id="17" name="Diagram Data dan aturan bisnis bersama">
            <a:extLst xmlns:a="http://schemas.openxmlformats.org/drawingml/2006/main">
              <a:ext uri="{FF2B5EF4-FFF2-40B4-BE49-F238E27FC236}">
                <a16:creationId xmlns:a16="http://schemas.microsoft.com/office/drawing/2014/main" id="{82CE0365-D050-46DA-80AF-27D085FCAB08}"/>
              </a:ext>
            </a:extLst>
          </p:cNvPr>
          <p:cNvSpPr>
            <a:spLocks xmlns:a="http://schemas.openxmlformats.org/drawingml/2006/main" noGrp="1"/>
          </p:cNvSpPr>
          <p:nvPr/>
        </p:nvSpPr>
        <p:spPr>
          <a:xfrm xmlns:a="http://schemas.openxmlformats.org/drawingml/2006/main">
            <a:off x="5143500" y="6048375"/>
            <a:ext cx="4667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Data dan aturan bisnis bersama</a:t>
            </a:r>
          </a:p>
        </p:txBody>
      </p:sp>
    </p:spTree>
    <p:extLst>
      <p:ext uri="{BB962C8B-B14F-4D97-AF65-F5344CB8AC3E}">
        <p14:creationId xmlns:p14="http://schemas.microsoft.com/office/powerpoint/2010/main" val="211077543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04">
            <a:extLst xmlns:a="http://schemas.openxmlformats.org/drawingml/2006/main">
              <a:ext uri="{FF2B5EF4-FFF2-40B4-BE49-F238E27FC236}">
                <a16:creationId xmlns:a16="http://schemas.microsoft.com/office/drawing/2014/main" id="{AC75C909-1F8B-472C-867D-C021437CE369}"/>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04</a:t>
            </a:r>
          </a:p>
        </p:txBody>
      </p:sp>
      <p:sp>
        <p:nvSpPr>
          <p:cNvPr id="2" name="Text Retail Operations Platform   /   Inter">
            <a:extLst xmlns:a="http://schemas.openxmlformats.org/drawingml/2006/main">
              <a:ext uri="{FF2B5EF4-FFF2-40B4-BE49-F238E27FC236}">
                <a16:creationId xmlns:a16="http://schemas.microsoft.com/office/drawing/2014/main" id="{957DF717-10E2-4F23-8406-600B1048B2BC}"/>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80D53C65-54CF-4314-ADA8-BF3ED4F8123F}"/>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562BAD0A-A83E-41FC-BCCA-AB48D1E25E1B}"/>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Cakupan saat ini: Pickup Management">
            <a:extLst xmlns:a="http://schemas.openxmlformats.org/drawingml/2006/main">
              <a:ext uri="{FF2B5EF4-FFF2-40B4-BE49-F238E27FC236}">
                <a16:creationId xmlns:a16="http://schemas.microsoft.com/office/drawing/2014/main" id="{EC71B094-20DE-4BE6-84B5-F60019CBA163}"/>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Cakupan saat ini: Pickup Management</a:t>
            </a:r>
          </a:p>
        </p:txBody>
      </p:sp>
      <p:sp>
        <p:nvSpPr>
          <p:cNvPr id="6" name="Text Kemampuan tersedia di kode dan didukun">
            <a:extLst xmlns:a="http://schemas.openxmlformats.org/drawingml/2006/main">
              <a:ext uri="{FF2B5EF4-FFF2-40B4-BE49-F238E27FC236}">
                <a16:creationId xmlns:a16="http://schemas.microsoft.com/office/drawing/2014/main" id="{91BE5BAD-C807-4A5E-A3BA-F300D7A141E9}"/>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Kemampuan tersedia di kode dan didukung bukti pengujian repositori</a:t>
            </a:r>
          </a:p>
        </p:txBody>
      </p:sp>
      <p:graphicFrame>
        <p:nvGraphicFramePr>
          <p:cNvPr id="7" name="">
            <a:extLst xmlns:a="http://schemas.openxmlformats.org/drawingml/2006/main">
              <a:ext uri="{FF2B5EF4-FFF2-40B4-BE49-F238E27FC236}">
                <a16:creationId xmlns:a16="http://schemas.microsoft.com/office/drawing/2014/main" id="{E97DA886-747D-4E39-804C-FCB30562F689}"/>
              </a:ext>
            </a:extLst>
          </p:cNvPr>
          <p:cNvGraphicFramePr/>
          <p:nvPr/>
        </p:nvGraphicFramePr>
        <p:xfrm>
          <a:off xmlns:a="http://schemas.openxmlformats.org/drawingml/2006/main" x="762000" y="2571750"/>
          <a:ext xmlns:a="http://schemas.openxmlformats.org/drawingml/2006/main" cx="13716000" cy="4238625"/>
        </p:xfrm>
        <a:graphic xmlns:a="http://schemas.openxmlformats.org/drawingml/2006/main">
          <a:graphicData uri="http://schemas.openxmlformats.org/drawingml/2006/table">
            <a:tbl>
              <a:tblPr/>
              <a:tblGrid>
                <a:gridCol w="2476500"/>
                <a:gridCol w="8096250"/>
                <a:gridCol w="3143250"/>
              </a:tblGrid>
              <a:tr h="706438">
                <a:tc>
                  <a:txBody>
                    <a:bodyPr lIns="171450" tIns="133350" rIns="152400" bIns="95250"/>
                    <a:lstStyle/>
                    <a:p>
                      <a:r>
                        <a:rPr sz="1800" b="1">
                          <a:solidFill>
                            <a:srgbClr val="FFFFFF"/>
                          </a:solidFill>
                          <a:latin typeface="Arial"/>
                          <a:ea typeface="Arial"/>
                          <a:cs typeface="Arial"/>
                        </a:rPr>
                        <a:t>Area</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c>
                  <a:txBody>
                    <a:bodyPr lIns="171450" tIns="133350" rIns="152400" bIns="95250"/>
                    <a:lstStyle/>
                    <a:p>
                      <a:r>
                        <a:rPr sz="1800" b="1">
                          <a:solidFill>
                            <a:srgbClr val="FFFFFF"/>
                          </a:solidFill>
                          <a:latin typeface="Arial"/>
                          <a:ea typeface="Arial"/>
                          <a:cs typeface="Arial"/>
                        </a:rPr>
                        <a:t>Kemampuan saat ini</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c>
                  <a:txBody>
                    <a:bodyPr lIns="171450" tIns="133350" rIns="152400" bIns="95250"/>
                    <a:lstStyle/>
                    <a:p>
                      <a:r>
                        <a:rPr sz="1800" b="1">
                          <a:solidFill>
                            <a:srgbClr val="FFFFFF"/>
                          </a:solidFill>
                          <a:latin typeface="Arial"/>
                          <a:ea typeface="Arial"/>
                          <a:cs typeface="Arial"/>
                        </a:rPr>
                        <a:t>Kanal</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r>
              <a:tr h="706438">
                <a:tc>
                  <a:txBody>
                    <a:bodyPr lIns="171450" tIns="133350" rIns="152400" bIns="95250"/>
                    <a:lstStyle/>
                    <a:p>
                      <a:r>
                        <a:rPr sz="1875" b="0">
                          <a:solidFill>
                            <a:srgbClr val="15243B"/>
                          </a:solidFill>
                          <a:latin typeface="Arial"/>
                          <a:ea typeface="Arial"/>
                          <a:cs typeface="Arial"/>
                        </a:rPr>
                        <a:t>Persiapan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Master pelanggan dan jadwal reguler</a:t>
                      </a:r>
                    </a:p>
                  </a:txBody>
                  <a:tcPr marL="91440" marR="91440" marT="45720" marB="45720">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Web</a:t>
                      </a:r>
                    </a:p>
                  </a:txBody>
                  <a:tcPr marL="91440" marR="91440" marT="45720" marB="45720">
                    <a:lnR w="9525">
                      <a:solidFill>
                        <a:srgbClr val="FFFFFF"/>
                      </a:solidFill>
                      <a:prstDash val="solid"/>
                    </a:lnR>
                    <a:lnB w="9525">
                      <a:solidFill>
                        <a:srgbClr val="FFFFFF"/>
                      </a:solidFill>
                      <a:prstDash val="solid"/>
                    </a:lnB>
                    <a:solidFill>
                      <a:srgbClr val="EEF3FA"/>
                    </a:solidFill>
                  </a:tcPr>
                </a:tc>
              </a:tr>
              <a:tr h="706438">
                <a:tc>
                  <a:txBody>
                    <a:bodyPr lIns="171450" tIns="133350" rIns="152400" bIns="95250"/>
                    <a:lstStyle/>
                    <a:p>
                      <a:r>
                        <a:rPr sz="1875" b="0">
                          <a:solidFill>
                            <a:srgbClr val="15243B"/>
                          </a:solidFill>
                          <a:latin typeface="Arial"/>
                          <a:ea typeface="Arial"/>
                          <a:cs typeface="Arial"/>
                        </a:rPr>
                        <a:t>Penugasan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Pickup on-demand, assignment tunggal / massal</a:t>
                      </a:r>
                    </a:p>
                  </a:txBody>
                  <a:tcPr marL="91440" marR="91440" marT="45720" marB="45720">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Web</a:t>
                      </a:r>
                    </a:p>
                  </a:txBody>
                  <a:tcPr marL="91440" marR="91440" marT="45720" marB="45720">
                    <a:lnR w="9525">
                      <a:solidFill>
                        <a:srgbClr val="FFFFFF"/>
                      </a:solidFill>
                      <a:prstDash val="solid"/>
                    </a:lnR>
                    <a:lnB w="9525">
                      <a:solidFill>
                        <a:srgbClr val="FFFFFF"/>
                      </a:solidFill>
                      <a:prstDash val="solid"/>
                    </a:lnB>
                    <a:solidFill>
                      <a:srgbClr val="FFFFFF"/>
                    </a:solidFill>
                  </a:tcPr>
                </a:tc>
              </a:tr>
              <a:tr h="706438">
                <a:tc>
                  <a:txBody>
                    <a:bodyPr lIns="171450" tIns="133350" rIns="152400" bIns="95250"/>
                    <a:lstStyle/>
                    <a:p>
                      <a:r>
                        <a:rPr sz="1875" b="0">
                          <a:solidFill>
                            <a:srgbClr val="15243B"/>
                          </a:solidFill>
                          <a:latin typeface="Arial"/>
                          <a:ea typeface="Arial"/>
                          <a:cs typeface="Arial"/>
                        </a:rPr>
                        <a:t>Lapangan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Tugas, takeover, pickup manual, hasil kunjungan</a:t>
                      </a:r>
                    </a:p>
                  </a:txBody>
                  <a:tcPr marL="91440" marR="91440" marT="45720" marB="45720">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Web + Android</a:t>
                      </a:r>
                    </a:p>
                  </a:txBody>
                  <a:tcPr marL="91440" marR="91440" marT="45720" marB="45720">
                    <a:lnR w="9525">
                      <a:solidFill>
                        <a:srgbClr val="FFFFFF"/>
                      </a:solidFill>
                      <a:prstDash val="solid"/>
                    </a:lnR>
                    <a:lnB w="9525">
                      <a:solidFill>
                        <a:srgbClr val="FFFFFF"/>
                      </a:solidFill>
                      <a:prstDash val="solid"/>
                    </a:lnB>
                    <a:solidFill>
                      <a:srgbClr val="EEF3FA"/>
                    </a:solidFill>
                  </a:tcPr>
                </a:tc>
              </a:tr>
              <a:tr h="706438">
                <a:tc>
                  <a:txBody>
                    <a:bodyPr lIns="171450" tIns="133350" rIns="152400" bIns="95250"/>
                    <a:lstStyle/>
                    <a:p>
                      <a:r>
                        <a:rPr sz="1875" b="0">
                          <a:solidFill>
                            <a:srgbClr val="15243B"/>
                          </a:solidFill>
                          <a:latin typeface="Arial"/>
                          <a:ea typeface="Arial"/>
                          <a:cs typeface="Arial"/>
                        </a:rPr>
                        <a:t>Bukti pickup</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Jumlah per kategori, foto, tanda tangan, finalisasi</a:t>
                      </a:r>
                    </a:p>
                  </a:txBody>
                  <a:tcPr marL="91440" marR="91440" marT="45720" marB="45720">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Web + Android</a:t>
                      </a:r>
                    </a:p>
                  </a:txBody>
                  <a:tcPr marL="91440" marR="91440" marT="45720" marB="45720">
                    <a:lnR w="9525">
                      <a:solidFill>
                        <a:srgbClr val="FFFFFF"/>
                      </a:solidFill>
                      <a:prstDash val="solid"/>
                    </a:lnR>
                    <a:lnB w="9525">
                      <a:solidFill>
                        <a:srgbClr val="FFFFFF"/>
                      </a:solidFill>
                      <a:prstDash val="solid"/>
                    </a:lnB>
                    <a:solidFill>
                      <a:srgbClr val="FFFFFF"/>
                    </a:solidFill>
                  </a:tcPr>
                </a:tc>
              </a:tr>
              <a:tr h="706438">
                <a:tc>
                  <a:txBody>
                    <a:bodyPr lIns="171450" tIns="133350" rIns="152400" bIns="95250"/>
                    <a:lstStyle/>
                    <a:p>
                      <a:r>
                        <a:rPr sz="1875" b="0">
                          <a:solidFill>
                            <a:srgbClr val="15243B"/>
                          </a:solidFill>
                          <a:latin typeface="Arial"/>
                          <a:ea typeface="Arial"/>
                          <a:cs typeface="Arial"/>
                        </a:rPr>
                        <a:t>Serah terima</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Handover, verifikasi, penutupan, riwayat</a:t>
                      </a:r>
                    </a:p>
                  </a:txBody>
                  <a:tcPr marL="91440" marR="91440" marT="45720" marB="45720">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Web + Android</a:t>
                      </a:r>
                    </a:p>
                  </a:txBody>
                  <a:tcPr marL="91440" marR="91440" marT="45720" marB="45720">
                    <a:lnR w="9525">
                      <a:solidFill>
                        <a:srgbClr val="FFFFFF"/>
                      </a:solidFill>
                      <a:prstDash val="solid"/>
                    </a:lnR>
                    <a:lnB w="9525">
                      <a:solidFill>
                        <a:srgbClr val="FFFFFF"/>
                      </a:solidFill>
                      <a:prstDash val="solid"/>
                    </a:lnB>
                    <a:solidFill>
                      <a:srgbClr val="EEF3FA"/>
                    </a:solidFill>
                  </a:tcPr>
                </a:tc>
              </a:tr>
            </a:tbl>
          </a:graphicData>
        </a:graphic>
      </p:graphicFrame>
      <p:sp>
        <p:nvSpPr>
          <p:cNvPr id="8" name="Text Pelaporan lanjutan dan integrasi ekste">
            <a:extLst xmlns:a="http://schemas.openxmlformats.org/drawingml/2006/main">
              <a:ext uri="{FF2B5EF4-FFF2-40B4-BE49-F238E27FC236}">
                <a16:creationId xmlns:a16="http://schemas.microsoft.com/office/drawing/2014/main" id="{A2D7646D-F3FF-4404-BCAD-937A20A75319}"/>
              </a:ext>
            </a:extLst>
          </p:cNvPr>
          <p:cNvSpPr>
            <a:spLocks xmlns:a="http://schemas.openxmlformats.org/drawingml/2006/main" noGrp="1"/>
          </p:cNvSpPr>
          <p:nvPr/>
        </p:nvSpPr>
        <p:spPr>
          <a:xfrm xmlns:a="http://schemas.openxmlformats.org/drawingml/2006/main">
            <a:off x="762000" y="7086600"/>
            <a:ext cx="1333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Pelaporan lanjutan dan integrasi eksternal tetap berada di roadmap.</a:t>
            </a:r>
          </a:p>
        </p:txBody>
      </p:sp>
    </p:spTree>
    <p:extLst>
      <p:ext uri="{BB962C8B-B14F-4D97-AF65-F5344CB8AC3E}">
        <p14:creationId xmlns:p14="http://schemas.microsoft.com/office/powerpoint/2010/main" val="74806157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80B90EE6-EB42-4981-89ED-CDD2C13C1B3D}"/>
              </a:ext>
            </a:extLst>
          </p:cNvPr>
          <p:cNvCxnSpPr>
            <a:stCxn xmlns:a="http://schemas.openxmlformats.org/drawingml/2006/main" id="9" idx="2"/>
            <a:endCxn xmlns:a="http://schemas.openxmlformats.org/drawingml/2006/main" id="20" idx="0"/>
          </p:cNvCxnSpPr>
          <p:nvPr/>
        </p:nvCxnSpPr>
        <p:spPr>
          <a:xfrm xmlns:a="http://schemas.openxmlformats.org/drawingml/2006/main">
            <a:off x="7620000" y="4000500"/>
            <a:ext cx="0" cy="1857375"/>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FA7CE534-F16B-4173-96C0-6303594B333A}"/>
              </a:ext>
            </a:extLst>
          </p:cNvPr>
          <p:cNvCxnSpPr>
            <a:stCxn xmlns:a="http://schemas.openxmlformats.org/drawingml/2006/main" id="10" idx="3"/>
            <a:endCxn xmlns:a="http://schemas.openxmlformats.org/drawingml/2006/main" id="11" idx="1"/>
          </p:cNvCxnSpPr>
          <p:nvPr/>
        </p:nvCxnSpPr>
        <p:spPr>
          <a:xfrm xmlns:a="http://schemas.openxmlformats.org/drawingml/2006/main">
            <a:off x="11668125" y="3476625"/>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2DA7CE94-9717-45DB-913C-55C3D2792383}"/>
              </a:ext>
            </a:extLst>
          </p:cNvPr>
          <p:cNvCxnSpPr>
            <a:stCxn xmlns:a="http://schemas.openxmlformats.org/drawingml/2006/main" id="9" idx="3"/>
            <a:endCxn xmlns:a="http://schemas.openxmlformats.org/drawingml/2006/main" id="10" idx="1"/>
          </p:cNvCxnSpPr>
          <p:nvPr/>
        </p:nvCxnSpPr>
        <p:spPr>
          <a:xfrm xmlns:a="http://schemas.openxmlformats.org/drawingml/2006/main">
            <a:off x="8858250" y="3476625"/>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F8AFF2F0-5357-455E-A0F8-F152111500B1}"/>
              </a:ext>
            </a:extLst>
          </p:cNvPr>
          <p:cNvCxnSpPr>
            <a:stCxn xmlns:a="http://schemas.openxmlformats.org/drawingml/2006/main" id="8" idx="3"/>
            <a:endCxn xmlns:a="http://schemas.openxmlformats.org/drawingml/2006/main" id="9" idx="1"/>
          </p:cNvCxnSpPr>
          <p:nvPr/>
        </p:nvCxnSpPr>
        <p:spPr>
          <a:xfrm xmlns:a="http://schemas.openxmlformats.org/drawingml/2006/main">
            <a:off x="6048375" y="3476625"/>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C3F187B8-18D6-4B55-AAAC-B73DD4602BB1}"/>
              </a:ext>
            </a:extLst>
          </p:cNvPr>
          <p:cNvCxnSpPr>
            <a:stCxn xmlns:a="http://schemas.openxmlformats.org/drawingml/2006/main" id="7" idx="3"/>
            <a:endCxn xmlns:a="http://schemas.openxmlformats.org/drawingml/2006/main" id="8" idx="1"/>
          </p:cNvCxnSpPr>
          <p:nvPr/>
        </p:nvCxnSpPr>
        <p:spPr>
          <a:xfrm xmlns:a="http://schemas.openxmlformats.org/drawingml/2006/main">
            <a:off x="3238500" y="3476625"/>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sp>
        <p:nvSpPr>
          <p:cNvPr id="23" name="Text 05">
            <a:extLst xmlns:a="http://schemas.openxmlformats.org/drawingml/2006/main">
              <a:ext uri="{FF2B5EF4-FFF2-40B4-BE49-F238E27FC236}">
                <a16:creationId xmlns:a16="http://schemas.microsoft.com/office/drawing/2014/main" id="{E574C62E-1756-4221-BC4A-404A3F0C7E68}"/>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05</a:t>
            </a:r>
          </a:p>
        </p:txBody>
      </p:sp>
      <p:sp>
        <p:nvSpPr>
          <p:cNvPr id="2" name="Text Retail Operations Platform   /   Inter">
            <a:extLst xmlns:a="http://schemas.openxmlformats.org/drawingml/2006/main">
              <a:ext uri="{FF2B5EF4-FFF2-40B4-BE49-F238E27FC236}">
                <a16:creationId xmlns:a16="http://schemas.microsoft.com/office/drawing/2014/main" id="{EE4684BE-976C-4DFD-9F83-8958B1A557A9}"/>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230D06EB-AA74-422C-A560-0F5C78415441}"/>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A0B01EF3-C1CD-495E-8927-1E9A1B6D177E}"/>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Alur pickup hingga serah terima">
            <a:extLst xmlns:a="http://schemas.openxmlformats.org/drawingml/2006/main">
              <a:ext uri="{FF2B5EF4-FFF2-40B4-BE49-F238E27FC236}">
                <a16:creationId xmlns:a16="http://schemas.microsoft.com/office/drawing/2014/main" id="{04A9C144-3301-40C8-BC4F-6C662AA1A543}"/>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Alur pickup hingga serah terima</a:t>
            </a:r>
          </a:p>
        </p:txBody>
      </p:sp>
      <p:sp>
        <p:nvSpPr>
          <p:cNvPr id="6" name="Text Tugas yang sama menghubungkan persiapa">
            <a:extLst xmlns:a="http://schemas.openxmlformats.org/drawingml/2006/main">
              <a:ext uri="{FF2B5EF4-FFF2-40B4-BE49-F238E27FC236}">
                <a16:creationId xmlns:a16="http://schemas.microsoft.com/office/drawing/2014/main" id="{2700F00E-35C0-46B4-B6F7-FAC252D34357}"/>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Tugas yang sama menghubungkan persiapan, pekerjaan lapangan, dan penerimaan</a:t>
            </a:r>
          </a:p>
        </p:txBody>
      </p:sp>
      <p:sp>
        <p:nvSpPr>
          <p:cNvPr id="7" name="Diagram Buat tugas">
            <a:extLst xmlns:a="http://schemas.openxmlformats.org/drawingml/2006/main">
              <a:ext uri="{FF2B5EF4-FFF2-40B4-BE49-F238E27FC236}">
                <a16:creationId xmlns:a16="http://schemas.microsoft.com/office/drawing/2014/main" id="{2907319C-EEBB-4D7E-A91C-BC2D586F0304}"/>
              </a:ext>
            </a:extLst>
          </p:cNvPr>
          <p:cNvSpPr>
            <a:spLocks xmlns:a="http://schemas.openxmlformats.org/drawingml/2006/main" noGrp="1"/>
          </p:cNvSpPr>
          <p:nvPr/>
        </p:nvSpPr>
        <p:spPr>
          <a:xfrm xmlns:a="http://schemas.openxmlformats.org/drawingml/2006/main">
            <a:off x="762000" y="2952750"/>
            <a:ext cx="2476500" cy="1047750"/>
          </a:xfrm>
          <a:prstGeom xmlns:a="http://schemas.openxmlformats.org/drawingml/2006/main" prst="roundRect">
            <a:avLst>
              <a:gd name="adj" fmla="val 7273"/>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Buat tugas</a:t>
            </a:r>
          </a:p>
        </p:txBody>
      </p:sp>
      <p:sp>
        <p:nvSpPr>
          <p:cNvPr id="8" name="Diagram Tugaskan&#10;petugas">
            <a:extLst xmlns:a="http://schemas.openxmlformats.org/drawingml/2006/main">
              <a:ext uri="{FF2B5EF4-FFF2-40B4-BE49-F238E27FC236}">
                <a16:creationId xmlns:a16="http://schemas.microsoft.com/office/drawing/2014/main" id="{C81400A3-61AF-458A-8363-730F5BC242C3}"/>
              </a:ext>
            </a:extLst>
          </p:cNvPr>
          <p:cNvSpPr>
            <a:spLocks xmlns:a="http://schemas.openxmlformats.org/drawingml/2006/main" noGrp="1"/>
          </p:cNvSpPr>
          <p:nvPr/>
        </p:nvSpPr>
        <p:spPr>
          <a:xfrm xmlns:a="http://schemas.openxmlformats.org/drawingml/2006/main">
            <a:off x="3571875" y="2952750"/>
            <a:ext cx="2476500" cy="1047750"/>
          </a:xfrm>
          <a:prstGeom xmlns:a="http://schemas.openxmlformats.org/drawingml/2006/main" prst="roundRect">
            <a:avLst>
              <a:gd name="adj" fmla="val 7273"/>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Tugaskan</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petugas</a:t>
            </a:r>
          </a:p>
        </p:txBody>
      </p:sp>
      <p:sp>
        <p:nvSpPr>
          <p:cNvPr id="9" name="Diagram Kunjungi&#10;pelanggan">
            <a:extLst xmlns:a="http://schemas.openxmlformats.org/drawingml/2006/main">
              <a:ext uri="{FF2B5EF4-FFF2-40B4-BE49-F238E27FC236}">
                <a16:creationId xmlns:a16="http://schemas.microsoft.com/office/drawing/2014/main" id="{AA22E228-15F6-48F2-8222-87D31724A648}"/>
              </a:ext>
            </a:extLst>
          </p:cNvPr>
          <p:cNvSpPr>
            <a:spLocks xmlns:a="http://schemas.openxmlformats.org/drawingml/2006/main" noGrp="1"/>
          </p:cNvSpPr>
          <p:nvPr/>
        </p:nvSpPr>
        <p:spPr>
          <a:xfrm xmlns:a="http://schemas.openxmlformats.org/drawingml/2006/main">
            <a:off x="6381750" y="2952750"/>
            <a:ext cx="2476500" cy="1047750"/>
          </a:xfrm>
          <a:prstGeom xmlns:a="http://schemas.openxmlformats.org/drawingml/2006/main" prst="roundRect">
            <a:avLst>
              <a:gd name="adj" fmla="val 7273"/>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Kunjungi</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pelanggan</a:t>
            </a:r>
          </a:p>
        </p:txBody>
      </p:sp>
      <p:sp>
        <p:nvSpPr>
          <p:cNvPr id="10" name="Diagram Finalisasi&#10;bukti pickup">
            <a:extLst xmlns:a="http://schemas.openxmlformats.org/drawingml/2006/main">
              <a:ext uri="{FF2B5EF4-FFF2-40B4-BE49-F238E27FC236}">
                <a16:creationId xmlns:a16="http://schemas.microsoft.com/office/drawing/2014/main" id="{5F59A195-C1EB-4C82-9E61-207EE23A27D4}"/>
              </a:ext>
            </a:extLst>
          </p:cNvPr>
          <p:cNvSpPr>
            <a:spLocks xmlns:a="http://schemas.openxmlformats.org/drawingml/2006/main" noGrp="1"/>
          </p:cNvSpPr>
          <p:nvPr/>
        </p:nvSpPr>
        <p:spPr>
          <a:xfrm xmlns:a="http://schemas.openxmlformats.org/drawingml/2006/main">
            <a:off x="9191625" y="2952750"/>
            <a:ext cx="2476500" cy="1047750"/>
          </a:xfrm>
          <a:prstGeom xmlns:a="http://schemas.openxmlformats.org/drawingml/2006/main" prst="roundRect">
            <a:avLst>
              <a:gd name="adj" fmla="val 7273"/>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Finalisasi</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bukti pickup</a:t>
            </a:r>
          </a:p>
        </p:txBody>
      </p:sp>
      <p:sp>
        <p:nvSpPr>
          <p:cNvPr id="11" name="Diagram Handover &amp;&#10;verifikasi">
            <a:extLst xmlns:a="http://schemas.openxmlformats.org/drawingml/2006/main">
              <a:ext uri="{FF2B5EF4-FFF2-40B4-BE49-F238E27FC236}">
                <a16:creationId xmlns:a16="http://schemas.microsoft.com/office/drawing/2014/main" id="{36BAA780-D36A-482D-BC5C-58D7D4E22A65}"/>
              </a:ext>
            </a:extLst>
          </p:cNvPr>
          <p:cNvSpPr>
            <a:spLocks xmlns:a="http://schemas.openxmlformats.org/drawingml/2006/main" noGrp="1"/>
          </p:cNvSpPr>
          <p:nvPr/>
        </p:nvSpPr>
        <p:spPr>
          <a:xfrm xmlns:a="http://schemas.openxmlformats.org/drawingml/2006/main">
            <a:off x="12001500" y="2952750"/>
            <a:ext cx="2476500" cy="1047750"/>
          </a:xfrm>
          <a:prstGeom xmlns:a="http://schemas.openxmlformats.org/drawingml/2006/main" prst="roundRect">
            <a:avLst>
              <a:gd name="adj" fmla="val 7273"/>
            </a:avLst>
          </a:prstGeom>
          <a:solidFill xmlns:a="http://schemas.openxmlformats.org/drawingml/2006/main">
            <a:srgbClr val="17336F"/>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Handover &amp;</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verifikasi</a:t>
            </a:r>
          </a:p>
        </p:txBody>
      </p:sp>
      <p:sp>
        <p:nvSpPr>
          <p:cNvPr id="16" name="Text CS / Admin&#10;atau pickup manual">
            <a:extLst xmlns:a="http://schemas.openxmlformats.org/drawingml/2006/main">
              <a:ext uri="{FF2B5EF4-FFF2-40B4-BE49-F238E27FC236}">
                <a16:creationId xmlns:a16="http://schemas.microsoft.com/office/drawing/2014/main" id="{B6BAC131-31BF-4F3A-BB2E-1ECC845862EB}"/>
              </a:ext>
            </a:extLst>
          </p:cNvPr>
          <p:cNvSpPr>
            <a:spLocks xmlns:a="http://schemas.openxmlformats.org/drawingml/2006/main" noGrp="1"/>
          </p:cNvSpPr>
          <p:nvPr/>
        </p:nvSpPr>
        <p:spPr>
          <a:xfrm xmlns:a="http://schemas.openxmlformats.org/drawingml/2006/main">
            <a:off x="762000" y="423862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5D6C82"/>
                </a:solidFill>
                <a:latin typeface="Arial"/>
                <a:ea typeface="Arial"/>
                <a:cs typeface="Arial"/>
              </a:defRPr>
            </a:defPPr>
          </a:lstStyle>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CS / Admin</a:t>
            </a:r>
          </a:p>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atau pickup manual</a:t>
            </a:r>
          </a:p>
        </p:txBody>
      </p:sp>
      <p:sp>
        <p:nvSpPr>
          <p:cNvPr id="17" name="Text CS / Admin&#10;atau penugasan diri">
            <a:extLst xmlns:a="http://schemas.openxmlformats.org/drawingml/2006/main">
              <a:ext uri="{FF2B5EF4-FFF2-40B4-BE49-F238E27FC236}">
                <a16:creationId xmlns:a16="http://schemas.microsoft.com/office/drawing/2014/main" id="{7D1B2389-FED8-41FC-9603-9B94B15DA8CD}"/>
              </a:ext>
            </a:extLst>
          </p:cNvPr>
          <p:cNvSpPr>
            <a:spLocks xmlns:a="http://schemas.openxmlformats.org/drawingml/2006/main" noGrp="1"/>
          </p:cNvSpPr>
          <p:nvPr/>
        </p:nvSpPr>
        <p:spPr>
          <a:xfrm xmlns:a="http://schemas.openxmlformats.org/drawingml/2006/main">
            <a:off x="3571875" y="423862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5D6C82"/>
                </a:solidFill>
                <a:latin typeface="Arial"/>
                <a:ea typeface="Arial"/>
                <a:cs typeface="Arial"/>
              </a:defRPr>
            </a:defPPr>
          </a:lstStyle>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CS / Admin</a:t>
            </a:r>
          </a:p>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atau penugasan diri</a:t>
            </a:r>
          </a:p>
        </p:txBody>
      </p:sp>
      <p:sp>
        <p:nvSpPr>
          <p:cNvPr id="18" name="Text Jumlah dan bukti&#10;menjadi POP final">
            <a:extLst xmlns:a="http://schemas.openxmlformats.org/drawingml/2006/main">
              <a:ext uri="{FF2B5EF4-FFF2-40B4-BE49-F238E27FC236}">
                <a16:creationId xmlns:a16="http://schemas.microsoft.com/office/drawing/2014/main" id="{D0DFABD1-2F63-43AE-9D99-660AB5731732}"/>
              </a:ext>
            </a:extLst>
          </p:cNvPr>
          <p:cNvSpPr>
            <a:spLocks xmlns:a="http://schemas.openxmlformats.org/drawingml/2006/main" noGrp="1"/>
          </p:cNvSpPr>
          <p:nvPr/>
        </p:nvSpPr>
        <p:spPr>
          <a:xfrm xmlns:a="http://schemas.openxmlformats.org/drawingml/2006/main">
            <a:off x="9191625" y="423862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5D6C82"/>
                </a:solidFill>
                <a:latin typeface="Arial"/>
                <a:ea typeface="Arial"/>
                <a:cs typeface="Arial"/>
              </a:defRPr>
            </a:defPPr>
          </a:lstStyle>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Jumlah dan bukti</a:t>
            </a:r>
          </a:p>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menjadi POP final</a:t>
            </a:r>
          </a:p>
        </p:txBody>
      </p:sp>
      <p:sp>
        <p:nvSpPr>
          <p:cNvPr id="19" name="Text Jumlah diterima&#10;dan sesi ditutup">
            <a:extLst xmlns:a="http://schemas.openxmlformats.org/drawingml/2006/main">
              <a:ext uri="{FF2B5EF4-FFF2-40B4-BE49-F238E27FC236}">
                <a16:creationId xmlns:a16="http://schemas.microsoft.com/office/drawing/2014/main" id="{88329EC2-1B61-4338-BA9F-11CEA9172DCC}"/>
              </a:ext>
            </a:extLst>
          </p:cNvPr>
          <p:cNvSpPr>
            <a:spLocks xmlns:a="http://schemas.openxmlformats.org/drawingml/2006/main" noGrp="1"/>
          </p:cNvSpPr>
          <p:nvPr/>
        </p:nvSpPr>
        <p:spPr>
          <a:xfrm xmlns:a="http://schemas.openxmlformats.org/drawingml/2006/main">
            <a:off x="12001500" y="423862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0">
                <a:solidFill>
                  <a:srgbClr val="5D6C82"/>
                </a:solidFill>
                <a:latin typeface="Arial"/>
                <a:ea typeface="Arial"/>
                <a:cs typeface="Arial"/>
              </a:defRPr>
            </a:defPPr>
          </a:lstStyle>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Jumlah diterima</a:t>
            </a:r>
          </a:p>
          <a:p xmlns:a="http://schemas.openxmlformats.org/drawingml/2006/main">
            <a:pPr algn="ctr">
              <a:defRPr sz="1875" b="0">
                <a:solidFill>
                  <a:srgbClr val="5D6C82"/>
                </a:solidFill>
                <a:latin typeface="Arial"/>
                <a:ea typeface="Arial"/>
                <a:cs typeface="Arial"/>
              </a:defRPr>
            </a:pPr>
            <a:r>
              <a:rPr sz="1875" b="0">
                <a:solidFill>
                  <a:srgbClr val="5D6C82"/>
                </a:solidFill>
                <a:latin typeface="Arial"/>
                <a:ea typeface="Arial"/>
                <a:cs typeface="Arial"/>
              </a:rPr>
              <a:t>dan sesi ditutup</a:t>
            </a:r>
          </a:p>
        </p:txBody>
      </p:sp>
      <p:sp>
        <p:nvSpPr>
          <p:cNvPr id="20" name="Diagram Tanpa Paket + alasan wajib">
            <a:extLst xmlns:a="http://schemas.openxmlformats.org/drawingml/2006/main">
              <a:ext uri="{FF2B5EF4-FFF2-40B4-BE49-F238E27FC236}">
                <a16:creationId xmlns:a16="http://schemas.microsoft.com/office/drawing/2014/main" id="{80A459DF-5571-4D6B-BD95-F5AC504B2ACF}"/>
              </a:ext>
            </a:extLst>
          </p:cNvPr>
          <p:cNvSpPr>
            <a:spLocks xmlns:a="http://schemas.openxmlformats.org/drawingml/2006/main" noGrp="1"/>
          </p:cNvSpPr>
          <p:nvPr/>
        </p:nvSpPr>
        <p:spPr>
          <a:xfrm xmlns:a="http://schemas.openxmlformats.org/drawingml/2006/main">
            <a:off x="5619750" y="5857875"/>
            <a:ext cx="4000500" cy="714375"/>
          </a:xfrm>
          <a:prstGeom xmlns:a="http://schemas.openxmlformats.org/drawingml/2006/main" prst="roundRect">
            <a:avLst>
              <a:gd name="adj" fmla="val 10667"/>
            </a:avLst>
          </a:prstGeom>
          <a:solidFill xmlns:a="http://schemas.openxmlformats.org/drawingml/2006/main">
            <a:srgbClr val="FFF5E6"/>
          </a:solidFill>
          <a:ln xmlns:a="http://schemas.openxmlformats.org/drawingml/2006/main" w="0">
            <a:noFill/>
          </a:ln>
        </p:spPr>
        <p:txBody>
          <a:bodyPr xmlns:a="http://schemas.openxmlformats.org/drawingml/2006/main" lIns="152400" tIns="152400" rIns="152400" bIns="152400" anchor="ctr">
            <a:noAutofit/>
          </a:bodyPr>
          <a:lstStyle xmlns:a="http://schemas.openxmlformats.org/drawingml/2006/main">
            <a:defPPr algn="ctr">
              <a:defRPr sz="1950" b="1">
                <a:solidFill>
                  <a:srgbClr val="965F12"/>
                </a:solidFill>
                <a:latin typeface="Arial"/>
                <a:ea typeface="Arial"/>
                <a:cs typeface="Arial"/>
              </a:defRPr>
            </a:defPPr>
          </a:lstStyle>
          <a:p xmlns:a="http://schemas.openxmlformats.org/drawingml/2006/main">
            <a:pPr algn="ctr">
              <a:defRPr sz="1950" b="1">
                <a:solidFill>
                  <a:srgbClr val="965F12"/>
                </a:solidFill>
                <a:latin typeface="Arial"/>
                <a:ea typeface="Arial"/>
                <a:cs typeface="Arial"/>
              </a:defRPr>
            </a:pPr>
            <a:r>
              <a:rPr sz="1950" b="1">
                <a:solidFill>
                  <a:srgbClr val="965F12"/>
                </a:solidFill>
                <a:latin typeface="Arial"/>
                <a:ea typeface="Arial"/>
                <a:cs typeface="Arial"/>
              </a:rPr>
              <a:t>Tanpa Paket + alasan wajib</a:t>
            </a:r>
          </a:p>
        </p:txBody>
      </p:sp>
      <p:sp>
        <p:nvSpPr>
          <p:cNvPr id="22" name="Text Tugas selesai tanpa POP dan tanpa hand">
            <a:extLst xmlns:a="http://schemas.openxmlformats.org/drawingml/2006/main">
              <a:ext uri="{FF2B5EF4-FFF2-40B4-BE49-F238E27FC236}">
                <a16:creationId xmlns:a16="http://schemas.microsoft.com/office/drawing/2014/main" id="{6549D61D-4514-4A2B-9E4F-035B21889CD6}"/>
              </a:ext>
            </a:extLst>
          </p:cNvPr>
          <p:cNvSpPr>
            <a:spLocks xmlns:a="http://schemas.openxmlformats.org/drawingml/2006/main" noGrp="1"/>
          </p:cNvSpPr>
          <p:nvPr/>
        </p:nvSpPr>
        <p:spPr>
          <a:xfrm xmlns:a="http://schemas.openxmlformats.org/drawingml/2006/main">
            <a:off x="6191250" y="6772275"/>
            <a:ext cx="723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D6C82"/>
                </a:solidFill>
                <a:latin typeface="Arial"/>
                <a:ea typeface="Arial"/>
                <a:cs typeface="Arial"/>
              </a:defRPr>
            </a:defPPr>
          </a:lstStyle>
          <a:p xmlns:a="http://schemas.openxmlformats.org/drawingml/2006/main">
            <a:pPr algn="l">
              <a:defRPr sz="1875" b="0">
                <a:solidFill>
                  <a:srgbClr val="5D6C82"/>
                </a:solidFill>
                <a:latin typeface="Arial"/>
                <a:ea typeface="Arial"/>
                <a:cs typeface="Arial"/>
              </a:defRPr>
            </a:pPr>
            <a:r>
              <a:rPr sz="1875" b="0">
                <a:solidFill>
                  <a:srgbClr val="5D6C82"/>
                </a:solidFill>
                <a:latin typeface="Arial"/>
                <a:ea typeface="Arial"/>
                <a:cs typeface="Arial"/>
              </a:rPr>
              <a:t>Tugas selesai tanpa POP dan tanpa handover.</a:t>
            </a:r>
          </a:p>
          <a:p xmlns:a="http://schemas.openxmlformats.org/drawingml/2006/main">
            <a:pPr algn="l">
              <a:defRPr sz="1875" b="0">
                <a:solidFill>
                  <a:srgbClr val="5D6C82"/>
                </a:solidFill>
                <a:latin typeface="Arial"/>
                <a:ea typeface="Arial"/>
                <a:cs typeface="Arial"/>
              </a:defRPr>
            </a:pPr>
            <a:r>
              <a:rPr sz="1875" b="0">
                <a:solidFill>
                  <a:srgbClr val="5D6C82"/>
                </a:solidFill>
                <a:latin typeface="Arial"/>
                <a:ea typeface="Arial"/>
                <a:cs typeface="Arial"/>
              </a:rPr>
              <a:t>Kunjungan berikutnya memakai tugas baru yang saling terkait.</a:t>
            </a:r>
          </a:p>
        </p:txBody>
      </p:sp>
    </p:spTree>
    <p:extLst>
      <p:ext uri="{BB962C8B-B14F-4D97-AF65-F5344CB8AC3E}">
        <p14:creationId xmlns:p14="http://schemas.microsoft.com/office/powerpoint/2010/main" val="27423321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ext 06">
            <a:extLst xmlns:a="http://schemas.openxmlformats.org/drawingml/2006/main">
              <a:ext uri="{FF2B5EF4-FFF2-40B4-BE49-F238E27FC236}">
                <a16:creationId xmlns:a16="http://schemas.microsoft.com/office/drawing/2014/main" id="{E408FD1D-F645-4CAF-8BEE-3A3F0BF1A50A}"/>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06</a:t>
            </a:r>
          </a:p>
        </p:txBody>
      </p:sp>
      <p:sp>
        <p:nvSpPr>
          <p:cNvPr id="2" name="Text Retail Operations Platform   /   Inter">
            <a:extLst xmlns:a="http://schemas.openxmlformats.org/drawingml/2006/main">
              <a:ext uri="{FF2B5EF4-FFF2-40B4-BE49-F238E27FC236}">
                <a16:creationId xmlns:a16="http://schemas.microsoft.com/office/drawing/2014/main" id="{6F461D7B-DCF3-4126-8F50-1CE04CC7CB1D}"/>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9091FCE4-D8A0-4C6E-9CEA-DA56B6D200FD}"/>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AB87D8DC-D14D-4911-99BA-8F3BDF089B6D}"/>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Web management untuk koordinasi cabang">
            <a:extLst xmlns:a="http://schemas.openxmlformats.org/drawingml/2006/main">
              <a:ext uri="{FF2B5EF4-FFF2-40B4-BE49-F238E27FC236}">
                <a16:creationId xmlns:a16="http://schemas.microsoft.com/office/drawing/2014/main" id="{78C50AC5-CE9A-47D9-83E7-ADAE0FCAA4E5}"/>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Web management untuk koordinasi cabang</a:t>
            </a:r>
          </a:p>
        </p:txBody>
      </p:sp>
      <p:sp>
        <p:nvSpPr>
          <p:cNvPr id="6" name="Text CS dan Admin menyiapkan pekerjaan sert">
            <a:extLst xmlns:a="http://schemas.openxmlformats.org/drawingml/2006/main">
              <a:ext uri="{FF2B5EF4-FFF2-40B4-BE49-F238E27FC236}">
                <a16:creationId xmlns:a16="http://schemas.microsoft.com/office/drawing/2014/main" id="{D86CC27F-FA5E-42EE-8EB7-DF79793DD93C}"/>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CS dan Admin menyiapkan pekerjaan serta memantau tindak lanjut</a:t>
            </a:r>
          </a:p>
        </p:txBody>
      </p:sp>
      <p:sp>
        <p:nvSpPr>
          <p:cNvPr id="7" name="Text 01">
            <a:extLst xmlns:a="http://schemas.openxmlformats.org/drawingml/2006/main">
              <a:ext uri="{FF2B5EF4-FFF2-40B4-BE49-F238E27FC236}">
                <a16:creationId xmlns:a16="http://schemas.microsoft.com/office/drawing/2014/main" id="{3EFA5EB3-89AC-46AE-BE1D-B41CED760DC2}"/>
              </a:ext>
            </a:extLst>
          </p:cNvPr>
          <p:cNvSpPr>
            <a:spLocks xmlns:a="http://schemas.openxmlformats.org/drawingml/2006/main" noGrp="1"/>
          </p:cNvSpPr>
          <p:nvPr/>
        </p:nvSpPr>
        <p:spPr>
          <a:xfrm xmlns:a="http://schemas.openxmlformats.org/drawingml/2006/main">
            <a:off x="762000" y="27146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01</a:t>
            </a:r>
          </a:p>
        </p:txBody>
      </p:sp>
      <p:sp>
        <p:nvSpPr>
          <p:cNvPr id="8" name="Text Pembuatan tugas">
            <a:extLst xmlns:a="http://schemas.openxmlformats.org/drawingml/2006/main">
              <a:ext uri="{FF2B5EF4-FFF2-40B4-BE49-F238E27FC236}">
                <a16:creationId xmlns:a16="http://schemas.microsoft.com/office/drawing/2014/main" id="{7612805F-81C1-4181-A6E0-B41220DB01A1}"/>
              </a:ext>
            </a:extLst>
          </p:cNvPr>
          <p:cNvSpPr>
            <a:spLocks xmlns:a="http://schemas.openxmlformats.org/drawingml/2006/main" noGrp="1"/>
          </p:cNvSpPr>
          <p:nvPr/>
        </p:nvSpPr>
        <p:spPr>
          <a:xfrm xmlns:a="http://schemas.openxmlformats.org/drawingml/2006/main">
            <a:off x="1581150" y="2714625"/>
            <a:ext cx="6800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Pembuatan tugas</a:t>
            </a:r>
          </a:p>
        </p:txBody>
      </p:sp>
      <p:sp>
        <p:nvSpPr>
          <p:cNvPr id="9" name="Text Pilih pelanggan, alamat, dan waktu pic">
            <a:extLst xmlns:a="http://schemas.openxmlformats.org/drawingml/2006/main">
              <a:ext uri="{FF2B5EF4-FFF2-40B4-BE49-F238E27FC236}">
                <a16:creationId xmlns:a16="http://schemas.microsoft.com/office/drawing/2014/main" id="{AC09BA00-D4E6-44E7-BB5D-B1271724DF71}"/>
              </a:ext>
            </a:extLst>
          </p:cNvPr>
          <p:cNvSpPr>
            <a:spLocks xmlns:a="http://schemas.openxmlformats.org/drawingml/2006/main" noGrp="1"/>
          </p:cNvSpPr>
          <p:nvPr/>
        </p:nvSpPr>
        <p:spPr>
          <a:xfrm xmlns:a="http://schemas.openxmlformats.org/drawingml/2006/main">
            <a:off x="1581150" y="320992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Pilih pelanggan, alamat, dan waktu pickup. Jadwal reguler mendukung pekerjaan berulang.</a:t>
            </a:r>
          </a:p>
        </p:txBody>
      </p:sp>
      <p:sp>
        <p:nvSpPr>
          <p:cNvPr id="10" name="Text 02">
            <a:extLst xmlns:a="http://schemas.openxmlformats.org/drawingml/2006/main">
              <a:ext uri="{FF2B5EF4-FFF2-40B4-BE49-F238E27FC236}">
                <a16:creationId xmlns:a16="http://schemas.microsoft.com/office/drawing/2014/main" id="{B288DE43-CD2C-415A-B515-5791F959AD83}"/>
              </a:ext>
            </a:extLst>
          </p:cNvPr>
          <p:cNvSpPr>
            <a:spLocks xmlns:a="http://schemas.openxmlformats.org/drawingml/2006/main" noGrp="1"/>
          </p:cNvSpPr>
          <p:nvPr/>
        </p:nvSpPr>
        <p:spPr>
          <a:xfrm xmlns:a="http://schemas.openxmlformats.org/drawingml/2006/main">
            <a:off x="762000" y="414337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02</a:t>
            </a:r>
          </a:p>
        </p:txBody>
      </p:sp>
      <p:sp>
        <p:nvSpPr>
          <p:cNvPr id="11" name="Text Penugasan petugas">
            <a:extLst xmlns:a="http://schemas.openxmlformats.org/drawingml/2006/main">
              <a:ext uri="{FF2B5EF4-FFF2-40B4-BE49-F238E27FC236}">
                <a16:creationId xmlns:a16="http://schemas.microsoft.com/office/drawing/2014/main" id="{54FA281D-AA1E-472D-9797-968AADE3698E}"/>
              </a:ext>
            </a:extLst>
          </p:cNvPr>
          <p:cNvSpPr>
            <a:spLocks xmlns:a="http://schemas.openxmlformats.org/drawingml/2006/main" noGrp="1"/>
          </p:cNvSpPr>
          <p:nvPr/>
        </p:nvSpPr>
        <p:spPr>
          <a:xfrm xmlns:a="http://schemas.openxmlformats.org/drawingml/2006/main">
            <a:off x="1581150" y="4143375"/>
            <a:ext cx="6800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Penugasan petugas</a:t>
            </a:r>
          </a:p>
        </p:txBody>
      </p:sp>
      <p:sp>
        <p:nvSpPr>
          <p:cNvPr id="12" name="Text Assignment satu per satu atau massal u">
            <a:extLst xmlns:a="http://schemas.openxmlformats.org/drawingml/2006/main">
              <a:ext uri="{FF2B5EF4-FFF2-40B4-BE49-F238E27FC236}">
                <a16:creationId xmlns:a16="http://schemas.microsoft.com/office/drawing/2014/main" id="{163114EE-8A1E-46B7-9666-E2EF2CB12852}"/>
              </a:ext>
            </a:extLst>
          </p:cNvPr>
          <p:cNvSpPr>
            <a:spLocks xmlns:a="http://schemas.openxmlformats.org/drawingml/2006/main" noGrp="1"/>
          </p:cNvSpPr>
          <p:nvPr/>
        </p:nvSpPr>
        <p:spPr>
          <a:xfrm xmlns:a="http://schemas.openxmlformats.org/drawingml/2006/main">
            <a:off x="1581150" y="463867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Assignment satu per satu atau massal untuk tugas yang memenuhi syarat.</a:t>
            </a:r>
          </a:p>
        </p:txBody>
      </p:sp>
      <p:sp>
        <p:nvSpPr>
          <p:cNvPr id="13" name="Text 03">
            <a:extLst xmlns:a="http://schemas.openxmlformats.org/drawingml/2006/main">
              <a:ext uri="{FF2B5EF4-FFF2-40B4-BE49-F238E27FC236}">
                <a16:creationId xmlns:a16="http://schemas.microsoft.com/office/drawing/2014/main" id="{0ECDC921-604E-49C6-B1A7-59A947370E3C}"/>
              </a:ext>
            </a:extLst>
          </p:cNvPr>
          <p:cNvSpPr>
            <a:spLocks xmlns:a="http://schemas.openxmlformats.org/drawingml/2006/main" noGrp="1"/>
          </p:cNvSpPr>
          <p:nvPr/>
        </p:nvSpPr>
        <p:spPr>
          <a:xfrm xmlns:a="http://schemas.openxmlformats.org/drawingml/2006/main">
            <a:off x="762000" y="55721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03</a:t>
            </a:r>
          </a:p>
        </p:txBody>
      </p:sp>
      <p:sp>
        <p:nvSpPr>
          <p:cNvPr id="14" name="Text Pemantauan pekerjaan">
            <a:extLst xmlns:a="http://schemas.openxmlformats.org/drawingml/2006/main">
              <a:ext uri="{FF2B5EF4-FFF2-40B4-BE49-F238E27FC236}">
                <a16:creationId xmlns:a16="http://schemas.microsoft.com/office/drawing/2014/main" id="{2DE9E343-4C75-4816-867E-BBC648DD1953}"/>
              </a:ext>
            </a:extLst>
          </p:cNvPr>
          <p:cNvSpPr>
            <a:spLocks xmlns:a="http://schemas.openxmlformats.org/drawingml/2006/main" noGrp="1"/>
          </p:cNvSpPr>
          <p:nvPr/>
        </p:nvSpPr>
        <p:spPr>
          <a:xfrm xmlns:a="http://schemas.openxmlformats.org/drawingml/2006/main">
            <a:off x="1581150" y="5572125"/>
            <a:ext cx="6800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Pemantauan pekerjaan</a:t>
            </a:r>
          </a:p>
        </p:txBody>
      </p:sp>
      <p:sp>
        <p:nvSpPr>
          <p:cNvPr id="15" name="Text Cari dan filter tugas, buka detail, la">
            <a:extLst xmlns:a="http://schemas.openxmlformats.org/drawingml/2006/main">
              <a:ext uri="{FF2B5EF4-FFF2-40B4-BE49-F238E27FC236}">
                <a16:creationId xmlns:a16="http://schemas.microsoft.com/office/drawing/2014/main" id="{5A696677-09CD-4FE0-AED3-365311F48679}"/>
              </a:ext>
            </a:extLst>
          </p:cNvPr>
          <p:cNvSpPr>
            <a:spLocks xmlns:a="http://schemas.openxmlformats.org/drawingml/2006/main" noGrp="1"/>
          </p:cNvSpPr>
          <p:nvPr/>
        </p:nvSpPr>
        <p:spPr>
          <a:xfrm xmlns:a="http://schemas.openxmlformats.org/drawingml/2006/main">
            <a:off x="1581150" y="6067425"/>
            <a:ext cx="6715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Cari dan filter tugas, buka detail, lalu telusuri bukti dan handover.</a:t>
            </a:r>
          </a:p>
        </p:txBody>
      </p:sp>
      <p:pic>
        <p:nvPicPr>
          <p:cNvPr id="16" name="">
            <a:extLst xmlns:a="http://schemas.openxmlformats.org/drawingml/2006/main">
              <a:ext uri="{FF2B5EF4-FFF2-40B4-BE49-F238E27FC236}">
                <a16:creationId xmlns:a16="http://schemas.microsoft.com/office/drawing/2014/main" id="{B8F4250D-0F4A-4F00-9E87-86500EF05EDC}"/>
              </a:ext>
            </a:extLst>
          </p:cNvPr>
          <p:cNvPicPr>
            <a:picLocks xmlns:a="http://schemas.openxmlformats.org/drawingml/2006/main" noChangeAspect="1"/>
          </p:cNvPicPr>
          <p:nvPr/>
        </p:nvPicPr>
        <p:blipFill>
          <a:blip xmlns:r="http://schemas.openxmlformats.org/officeDocument/2006/relationships" xmlns:a="http://schemas.openxmlformats.org/drawingml/2006/main" r:embed="R792b7edf8ddf4d89"/>
          <a:stretch xmlns:a="http://schemas.openxmlformats.org/drawingml/2006/main"/>
        </p:blipFill>
        <p:spPr>
          <a:xfrm xmlns:a="http://schemas.openxmlformats.org/drawingml/2006/main">
            <a:off x="9595184" y="2428875"/>
            <a:ext cx="4050632" cy="4810125"/>
          </a:xfrm>
          <a:prstGeom xmlns:a="http://schemas.openxmlformats.org/drawingml/2006/main" prst="rect">
            <a:avLst/>
          </a:prstGeom>
        </p:spPr>
      </p:pic>
      <p:sp>
        <p:nvSpPr>
          <p:cNvPr id="17" name="Text Tangkapan aktual web QA; formulir tanp">
            <a:extLst xmlns:a="http://schemas.openxmlformats.org/drawingml/2006/main">
              <a:ext uri="{FF2B5EF4-FFF2-40B4-BE49-F238E27FC236}">
                <a16:creationId xmlns:a16="http://schemas.microsoft.com/office/drawing/2014/main" id="{1322CB82-C3E6-47DF-BD58-6352F9AB493C}"/>
              </a:ext>
            </a:extLst>
          </p:cNvPr>
          <p:cNvSpPr>
            <a:spLocks xmlns:a="http://schemas.openxmlformats.org/drawingml/2006/main" noGrp="1"/>
          </p:cNvSpPr>
          <p:nvPr/>
        </p:nvSpPr>
        <p:spPr>
          <a:xfrm xmlns:a="http://schemas.openxmlformats.org/drawingml/2006/main">
            <a:off x="8763000" y="733425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Tangkapan aktual web QA; formulir tanpa data pelanggan</a:t>
            </a:r>
          </a:p>
        </p:txBody>
      </p:sp>
    </p:spTree>
    <p:extLst>
      <p:ext uri="{BB962C8B-B14F-4D97-AF65-F5344CB8AC3E}">
        <p14:creationId xmlns:p14="http://schemas.microsoft.com/office/powerpoint/2010/main" val="86570755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 07">
            <a:extLst xmlns:a="http://schemas.openxmlformats.org/drawingml/2006/main">
              <a:ext uri="{FF2B5EF4-FFF2-40B4-BE49-F238E27FC236}">
                <a16:creationId xmlns:a16="http://schemas.microsoft.com/office/drawing/2014/main" id="{934A1790-7B13-4D38-B44C-6A4080F32EC0}"/>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07</a:t>
            </a:r>
          </a:p>
        </p:txBody>
      </p:sp>
      <p:sp>
        <p:nvSpPr>
          <p:cNvPr id="2" name="Text Retail Operations Platform   /   Inter">
            <a:extLst xmlns:a="http://schemas.openxmlformats.org/drawingml/2006/main">
              <a:ext uri="{FF2B5EF4-FFF2-40B4-BE49-F238E27FC236}">
                <a16:creationId xmlns:a16="http://schemas.microsoft.com/office/drawing/2014/main" id="{F04ED259-1847-4C10-A5DF-0E1F550DA363}"/>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838197DE-2CF7-4A33-B9E4-04D9B1856A4E}"/>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A630E0E5-C768-4A42-A53E-45487E9E9D37}"/>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Android sebagai ruang kerja petugas">
            <a:extLst xmlns:a="http://schemas.openxmlformats.org/drawingml/2006/main">
              <a:ext uri="{FF2B5EF4-FFF2-40B4-BE49-F238E27FC236}">
                <a16:creationId xmlns:a16="http://schemas.microsoft.com/office/drawing/2014/main" id="{8636BABB-700A-42F3-A5A3-AF845195314E}"/>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Android sebagai ruang kerja petugas</a:t>
            </a:r>
          </a:p>
        </p:txBody>
      </p:sp>
      <p:sp>
        <p:nvSpPr>
          <p:cNvPr id="6" name="Text Aplikasi React + Capacitor yang terhub">
            <a:extLst xmlns:a="http://schemas.openxmlformats.org/drawingml/2006/main">
              <a:ext uri="{FF2B5EF4-FFF2-40B4-BE49-F238E27FC236}">
                <a16:creationId xmlns:a16="http://schemas.microsoft.com/office/drawing/2014/main" id="{CB22F1CC-3A62-4B77-A5D2-9F306324CE60}"/>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Aplikasi React + Capacitor yang terhubung ke backend operasional yang sama</a:t>
            </a:r>
          </a:p>
        </p:txBody>
      </p:sp>
      <p:sp>
        <p:nvSpPr>
          <p:cNvPr id="7" name="Text Pekerjaan harian&#10;dalam satu aplikasi">
            <a:extLst xmlns:a="http://schemas.openxmlformats.org/drawingml/2006/main">
              <a:ext uri="{FF2B5EF4-FFF2-40B4-BE49-F238E27FC236}">
                <a16:creationId xmlns:a16="http://schemas.microsoft.com/office/drawing/2014/main" id="{8DCCA34F-1136-40CA-91CC-17D1160526D5}"/>
              </a:ext>
            </a:extLst>
          </p:cNvPr>
          <p:cNvSpPr>
            <a:spLocks xmlns:a="http://schemas.openxmlformats.org/drawingml/2006/main" noGrp="1"/>
          </p:cNvSpPr>
          <p:nvPr/>
        </p:nvSpPr>
        <p:spPr>
          <a:xfrm xmlns:a="http://schemas.openxmlformats.org/drawingml/2006/main">
            <a:off x="762000" y="2714625"/>
            <a:ext cx="61912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5243B"/>
                </a:solidFill>
                <a:latin typeface="Arial"/>
                <a:ea typeface="Arial"/>
                <a:cs typeface="Arial"/>
              </a:defRPr>
            </a:defPPr>
          </a:lstStyle>
          <a:p xmlns:a="http://schemas.openxmlformats.org/drawingml/2006/main">
            <a:pPr algn="l">
              <a:defRPr sz="3450" b="1">
                <a:solidFill>
                  <a:srgbClr val="15243B"/>
                </a:solidFill>
                <a:latin typeface="Arial"/>
                <a:ea typeface="Arial"/>
                <a:cs typeface="Arial"/>
              </a:defRPr>
            </a:pPr>
            <a:r>
              <a:rPr sz="3450" b="1">
                <a:solidFill>
                  <a:srgbClr val="15243B"/>
                </a:solidFill>
                <a:latin typeface="Arial"/>
                <a:ea typeface="Arial"/>
                <a:cs typeface="Arial"/>
              </a:rPr>
              <a:t>Pekerjaan harian</a:t>
            </a:r>
          </a:p>
          <a:p xmlns:a="http://schemas.openxmlformats.org/drawingml/2006/main">
            <a:pPr algn="l">
              <a:defRPr sz="3450" b="1">
                <a:solidFill>
                  <a:srgbClr val="15243B"/>
                </a:solidFill>
                <a:latin typeface="Arial"/>
                <a:ea typeface="Arial"/>
                <a:cs typeface="Arial"/>
              </a:defRPr>
            </a:pPr>
            <a:r>
              <a:rPr sz="3450" b="1">
                <a:solidFill>
                  <a:srgbClr val="15243B"/>
                </a:solidFill>
                <a:latin typeface="Arial"/>
                <a:ea typeface="Arial"/>
                <a:cs typeface="Arial"/>
              </a:rPr>
              <a:t>dalam satu aplikasi</a:t>
            </a:r>
          </a:p>
        </p:txBody>
      </p:sp>
      <p:sp>
        <p:nvSpPr>
          <p:cNvPr id="8" name="Text Beranda memberi akses ke tugas.&#10;Tugas ">
            <a:extLst xmlns:a="http://schemas.openxmlformats.org/drawingml/2006/main">
              <a:ext uri="{FF2B5EF4-FFF2-40B4-BE49-F238E27FC236}">
                <a16:creationId xmlns:a16="http://schemas.microsoft.com/office/drawing/2014/main" id="{7B0A844A-976C-457E-9E91-37FBACC55FB0}"/>
              </a:ext>
            </a:extLst>
          </p:cNvPr>
          <p:cNvSpPr>
            <a:spLocks xmlns:a="http://schemas.openxmlformats.org/drawingml/2006/main" noGrp="1"/>
          </p:cNvSpPr>
          <p:nvPr/>
        </p:nvSpPr>
        <p:spPr>
          <a:xfrm xmlns:a="http://schemas.openxmlformats.org/drawingml/2006/main">
            <a:off x="762000" y="4333875"/>
            <a:ext cx="6191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D6C82"/>
                </a:solidFill>
                <a:latin typeface="Arial"/>
                <a:ea typeface="Arial"/>
                <a:cs typeface="Arial"/>
              </a:defRPr>
            </a:defPPr>
          </a:lstStyle>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Beranda memberi akses ke tugas.</a:t>
            </a:r>
          </a:p>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Tugas Saya, Tersedia, dan Riwayat</a:t>
            </a:r>
          </a:p>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membantu petugas menemukan pekerjaan.</a:t>
            </a:r>
          </a:p>
        </p:txBody>
      </p:sp>
      <p:sp>
        <p:nvSpPr>
          <p:cNvPr id="9" name="Text Notifikasi assignment melalui FCM ters">
            <a:extLst xmlns:a="http://schemas.openxmlformats.org/drawingml/2006/main">
              <a:ext uri="{FF2B5EF4-FFF2-40B4-BE49-F238E27FC236}">
                <a16:creationId xmlns:a16="http://schemas.microsoft.com/office/drawing/2014/main" id="{3935BEBE-27D1-49FF-A355-2D098D299892}"/>
              </a:ext>
            </a:extLst>
          </p:cNvPr>
          <p:cNvSpPr>
            <a:spLocks xmlns:a="http://schemas.openxmlformats.org/drawingml/2006/main" noGrp="1"/>
          </p:cNvSpPr>
          <p:nvPr/>
        </p:nvSpPr>
        <p:spPr>
          <a:xfrm xmlns:a="http://schemas.openxmlformats.org/drawingml/2006/main">
            <a:off x="762000" y="6143625"/>
            <a:ext cx="6191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965F12"/>
                </a:solidFill>
                <a:latin typeface="Arial"/>
                <a:ea typeface="Arial"/>
                <a:cs typeface="Arial"/>
              </a:defRPr>
            </a:defPPr>
          </a:lstStyle>
          <a:p xmlns:a="http://schemas.openxmlformats.org/drawingml/2006/main">
            <a:pPr algn="l">
              <a:defRPr sz="1950" b="0">
                <a:solidFill>
                  <a:srgbClr val="965F12"/>
                </a:solidFill>
                <a:latin typeface="Arial"/>
                <a:ea typeface="Arial"/>
                <a:cs typeface="Arial"/>
              </a:defRPr>
            </a:pPr>
            <a:r>
              <a:rPr sz="1950" b="0">
                <a:solidFill>
                  <a:srgbClr val="965F12"/>
                </a:solidFill>
                <a:latin typeface="Arial"/>
                <a:ea typeface="Arial"/>
                <a:cs typeface="Arial"/>
              </a:rPr>
              <a:t>Notifikasi assignment melalui FCM tersedia.</a:t>
            </a:r>
          </a:p>
          <a:p xmlns:a="http://schemas.openxmlformats.org/drawingml/2006/main">
            <a:pPr algn="l">
              <a:defRPr sz="1950" b="0">
                <a:solidFill>
                  <a:srgbClr val="965F12"/>
                </a:solidFill>
                <a:latin typeface="Arial"/>
                <a:ea typeface="Arial"/>
                <a:cs typeface="Arial"/>
              </a:defRPr>
            </a:pPr>
            <a:r>
              <a:rPr sz="1950" b="0">
                <a:solidFill>
                  <a:srgbClr val="965F12"/>
                </a:solidFill>
                <a:latin typeface="Arial"/>
                <a:ea typeface="Arial"/>
                <a:cs typeface="Arial"/>
              </a:rPr>
              <a:t>Pengiriman nyata pada APK terbaru</a:t>
            </a:r>
          </a:p>
          <a:p xmlns:a="http://schemas.openxmlformats.org/drawingml/2006/main">
            <a:pPr algn="l">
              <a:defRPr sz="1950" b="0">
                <a:solidFill>
                  <a:srgbClr val="965F12"/>
                </a:solidFill>
                <a:latin typeface="Arial"/>
                <a:ea typeface="Arial"/>
                <a:cs typeface="Arial"/>
              </a:defRPr>
            </a:pPr>
            <a:r>
              <a:rPr sz="1950" b="0">
                <a:solidFill>
                  <a:srgbClr val="965F12"/>
                </a:solidFill>
                <a:latin typeface="Arial"/>
                <a:ea typeface="Arial"/>
                <a:cs typeface="Arial"/>
              </a:rPr>
              <a:t>masih perlu UAT perangkat.</a:t>
            </a:r>
          </a:p>
        </p:txBody>
      </p:sp>
      <p:sp>
        <p:nvSpPr>
          <p:cNvPr id="10" name="Frame Android">
            <a:extLst xmlns:a="http://schemas.openxmlformats.org/drawingml/2006/main">
              <a:ext uri="{FF2B5EF4-FFF2-40B4-BE49-F238E27FC236}">
                <a16:creationId xmlns:a16="http://schemas.microsoft.com/office/drawing/2014/main" id="{90510583-FBF3-43A4-813A-22DEA050E2B9}"/>
              </a:ext>
            </a:extLst>
          </p:cNvPr>
          <p:cNvSpPr>
            <a:spLocks xmlns:a="http://schemas.openxmlformats.org/drawingml/2006/main" noGrp="1"/>
          </p:cNvSpPr>
          <p:nvPr/>
        </p:nvSpPr>
        <p:spPr>
          <a:xfrm xmlns:a="http://schemas.openxmlformats.org/drawingml/2006/main">
            <a:off x="8084548" y="2438400"/>
            <a:ext cx="2452278" cy="4838700"/>
          </a:xfrm>
          <a:prstGeom xmlns:a="http://schemas.openxmlformats.org/drawingml/2006/main" prst="roundRect">
            <a:avLst>
              <a:gd name="adj" fmla="val 8545"/>
            </a:avLst>
          </a:prstGeom>
          <a:solidFill xmlns:a="http://schemas.openxmlformats.org/drawingml/2006/main">
            <a:srgbClr val="15243B"/>
          </a:solidFill>
          <a:ln xmlns:a="http://schemas.openxmlformats.org/drawingml/2006/main" w="0">
            <a:noFill/>
          </a:ln>
        </p:spPr>
      </p:sp>
      <p:pic>
        <p:nvPicPr>
          <p:cNvPr id="11" name="">
            <a:extLst xmlns:a="http://schemas.openxmlformats.org/drawingml/2006/main">
              <a:ext uri="{FF2B5EF4-FFF2-40B4-BE49-F238E27FC236}">
                <a16:creationId xmlns:a16="http://schemas.microsoft.com/office/drawing/2014/main" id="{9B7E264B-5F7C-402D-B76D-59832221264C}"/>
              </a:ext>
            </a:extLst>
          </p:cNvPr>
          <p:cNvPicPr>
            <a:picLocks xmlns:a="http://schemas.openxmlformats.org/drawingml/2006/main" noChangeAspect="1"/>
          </p:cNvPicPr>
          <p:nvPr/>
        </p:nvPicPr>
        <p:blipFill>
          <a:blip xmlns:r="http://schemas.openxmlformats.org/officeDocument/2006/relationships" xmlns:a="http://schemas.openxmlformats.org/drawingml/2006/main" r:embed="Rda2e29fb6ca54ef0"/>
          <a:stretch xmlns:a="http://schemas.openxmlformats.org/drawingml/2006/main"/>
        </p:blipFill>
        <p:spPr>
          <a:xfrm xmlns:a="http://schemas.openxmlformats.org/drawingml/2006/main">
            <a:off x="8170273" y="2524125"/>
            <a:ext cx="2280828" cy="4667250"/>
          </a:xfrm>
          <a:prstGeom xmlns:a="http://schemas.openxmlformats.org/drawingml/2006/main" prst="rect">
            <a:avLst/>
          </a:prstGeom>
        </p:spPr>
      </p:pic>
      <p:sp>
        <p:nvSpPr>
          <p:cNvPr id="12" name="Frame Android">
            <a:extLst xmlns:a="http://schemas.openxmlformats.org/drawingml/2006/main">
              <a:ext uri="{FF2B5EF4-FFF2-40B4-BE49-F238E27FC236}">
                <a16:creationId xmlns:a16="http://schemas.microsoft.com/office/drawing/2014/main" id="{7258768D-375E-4B5C-9FF9-FAC7CB00876F}"/>
              </a:ext>
            </a:extLst>
          </p:cNvPr>
          <p:cNvSpPr>
            <a:spLocks xmlns:a="http://schemas.openxmlformats.org/drawingml/2006/main" noGrp="1"/>
          </p:cNvSpPr>
          <p:nvPr/>
        </p:nvSpPr>
        <p:spPr>
          <a:xfrm xmlns:a="http://schemas.openxmlformats.org/drawingml/2006/main">
            <a:off x="11513548" y="2438400"/>
            <a:ext cx="2452278" cy="4838700"/>
          </a:xfrm>
          <a:prstGeom xmlns:a="http://schemas.openxmlformats.org/drawingml/2006/main" prst="roundRect">
            <a:avLst>
              <a:gd name="adj" fmla="val 8545"/>
            </a:avLst>
          </a:prstGeom>
          <a:solidFill xmlns:a="http://schemas.openxmlformats.org/drawingml/2006/main">
            <a:srgbClr val="15243B"/>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61966504-CDC1-48CD-9968-3493352BFE50}"/>
              </a:ext>
            </a:extLst>
          </p:cNvPr>
          <p:cNvPicPr>
            <a:picLocks xmlns:a="http://schemas.openxmlformats.org/drawingml/2006/main" noChangeAspect="1"/>
          </p:cNvPicPr>
          <p:nvPr/>
        </p:nvPicPr>
        <p:blipFill>
          <a:blip xmlns:r="http://schemas.openxmlformats.org/officeDocument/2006/relationships" xmlns:a="http://schemas.openxmlformats.org/drawingml/2006/main" r:embed="Re6e9588ab1bc40e6"/>
          <a:stretch xmlns:a="http://schemas.openxmlformats.org/drawingml/2006/main"/>
        </p:blipFill>
        <p:spPr>
          <a:xfrm xmlns:a="http://schemas.openxmlformats.org/drawingml/2006/main">
            <a:off x="11599273" y="2524125"/>
            <a:ext cx="2280828" cy="4667250"/>
          </a:xfrm>
          <a:prstGeom xmlns:a="http://schemas.openxmlformats.org/drawingml/2006/main" prst="rect">
            <a:avLst/>
          </a:prstGeom>
        </p:spPr>
      </p:pic>
      <p:sp>
        <p:nvSpPr>
          <p:cNvPr id="14" name="Text Tangkapan APK pengujian; data sintetis">
            <a:extLst xmlns:a="http://schemas.openxmlformats.org/drawingml/2006/main">
              <a:ext uri="{FF2B5EF4-FFF2-40B4-BE49-F238E27FC236}">
                <a16:creationId xmlns:a16="http://schemas.microsoft.com/office/drawing/2014/main" id="{DD557E6A-9786-43E0-A524-EF109516DF1F}"/>
              </a:ext>
            </a:extLst>
          </p:cNvPr>
          <p:cNvSpPr>
            <a:spLocks xmlns:a="http://schemas.openxmlformats.org/drawingml/2006/main" noGrp="1"/>
          </p:cNvSpPr>
          <p:nvPr/>
        </p:nvSpPr>
        <p:spPr>
          <a:xfrm xmlns:a="http://schemas.openxmlformats.org/drawingml/2006/main">
            <a:off x="7524750" y="73342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Tangkapan APK pengujian; data sintetis. Menu “Segera Hadir” adalah rencana.</a:t>
            </a:r>
          </a:p>
        </p:txBody>
      </p:sp>
    </p:spTree>
    <p:extLst>
      <p:ext uri="{BB962C8B-B14F-4D97-AF65-F5344CB8AC3E}">
        <p14:creationId xmlns:p14="http://schemas.microsoft.com/office/powerpoint/2010/main" val="110092922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08">
            <a:extLst xmlns:a="http://schemas.openxmlformats.org/drawingml/2006/main">
              <a:ext uri="{FF2B5EF4-FFF2-40B4-BE49-F238E27FC236}">
                <a16:creationId xmlns:a16="http://schemas.microsoft.com/office/drawing/2014/main" id="{EA97485E-4471-490B-BD80-05A326CB3180}"/>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08</a:t>
            </a:r>
          </a:p>
        </p:txBody>
      </p:sp>
      <p:sp>
        <p:nvSpPr>
          <p:cNvPr id="2" name="Text Retail Operations Platform   /   Inter">
            <a:extLst xmlns:a="http://schemas.openxmlformats.org/drawingml/2006/main">
              <a:ext uri="{FF2B5EF4-FFF2-40B4-BE49-F238E27FC236}">
                <a16:creationId xmlns:a16="http://schemas.microsoft.com/office/drawing/2014/main" id="{CBBAD46A-445E-463D-8DC4-32356BED9F10}"/>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E7273E04-BD66-4732-8D19-C880DAE2A2BE}"/>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F843CDB3-76AF-4D41-9005-4344E84841FE}"/>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Eksekusi pickup dengan langkah terpand">
            <a:extLst xmlns:a="http://schemas.openxmlformats.org/drawingml/2006/main">
              <a:ext uri="{FF2B5EF4-FFF2-40B4-BE49-F238E27FC236}">
                <a16:creationId xmlns:a16="http://schemas.microsoft.com/office/drawing/2014/main" id="{E7551E45-7200-4C5D-B7FD-0FDA9E6E2277}"/>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Eksekusi pickup dengan langkah terpandu</a:t>
            </a:r>
          </a:p>
        </p:txBody>
      </p:sp>
      <p:sp>
        <p:nvSpPr>
          <p:cNvPr id="6" name="Text Petugas melihat tindakan yang relevan ">
            <a:extLst xmlns:a="http://schemas.openxmlformats.org/drawingml/2006/main">
              <a:ext uri="{FF2B5EF4-FFF2-40B4-BE49-F238E27FC236}">
                <a16:creationId xmlns:a16="http://schemas.microsoft.com/office/drawing/2014/main" id="{CDA52F5D-B644-4E97-A6F8-80564E0D9474}"/>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Petugas melihat tindakan yang relevan dengan status dan kepemilikan tugas</a:t>
            </a:r>
          </a:p>
        </p:txBody>
      </p:sp>
      <p:sp>
        <p:nvSpPr>
          <p:cNvPr id="7" name="Text 01">
            <a:extLst xmlns:a="http://schemas.openxmlformats.org/drawingml/2006/main">
              <a:ext uri="{FF2B5EF4-FFF2-40B4-BE49-F238E27FC236}">
                <a16:creationId xmlns:a16="http://schemas.microsoft.com/office/drawing/2014/main" id="{668CA948-0278-4914-AC8F-A6DD303C4B71}"/>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01</a:t>
            </a:r>
          </a:p>
        </p:txBody>
      </p:sp>
      <p:sp>
        <p:nvSpPr>
          <p:cNvPr id="8" name="Text Mulai kunjungan">
            <a:extLst xmlns:a="http://schemas.openxmlformats.org/drawingml/2006/main">
              <a:ext uri="{FF2B5EF4-FFF2-40B4-BE49-F238E27FC236}">
                <a16:creationId xmlns:a16="http://schemas.microsoft.com/office/drawing/2014/main" id="{EB800BF0-C7DE-44DC-B348-620F0B082324}"/>
              </a:ext>
            </a:extLst>
          </p:cNvPr>
          <p:cNvSpPr>
            <a:spLocks xmlns:a="http://schemas.openxmlformats.org/drawingml/2006/main" noGrp="1"/>
          </p:cNvSpPr>
          <p:nvPr/>
        </p:nvSpPr>
        <p:spPr>
          <a:xfrm xmlns:a="http://schemas.openxmlformats.org/drawingml/2006/main">
            <a:off x="1581150" y="2667000"/>
            <a:ext cx="756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Mulai kunjungan</a:t>
            </a:r>
          </a:p>
        </p:txBody>
      </p:sp>
      <p:sp>
        <p:nvSpPr>
          <p:cNvPr id="9" name="Text Buka detail pelanggan dan konfirmasika">
            <a:extLst xmlns:a="http://schemas.openxmlformats.org/drawingml/2006/main">
              <a:ext uri="{FF2B5EF4-FFF2-40B4-BE49-F238E27FC236}">
                <a16:creationId xmlns:a16="http://schemas.microsoft.com/office/drawing/2014/main" id="{5ED090F5-4CB1-47DB-982E-58CEB3A1E0FA}"/>
              </a:ext>
            </a:extLst>
          </p:cNvPr>
          <p:cNvSpPr>
            <a:spLocks xmlns:a="http://schemas.openxmlformats.org/drawingml/2006/main" noGrp="1"/>
          </p:cNvSpPr>
          <p:nvPr/>
        </p:nvSpPr>
        <p:spPr>
          <a:xfrm xmlns:a="http://schemas.openxmlformats.org/drawingml/2006/main">
            <a:off x="1581150" y="3162300"/>
            <a:ext cx="7477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Buka detail pelanggan dan konfirmasikan pekerjaan.</a:t>
            </a:r>
          </a:p>
        </p:txBody>
      </p:sp>
      <p:sp>
        <p:nvSpPr>
          <p:cNvPr id="10" name="Text 02">
            <a:extLst xmlns:a="http://schemas.openxmlformats.org/drawingml/2006/main">
              <a:ext uri="{FF2B5EF4-FFF2-40B4-BE49-F238E27FC236}">
                <a16:creationId xmlns:a16="http://schemas.microsoft.com/office/drawing/2014/main" id="{08B0E9AA-73BE-42D9-89EC-3159CD1FC251}"/>
              </a:ext>
            </a:extLst>
          </p:cNvPr>
          <p:cNvSpPr>
            <a:spLocks xmlns:a="http://schemas.openxmlformats.org/drawingml/2006/main" noGrp="1"/>
          </p:cNvSpPr>
          <p:nvPr/>
        </p:nvSpPr>
        <p:spPr>
          <a:xfrm xmlns:a="http://schemas.openxmlformats.org/drawingml/2006/main">
            <a:off x="762000" y="4048125"/>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02</a:t>
            </a:r>
          </a:p>
        </p:txBody>
      </p:sp>
      <p:sp>
        <p:nvSpPr>
          <p:cNvPr id="11" name="Text Catat hasil kunjungan">
            <a:extLst xmlns:a="http://schemas.openxmlformats.org/drawingml/2006/main">
              <a:ext uri="{FF2B5EF4-FFF2-40B4-BE49-F238E27FC236}">
                <a16:creationId xmlns:a16="http://schemas.microsoft.com/office/drawing/2014/main" id="{F9E163BB-ED60-41D4-AF5C-0617B17F5602}"/>
              </a:ext>
            </a:extLst>
          </p:cNvPr>
          <p:cNvSpPr>
            <a:spLocks xmlns:a="http://schemas.openxmlformats.org/drawingml/2006/main" noGrp="1"/>
          </p:cNvSpPr>
          <p:nvPr/>
        </p:nvSpPr>
        <p:spPr>
          <a:xfrm xmlns:a="http://schemas.openxmlformats.org/drawingml/2006/main">
            <a:off x="1581150" y="4048125"/>
            <a:ext cx="756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Catat hasil kunjungan</a:t>
            </a:r>
          </a:p>
        </p:txBody>
      </p:sp>
      <p:sp>
        <p:nvSpPr>
          <p:cNvPr id="12" name="Text Paket diterima: lanjutkan ke Proof of ">
            <a:extLst xmlns:a="http://schemas.openxmlformats.org/drawingml/2006/main">
              <a:ext uri="{FF2B5EF4-FFF2-40B4-BE49-F238E27FC236}">
                <a16:creationId xmlns:a16="http://schemas.microsoft.com/office/drawing/2014/main" id="{16290C9F-A49A-41D2-88C2-AD2C57F370F1}"/>
              </a:ext>
            </a:extLst>
          </p:cNvPr>
          <p:cNvSpPr>
            <a:spLocks xmlns:a="http://schemas.openxmlformats.org/drawingml/2006/main" noGrp="1"/>
          </p:cNvSpPr>
          <p:nvPr/>
        </p:nvSpPr>
        <p:spPr>
          <a:xfrm xmlns:a="http://schemas.openxmlformats.org/drawingml/2006/main">
            <a:off x="1581150" y="4543425"/>
            <a:ext cx="7477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Paket diterima: lanjutkan ke Proof of Pickup.</a:t>
            </a:r>
          </a:p>
        </p:txBody>
      </p:sp>
      <p:sp>
        <p:nvSpPr>
          <p:cNvPr id="13" name="Text 03">
            <a:extLst xmlns:a="http://schemas.openxmlformats.org/drawingml/2006/main">
              <a:ext uri="{FF2B5EF4-FFF2-40B4-BE49-F238E27FC236}">
                <a16:creationId xmlns:a16="http://schemas.microsoft.com/office/drawing/2014/main" id="{2989D488-9BC9-4051-AC71-E8FA12445C5D}"/>
              </a:ext>
            </a:extLst>
          </p:cNvPr>
          <p:cNvSpPr>
            <a:spLocks xmlns:a="http://schemas.openxmlformats.org/drawingml/2006/main" noGrp="1"/>
          </p:cNvSpPr>
          <p:nvPr/>
        </p:nvSpPr>
        <p:spPr>
          <a:xfrm xmlns:a="http://schemas.openxmlformats.org/drawingml/2006/main">
            <a:off x="762000" y="54292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965F12"/>
                </a:solidFill>
                <a:latin typeface="Arial"/>
                <a:ea typeface="Arial"/>
                <a:cs typeface="Arial"/>
              </a:defRPr>
            </a:defPPr>
          </a:lstStyle>
          <a:p xmlns:a="http://schemas.openxmlformats.org/drawingml/2006/main">
            <a:pPr algn="l">
              <a:defRPr sz="2400" b="1">
                <a:solidFill>
                  <a:srgbClr val="965F12"/>
                </a:solidFill>
                <a:latin typeface="Arial"/>
                <a:ea typeface="Arial"/>
                <a:cs typeface="Arial"/>
              </a:defRPr>
            </a:pPr>
            <a:r>
              <a:rPr sz="2400" b="1">
                <a:solidFill>
                  <a:srgbClr val="965F12"/>
                </a:solidFill>
                <a:latin typeface="Arial"/>
                <a:ea typeface="Arial"/>
                <a:cs typeface="Arial"/>
              </a:rPr>
              <a:t>03</a:t>
            </a:r>
          </a:p>
        </p:txBody>
      </p:sp>
      <p:sp>
        <p:nvSpPr>
          <p:cNvPr id="14" name="Text Tanpa paket">
            <a:extLst xmlns:a="http://schemas.openxmlformats.org/drawingml/2006/main">
              <a:ext uri="{FF2B5EF4-FFF2-40B4-BE49-F238E27FC236}">
                <a16:creationId xmlns:a16="http://schemas.microsoft.com/office/drawing/2014/main" id="{092B6985-D474-4FC7-AED8-948D76B585F4}"/>
              </a:ext>
            </a:extLst>
          </p:cNvPr>
          <p:cNvSpPr>
            <a:spLocks xmlns:a="http://schemas.openxmlformats.org/drawingml/2006/main" noGrp="1"/>
          </p:cNvSpPr>
          <p:nvPr/>
        </p:nvSpPr>
        <p:spPr>
          <a:xfrm xmlns:a="http://schemas.openxmlformats.org/drawingml/2006/main">
            <a:off x="1581150" y="5429250"/>
            <a:ext cx="7562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Tanpa paket</a:t>
            </a:r>
          </a:p>
        </p:txBody>
      </p:sp>
      <p:sp>
        <p:nvSpPr>
          <p:cNvPr id="15" name="Text Alasan wajib. Tugas selesai tanpa POP ">
            <a:extLst xmlns:a="http://schemas.openxmlformats.org/drawingml/2006/main">
              <a:ext uri="{FF2B5EF4-FFF2-40B4-BE49-F238E27FC236}">
                <a16:creationId xmlns:a16="http://schemas.microsoft.com/office/drawing/2014/main" id="{5A569E49-55E3-441C-8B2A-805A8969F914}"/>
              </a:ext>
            </a:extLst>
          </p:cNvPr>
          <p:cNvSpPr>
            <a:spLocks xmlns:a="http://schemas.openxmlformats.org/drawingml/2006/main" noGrp="1"/>
          </p:cNvSpPr>
          <p:nvPr/>
        </p:nvSpPr>
        <p:spPr>
          <a:xfrm xmlns:a="http://schemas.openxmlformats.org/drawingml/2006/main">
            <a:off x="1581150" y="5924550"/>
            <a:ext cx="7477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Alasan wajib. Tugas selesai tanpa POP dan keluar dari daftar aktif.</a:t>
            </a:r>
          </a:p>
        </p:txBody>
      </p:sp>
      <p:sp>
        <p:nvSpPr>
          <p:cNvPr id="16" name="Frame Android">
            <a:extLst xmlns:a="http://schemas.openxmlformats.org/drawingml/2006/main">
              <a:ext uri="{FF2B5EF4-FFF2-40B4-BE49-F238E27FC236}">
                <a16:creationId xmlns:a16="http://schemas.microsoft.com/office/drawing/2014/main" id="{AEF27B07-7DCA-4CA1-A1C1-C1B7C2E5EA1C}"/>
              </a:ext>
            </a:extLst>
          </p:cNvPr>
          <p:cNvSpPr>
            <a:spLocks xmlns:a="http://schemas.openxmlformats.org/drawingml/2006/main" noGrp="1"/>
          </p:cNvSpPr>
          <p:nvPr/>
        </p:nvSpPr>
        <p:spPr>
          <a:xfrm xmlns:a="http://schemas.openxmlformats.org/drawingml/2006/main">
            <a:off x="10691748" y="2390775"/>
            <a:ext cx="2429004" cy="4791075"/>
          </a:xfrm>
          <a:prstGeom xmlns:a="http://schemas.openxmlformats.org/drawingml/2006/main" prst="roundRect">
            <a:avLst>
              <a:gd name="adj" fmla="val 8627"/>
            </a:avLst>
          </a:prstGeom>
          <a:solidFill xmlns:a="http://schemas.openxmlformats.org/drawingml/2006/main">
            <a:srgbClr val="15243B"/>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6976C4D4-F94A-4076-94D6-3BC802016A27}"/>
              </a:ext>
            </a:extLst>
          </p:cNvPr>
          <p:cNvPicPr>
            <a:picLocks xmlns:a="http://schemas.openxmlformats.org/drawingml/2006/main" noChangeAspect="1"/>
          </p:cNvPicPr>
          <p:nvPr/>
        </p:nvPicPr>
        <p:blipFill>
          <a:blip xmlns:r="http://schemas.openxmlformats.org/officeDocument/2006/relationships" xmlns:a="http://schemas.openxmlformats.org/drawingml/2006/main" r:embed="R330e6da6806746be"/>
          <a:stretch xmlns:a="http://schemas.openxmlformats.org/drawingml/2006/main"/>
        </p:blipFill>
        <p:spPr>
          <a:xfrm xmlns:a="http://schemas.openxmlformats.org/drawingml/2006/main">
            <a:off x="10777473" y="2476500"/>
            <a:ext cx="2257554" cy="4619625"/>
          </a:xfrm>
          <a:prstGeom xmlns:a="http://schemas.openxmlformats.org/drawingml/2006/main" prst="rect">
            <a:avLst/>
          </a:prstGeom>
        </p:spPr>
      </p:pic>
      <p:sp>
        <p:nvSpPr>
          <p:cNvPr id="18" name="Text Tangkapan aktual emulator; data sintet">
            <a:extLst xmlns:a="http://schemas.openxmlformats.org/drawingml/2006/main">
              <a:ext uri="{FF2B5EF4-FFF2-40B4-BE49-F238E27FC236}">
                <a16:creationId xmlns:a16="http://schemas.microsoft.com/office/drawing/2014/main" id="{62637E21-3CB0-49BD-9326-D5A43ACB7349}"/>
              </a:ext>
            </a:extLst>
          </p:cNvPr>
          <p:cNvSpPr>
            <a:spLocks xmlns:a="http://schemas.openxmlformats.org/drawingml/2006/main" noGrp="1"/>
          </p:cNvSpPr>
          <p:nvPr/>
        </p:nvSpPr>
        <p:spPr>
          <a:xfrm xmlns:a="http://schemas.openxmlformats.org/drawingml/2006/main">
            <a:off x="9525000" y="731520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Tangkapan aktual emulator; data sintetis</a:t>
            </a:r>
          </a:p>
        </p:txBody>
      </p:sp>
    </p:spTree>
    <p:extLst>
      <p:ext uri="{BB962C8B-B14F-4D97-AF65-F5344CB8AC3E}">
        <p14:creationId xmlns:p14="http://schemas.microsoft.com/office/powerpoint/2010/main" val="120464855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 09">
            <a:extLst xmlns:a="http://schemas.openxmlformats.org/drawingml/2006/main">
              <a:ext uri="{FF2B5EF4-FFF2-40B4-BE49-F238E27FC236}">
                <a16:creationId xmlns:a16="http://schemas.microsoft.com/office/drawing/2014/main" id="{B5FED004-EA36-43BB-807D-8CDE0B5565C1}"/>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09</a:t>
            </a:r>
          </a:p>
        </p:txBody>
      </p:sp>
      <p:sp>
        <p:nvSpPr>
          <p:cNvPr id="2" name="Text Retail Operations Platform   /   Inter">
            <a:extLst xmlns:a="http://schemas.openxmlformats.org/drawingml/2006/main">
              <a:ext uri="{FF2B5EF4-FFF2-40B4-BE49-F238E27FC236}">
                <a16:creationId xmlns:a16="http://schemas.microsoft.com/office/drawing/2014/main" id="{7C573A45-9A59-403B-ADA8-8DA9E88EBE8A}"/>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4EFF63D5-3139-43B7-AAA6-9E9A9EBB7D9D}"/>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4EF06978-8418-4875-B624-191CA9F774FB}"/>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Proof of Pickup: jumlah dan bukti penj">
            <a:extLst xmlns:a="http://schemas.openxmlformats.org/drawingml/2006/main">
              <a:ext uri="{FF2B5EF4-FFF2-40B4-BE49-F238E27FC236}">
                <a16:creationId xmlns:a16="http://schemas.microsoft.com/office/drawing/2014/main" id="{4C5F43E3-F520-4F8F-9CB1-463F0D40CE5A}"/>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Proof of Pickup: jumlah dan bukti penjemputan</a:t>
            </a:r>
          </a:p>
        </p:txBody>
      </p:sp>
      <p:sp>
        <p:nvSpPr>
          <p:cNvPr id="6" name="Text Finalisasi menyimpan hasil pickup yang">
            <a:extLst xmlns:a="http://schemas.openxmlformats.org/drawingml/2006/main">
              <a:ext uri="{FF2B5EF4-FFF2-40B4-BE49-F238E27FC236}">
                <a16:creationId xmlns:a16="http://schemas.microsoft.com/office/drawing/2014/main" id="{DF66CBD8-6558-4C96-941C-2B7D4282EC07}"/>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Finalisasi menyimpan hasil pickup yang dapat ditelusuri</a:t>
            </a:r>
          </a:p>
        </p:txBody>
      </p:sp>
      <p:sp>
        <p:nvSpPr>
          <p:cNvPr id="7" name="Text Tiga kategori jumlah">
            <a:extLst xmlns:a="http://schemas.openxmlformats.org/drawingml/2006/main">
              <a:ext uri="{FF2B5EF4-FFF2-40B4-BE49-F238E27FC236}">
                <a16:creationId xmlns:a16="http://schemas.microsoft.com/office/drawing/2014/main" id="{E408F384-1BB5-49D7-9522-3816185B9165}"/>
              </a:ext>
            </a:extLst>
          </p:cNvPr>
          <p:cNvSpPr>
            <a:spLocks xmlns:a="http://schemas.openxmlformats.org/drawingml/2006/main" noGrp="1"/>
          </p:cNvSpPr>
          <p:nvPr/>
        </p:nvSpPr>
        <p:spPr>
          <a:xfrm xmlns:a="http://schemas.openxmlformats.org/drawingml/2006/main">
            <a:off x="762000" y="26670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43B"/>
                </a:solidFill>
                <a:latin typeface="Arial"/>
                <a:ea typeface="Arial"/>
                <a:cs typeface="Arial"/>
              </a:defRPr>
            </a:defPPr>
          </a:lstStyle>
          <a:p xmlns:a="http://schemas.openxmlformats.org/drawingml/2006/main">
            <a:pPr algn="l">
              <a:defRPr sz="2550" b="1">
                <a:solidFill>
                  <a:srgbClr val="15243B"/>
                </a:solidFill>
                <a:latin typeface="Arial"/>
                <a:ea typeface="Arial"/>
                <a:cs typeface="Arial"/>
              </a:defRPr>
            </a:pPr>
            <a:r>
              <a:rPr sz="2550" b="1">
                <a:solidFill>
                  <a:srgbClr val="15243B"/>
                </a:solidFill>
                <a:latin typeface="Arial"/>
                <a:ea typeface="Arial"/>
                <a:cs typeface="Arial"/>
              </a:rPr>
              <a:t>Tiga kategori jumlah</a:t>
            </a:r>
          </a:p>
        </p:txBody>
      </p:sp>
      <p:sp>
        <p:nvSpPr>
          <p:cNvPr id="8" name="Text Manual Hybrid Non-Cashless&#10;Cashless Hy">
            <a:extLst xmlns:a="http://schemas.openxmlformats.org/drawingml/2006/main">
              <a:ext uri="{FF2B5EF4-FFF2-40B4-BE49-F238E27FC236}">
                <a16:creationId xmlns:a16="http://schemas.microsoft.com/office/drawing/2014/main" id="{933D396C-E881-4CD0-9420-4EC4F8071CAF}"/>
              </a:ext>
            </a:extLst>
          </p:cNvPr>
          <p:cNvSpPr>
            <a:spLocks xmlns:a="http://schemas.openxmlformats.org/drawingml/2006/main" noGrp="1"/>
          </p:cNvSpPr>
          <p:nvPr/>
        </p:nvSpPr>
        <p:spPr>
          <a:xfrm xmlns:a="http://schemas.openxmlformats.org/drawingml/2006/main">
            <a:off x="762000" y="3286125"/>
            <a:ext cx="6477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D6C82"/>
                </a:solidFill>
                <a:latin typeface="Arial"/>
                <a:ea typeface="Arial"/>
                <a:cs typeface="Arial"/>
              </a:defRPr>
            </a:defPPr>
          </a:lstStyle>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Manual Hybrid Non-Cashless</a:t>
            </a:r>
          </a:p>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Cashless Hybrid</a:t>
            </a:r>
          </a:p>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CSS / Orion</a:t>
            </a:r>
          </a:p>
        </p:txBody>
      </p:sp>
      <p:sp>
        <p:nvSpPr>
          <p:cNvPr id="9" name="Text Tanda tangan wajib&#10;Foto opsional, maks">
            <a:extLst xmlns:a="http://schemas.openxmlformats.org/drawingml/2006/main">
              <a:ext uri="{FF2B5EF4-FFF2-40B4-BE49-F238E27FC236}">
                <a16:creationId xmlns:a16="http://schemas.microsoft.com/office/drawing/2014/main" id="{7204EC14-3996-40FF-97ED-F0F097A46415}"/>
              </a:ext>
            </a:extLst>
          </p:cNvPr>
          <p:cNvSpPr>
            <a:spLocks xmlns:a="http://schemas.openxmlformats.org/drawingml/2006/main" noGrp="1"/>
          </p:cNvSpPr>
          <p:nvPr/>
        </p:nvSpPr>
        <p:spPr>
          <a:xfrm xmlns:a="http://schemas.openxmlformats.org/drawingml/2006/main">
            <a:off x="762000" y="5095875"/>
            <a:ext cx="6572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Tanda tangan wajib</a:t>
            </a:r>
          </a:p>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Foto opsional, maksimal empat</a:t>
            </a:r>
          </a:p>
        </p:txBody>
      </p:sp>
      <p:sp>
        <p:nvSpPr>
          <p:cNvPr id="10" name="Text Petugas meninjau ringkasan sebelum fin">
            <a:extLst xmlns:a="http://schemas.openxmlformats.org/drawingml/2006/main">
              <a:ext uri="{FF2B5EF4-FFF2-40B4-BE49-F238E27FC236}">
                <a16:creationId xmlns:a16="http://schemas.microsoft.com/office/drawing/2014/main" id="{D25741A3-C11F-4D7C-8234-C91FE070009F}"/>
              </a:ext>
            </a:extLst>
          </p:cNvPr>
          <p:cNvSpPr>
            <a:spLocks xmlns:a="http://schemas.openxmlformats.org/drawingml/2006/main" noGrp="1"/>
          </p:cNvSpPr>
          <p:nvPr/>
        </p:nvSpPr>
        <p:spPr>
          <a:xfrm xmlns:a="http://schemas.openxmlformats.org/drawingml/2006/main">
            <a:off x="762000" y="6477000"/>
            <a:ext cx="657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82"/>
                </a:solidFill>
                <a:latin typeface="Arial"/>
                <a:ea typeface="Arial"/>
                <a:cs typeface="Arial"/>
              </a:defRPr>
            </a:defPPr>
          </a:lstStyle>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Petugas meninjau ringkasan sebelum finalisasi.</a:t>
            </a:r>
          </a:p>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Draft lokal memerlukan internet untuk dikirim.</a:t>
            </a:r>
          </a:p>
        </p:txBody>
      </p:sp>
      <p:sp>
        <p:nvSpPr>
          <p:cNvPr id="11" name="Frame Android">
            <a:extLst xmlns:a="http://schemas.openxmlformats.org/drawingml/2006/main">
              <a:ext uri="{FF2B5EF4-FFF2-40B4-BE49-F238E27FC236}">
                <a16:creationId xmlns:a16="http://schemas.microsoft.com/office/drawing/2014/main" id="{307C2743-A73A-43AA-802E-7E3EB5D9AFAB}"/>
              </a:ext>
            </a:extLst>
          </p:cNvPr>
          <p:cNvSpPr>
            <a:spLocks xmlns:a="http://schemas.openxmlformats.org/drawingml/2006/main" noGrp="1"/>
          </p:cNvSpPr>
          <p:nvPr/>
        </p:nvSpPr>
        <p:spPr>
          <a:xfrm xmlns:a="http://schemas.openxmlformats.org/drawingml/2006/main">
            <a:off x="8226885" y="2486025"/>
            <a:ext cx="2405731" cy="4743450"/>
          </a:xfrm>
          <a:prstGeom xmlns:a="http://schemas.openxmlformats.org/drawingml/2006/main" prst="roundRect">
            <a:avLst>
              <a:gd name="adj" fmla="val 8710"/>
            </a:avLst>
          </a:prstGeom>
          <a:solidFill xmlns:a="http://schemas.openxmlformats.org/drawingml/2006/main">
            <a:srgbClr val="15243B"/>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B33E84AF-BCE8-4819-A07B-5FA4BC390532}"/>
              </a:ext>
            </a:extLst>
          </p:cNvPr>
          <p:cNvPicPr>
            <a:picLocks xmlns:a="http://schemas.openxmlformats.org/drawingml/2006/main" noChangeAspect="1"/>
          </p:cNvPicPr>
          <p:nvPr/>
        </p:nvPicPr>
        <p:blipFill>
          <a:blip xmlns:r="http://schemas.openxmlformats.org/officeDocument/2006/relationships" xmlns:a="http://schemas.openxmlformats.org/drawingml/2006/main" r:embed="R5384e969ff6a46af"/>
          <a:stretch xmlns:a="http://schemas.openxmlformats.org/drawingml/2006/main"/>
        </p:blipFill>
        <p:spPr>
          <a:xfrm xmlns:a="http://schemas.openxmlformats.org/drawingml/2006/main">
            <a:off x="8312610" y="2571750"/>
            <a:ext cx="2234281" cy="4572000"/>
          </a:xfrm>
          <a:prstGeom xmlns:a="http://schemas.openxmlformats.org/drawingml/2006/main" prst="rect">
            <a:avLst/>
          </a:prstGeom>
        </p:spPr>
      </p:pic>
      <p:sp>
        <p:nvSpPr>
          <p:cNvPr id="13" name="Frame Android">
            <a:extLst xmlns:a="http://schemas.openxmlformats.org/drawingml/2006/main">
              <a:ext uri="{FF2B5EF4-FFF2-40B4-BE49-F238E27FC236}">
                <a16:creationId xmlns:a16="http://schemas.microsoft.com/office/drawing/2014/main" id="{2B77A570-896D-4A63-9A6F-F47437BD4482}"/>
              </a:ext>
            </a:extLst>
          </p:cNvPr>
          <p:cNvSpPr>
            <a:spLocks xmlns:a="http://schemas.openxmlformats.org/drawingml/2006/main" noGrp="1"/>
          </p:cNvSpPr>
          <p:nvPr/>
        </p:nvSpPr>
        <p:spPr>
          <a:xfrm xmlns:a="http://schemas.openxmlformats.org/drawingml/2006/main">
            <a:off x="11560635" y="2486025"/>
            <a:ext cx="2405731" cy="4743450"/>
          </a:xfrm>
          <a:prstGeom xmlns:a="http://schemas.openxmlformats.org/drawingml/2006/main" prst="roundRect">
            <a:avLst>
              <a:gd name="adj" fmla="val 8710"/>
            </a:avLst>
          </a:prstGeom>
          <a:solidFill xmlns:a="http://schemas.openxmlformats.org/drawingml/2006/main">
            <a:srgbClr val="15243B"/>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F39628A7-C467-44A1-B353-A949976F2B04}"/>
              </a:ext>
            </a:extLst>
          </p:cNvPr>
          <p:cNvPicPr>
            <a:picLocks xmlns:a="http://schemas.openxmlformats.org/drawingml/2006/main" noChangeAspect="1"/>
          </p:cNvPicPr>
          <p:nvPr/>
        </p:nvPicPr>
        <p:blipFill>
          <a:blip xmlns:r="http://schemas.openxmlformats.org/officeDocument/2006/relationships" xmlns:a="http://schemas.openxmlformats.org/drawingml/2006/main" r:embed="R2b07c5d411744d92"/>
          <a:stretch xmlns:a="http://schemas.openxmlformats.org/drawingml/2006/main"/>
        </p:blipFill>
        <p:spPr>
          <a:xfrm xmlns:a="http://schemas.openxmlformats.org/drawingml/2006/main">
            <a:off x="11646360" y="2571750"/>
            <a:ext cx="2234281" cy="4572000"/>
          </a:xfrm>
          <a:prstGeom xmlns:a="http://schemas.openxmlformats.org/drawingml/2006/main" prst="rect">
            <a:avLst/>
          </a:prstGeom>
        </p:spPr>
      </p:pic>
      <p:sp>
        <p:nvSpPr>
          <p:cNvPr id="15" name="Text Tangkapan aktual emulator; seluruh jum">
            <a:extLst xmlns:a="http://schemas.openxmlformats.org/drawingml/2006/main">
              <a:ext uri="{FF2B5EF4-FFF2-40B4-BE49-F238E27FC236}">
                <a16:creationId xmlns:a16="http://schemas.microsoft.com/office/drawing/2014/main" id="{0A94CE8F-66CD-4785-8947-2B08D8D7F542}"/>
              </a:ext>
            </a:extLst>
          </p:cNvPr>
          <p:cNvSpPr>
            <a:spLocks xmlns:a="http://schemas.openxmlformats.org/drawingml/2006/main" noGrp="1"/>
          </p:cNvSpPr>
          <p:nvPr/>
        </p:nvSpPr>
        <p:spPr>
          <a:xfrm xmlns:a="http://schemas.openxmlformats.org/drawingml/2006/main">
            <a:off x="7620000" y="7334250"/>
            <a:ext cx="714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Tangkapan aktual emulator; seluruh jumlah merupakan data uji</a:t>
            </a:r>
          </a:p>
        </p:txBody>
      </p:sp>
    </p:spTree>
    <p:extLst>
      <p:ext uri="{BB962C8B-B14F-4D97-AF65-F5344CB8AC3E}">
        <p14:creationId xmlns:p14="http://schemas.microsoft.com/office/powerpoint/2010/main" val="251612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8FBEF26A-EC33-478A-A793-376811FA1CAF}"/>
              </a:ext>
            </a:extLst>
          </p:cNvPr>
          <p:cNvCxnSpPr>
            <a:stCxn xmlns:a="http://schemas.openxmlformats.org/drawingml/2006/main" id="8" idx="2"/>
            <a:endCxn xmlns:a="http://schemas.openxmlformats.org/drawingml/2006/main" id="9" idx="0"/>
          </p:cNvCxnSpPr>
          <p:nvPr/>
        </p:nvCxnSpPr>
        <p:spPr>
          <a:xfrm xmlns:a="http://schemas.openxmlformats.org/drawingml/2006/main">
            <a:off x="3905250" y="4953000"/>
            <a:ext cx="0" cy="66675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6E7414D5-2388-46CE-950D-452E5618C4DF}"/>
              </a:ext>
            </a:extLst>
          </p:cNvPr>
          <p:cNvCxnSpPr>
            <a:stCxn xmlns:a="http://schemas.openxmlformats.org/drawingml/2006/main" id="7" idx="2"/>
            <a:endCxn xmlns:a="http://schemas.openxmlformats.org/drawingml/2006/main" id="8" idx="0"/>
          </p:cNvCxnSpPr>
          <p:nvPr/>
        </p:nvCxnSpPr>
        <p:spPr>
          <a:xfrm xmlns:a="http://schemas.openxmlformats.org/drawingml/2006/main">
            <a:off x="3905250" y="3476625"/>
            <a:ext cx="0" cy="66675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sp>
        <p:nvSpPr>
          <p:cNvPr id="18" name="Text 10">
            <a:extLst xmlns:a="http://schemas.openxmlformats.org/drawingml/2006/main">
              <a:ext uri="{FF2B5EF4-FFF2-40B4-BE49-F238E27FC236}">
                <a16:creationId xmlns:a16="http://schemas.microsoft.com/office/drawing/2014/main" id="{CBE92729-1551-4E7B-B6B5-9A36E567ECC8}"/>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10</a:t>
            </a:r>
          </a:p>
        </p:txBody>
      </p:sp>
      <p:sp>
        <p:nvSpPr>
          <p:cNvPr id="2" name="Text Retail Operations Platform   /   Inter">
            <a:extLst xmlns:a="http://schemas.openxmlformats.org/drawingml/2006/main">
              <a:ext uri="{FF2B5EF4-FFF2-40B4-BE49-F238E27FC236}">
                <a16:creationId xmlns:a16="http://schemas.microsoft.com/office/drawing/2014/main" id="{CE642826-069E-4199-A33B-AB0FD58ED55C}"/>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9F235C20-61AF-4CAB-A9B8-9ED0AEC80136}"/>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DEBDC1E6-844F-4AA4-ACBA-8C212031F349}"/>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Handover menghubungkan lapangan dan re">
            <a:extLst xmlns:a="http://schemas.openxmlformats.org/drawingml/2006/main">
              <a:ext uri="{FF2B5EF4-FFF2-40B4-BE49-F238E27FC236}">
                <a16:creationId xmlns:a16="http://schemas.microsoft.com/office/drawing/2014/main" id="{01450016-D95E-47FC-A751-37792EB8F540}"/>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Handover menghubungkan lapangan dan retail</a:t>
            </a:r>
          </a:p>
        </p:txBody>
      </p:sp>
      <p:sp>
        <p:nvSpPr>
          <p:cNvPr id="6" name="Text Jumlah pickup menjadi acuan pemeriksaa">
            <a:extLst xmlns:a="http://schemas.openxmlformats.org/drawingml/2006/main">
              <a:ext uri="{FF2B5EF4-FFF2-40B4-BE49-F238E27FC236}">
                <a16:creationId xmlns:a16="http://schemas.microsoft.com/office/drawing/2014/main" id="{B53C86A8-DCFB-4E5C-B362-9CA3142FF721}"/>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Jumlah pickup menjadi acuan pemeriksaan paket yang benar-benar diterima</a:t>
            </a:r>
          </a:p>
        </p:txBody>
      </p:sp>
      <p:sp>
        <p:nvSpPr>
          <p:cNvPr id="7" name="Diagram Sesi DRAFT&#10;pilih pickup eligible">
            <a:extLst xmlns:a="http://schemas.openxmlformats.org/drawingml/2006/main">
              <a:ext uri="{FF2B5EF4-FFF2-40B4-BE49-F238E27FC236}">
                <a16:creationId xmlns:a16="http://schemas.microsoft.com/office/drawing/2014/main" id="{15D10BF8-498E-4E38-B15E-568F4F5FFEA8}"/>
              </a:ext>
            </a:extLst>
          </p:cNvPr>
          <p:cNvSpPr>
            <a:spLocks xmlns:a="http://schemas.openxmlformats.org/drawingml/2006/main" noGrp="1"/>
          </p:cNvSpPr>
          <p:nvPr/>
        </p:nvSpPr>
        <p:spPr>
          <a:xfrm xmlns:a="http://schemas.openxmlformats.org/drawingml/2006/main">
            <a:off x="762000" y="2667000"/>
            <a:ext cx="628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Sesi DRAFT</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pilih pickup eligible</a:t>
            </a:r>
          </a:p>
        </p:txBody>
      </p:sp>
      <p:sp>
        <p:nvSpPr>
          <p:cNvPr id="8" name="Diagram Verifikasi tiga kategori&#10;catat selisih bila ada">
            <a:extLst xmlns:a="http://schemas.openxmlformats.org/drawingml/2006/main">
              <a:ext uri="{FF2B5EF4-FFF2-40B4-BE49-F238E27FC236}">
                <a16:creationId xmlns:a16="http://schemas.microsoft.com/office/drawing/2014/main" id="{E61E0BA6-57FF-46D3-87EB-6D7FD5EA0A23}"/>
              </a:ext>
            </a:extLst>
          </p:cNvPr>
          <p:cNvSpPr>
            <a:spLocks xmlns:a="http://schemas.openxmlformats.org/drawingml/2006/main" noGrp="1"/>
          </p:cNvSpPr>
          <p:nvPr/>
        </p:nvSpPr>
        <p:spPr>
          <a:xfrm xmlns:a="http://schemas.openxmlformats.org/drawingml/2006/main">
            <a:off x="762000" y="4143375"/>
            <a:ext cx="628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Verifikasi tiga kategori</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catat selisih bila ada</a:t>
            </a:r>
          </a:p>
        </p:txBody>
      </p:sp>
      <p:sp>
        <p:nvSpPr>
          <p:cNvPr id="9" name="Diagram Sesi CLOSED&#10;setelah semua item diperiksa">
            <a:extLst xmlns:a="http://schemas.openxmlformats.org/drawingml/2006/main">
              <a:ext uri="{FF2B5EF4-FFF2-40B4-BE49-F238E27FC236}">
                <a16:creationId xmlns:a16="http://schemas.microsoft.com/office/drawing/2014/main" id="{5A708FE4-FEAA-4F0C-B6D1-4893A4378259}"/>
              </a:ext>
            </a:extLst>
          </p:cNvPr>
          <p:cNvSpPr>
            <a:spLocks xmlns:a="http://schemas.openxmlformats.org/drawingml/2006/main" noGrp="1"/>
          </p:cNvSpPr>
          <p:nvPr/>
        </p:nvSpPr>
        <p:spPr>
          <a:xfrm xmlns:a="http://schemas.openxmlformats.org/drawingml/2006/main">
            <a:off x="762000" y="5619750"/>
            <a:ext cx="6286500" cy="809625"/>
          </a:xfrm>
          <a:prstGeom xmlns:a="http://schemas.openxmlformats.org/drawingml/2006/main" prst="roundRect">
            <a:avLst>
              <a:gd name="adj" fmla="val 9412"/>
            </a:avLst>
          </a:prstGeom>
          <a:solidFill xmlns:a="http://schemas.openxmlformats.org/drawingml/2006/main">
            <a:srgbClr val="17336F"/>
          </a:solidFill>
          <a:ln xmlns:a="http://schemas.openxmlformats.org/drawingml/2006/main" w="0">
            <a:noFill/>
          </a:ln>
        </p:spPr>
        <p:txBody>
          <a:bodyPr xmlns:a="http://schemas.openxmlformats.org/drawingml/2006/main" lIns="152400" tIns="152400" rIns="152400" bIns="152400" anchor="ctr">
            <a:noAutofit/>
          </a:bodyPr>
          <a:lstStyle xmlns:a="http://schemas.openxmlformats.org/drawingml/2006/main">
            <a:defPPr algn="ctr">
              <a:defRPr sz="2025" b="1">
                <a:solidFill>
                  <a:srgbClr val="FFFFFF"/>
                </a:solidFill>
                <a:latin typeface="Arial"/>
                <a:ea typeface="Arial"/>
                <a:cs typeface="Arial"/>
              </a:defRPr>
            </a:defPPr>
          </a:lstStyle>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Sesi CLOSED</a:t>
            </a:r>
          </a:p>
          <a:p xmlns:a="http://schemas.openxmlformats.org/drawingml/2006/main">
            <a:pPr algn="ctr">
              <a:defRPr sz="2025" b="1">
                <a:solidFill>
                  <a:srgbClr val="FFFFFF"/>
                </a:solidFill>
                <a:latin typeface="Arial"/>
                <a:ea typeface="Arial"/>
                <a:cs typeface="Arial"/>
              </a:defRPr>
            </a:pPr>
            <a:r>
              <a:rPr sz="2025" b="1">
                <a:solidFill>
                  <a:srgbClr val="FFFFFF"/>
                </a:solidFill>
                <a:latin typeface="Arial"/>
                <a:ea typeface="Arial"/>
                <a:cs typeface="Arial"/>
              </a:rPr>
              <a:t>setelah semua item diperiksa</a:t>
            </a:r>
          </a:p>
        </p:txBody>
      </p:sp>
      <p:sp>
        <p:nvSpPr>
          <p:cNvPr id="12" name="Text Sesi ditutup tetap dapat memiliki seli">
            <a:extLst xmlns:a="http://schemas.openxmlformats.org/drawingml/2006/main">
              <a:ext uri="{FF2B5EF4-FFF2-40B4-BE49-F238E27FC236}">
                <a16:creationId xmlns:a16="http://schemas.microsoft.com/office/drawing/2014/main" id="{310A7F28-5381-4C4E-B666-F80ED1EA4C46}"/>
              </a:ext>
            </a:extLst>
          </p:cNvPr>
          <p:cNvSpPr>
            <a:spLocks xmlns:a="http://schemas.openxmlformats.org/drawingml/2006/main" noGrp="1"/>
          </p:cNvSpPr>
          <p:nvPr/>
        </p:nvSpPr>
        <p:spPr>
          <a:xfrm xmlns:a="http://schemas.openxmlformats.org/drawingml/2006/main">
            <a:off x="762000" y="68103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965F12"/>
                </a:solidFill>
                <a:latin typeface="Arial"/>
                <a:ea typeface="Arial"/>
                <a:cs typeface="Arial"/>
              </a:defRPr>
            </a:defPPr>
          </a:lstStyle>
          <a:p xmlns:a="http://schemas.openxmlformats.org/drawingml/2006/main">
            <a:pPr algn="l">
              <a:defRPr sz="2025" b="1">
                <a:solidFill>
                  <a:srgbClr val="965F12"/>
                </a:solidFill>
                <a:latin typeface="Arial"/>
                <a:ea typeface="Arial"/>
                <a:cs typeface="Arial"/>
              </a:defRPr>
            </a:pPr>
            <a:r>
              <a:rPr sz="2025" b="1">
                <a:solidFill>
                  <a:srgbClr val="965F12"/>
                </a:solidFill>
                <a:latin typeface="Arial"/>
                <a:ea typeface="Arial"/>
                <a:cs typeface="Arial"/>
              </a:rPr>
              <a:t>Sesi ditutup tetap dapat memiliki selisih terbuka.</a:t>
            </a:r>
          </a:p>
        </p:txBody>
      </p:sp>
      <p:sp>
        <p:nvSpPr>
          <p:cNvPr id="13" name="Frame Android">
            <a:extLst xmlns:a="http://schemas.openxmlformats.org/drawingml/2006/main">
              <a:ext uri="{FF2B5EF4-FFF2-40B4-BE49-F238E27FC236}">
                <a16:creationId xmlns:a16="http://schemas.microsoft.com/office/drawing/2014/main" id="{0A3F1DBD-8534-4B70-A67F-EA41F7A3448E}"/>
              </a:ext>
            </a:extLst>
          </p:cNvPr>
          <p:cNvSpPr>
            <a:spLocks xmlns:a="http://schemas.openxmlformats.org/drawingml/2006/main" noGrp="1"/>
          </p:cNvSpPr>
          <p:nvPr/>
        </p:nvSpPr>
        <p:spPr>
          <a:xfrm xmlns:a="http://schemas.openxmlformats.org/drawingml/2006/main">
            <a:off x="8369760" y="2486025"/>
            <a:ext cx="2405731" cy="4743450"/>
          </a:xfrm>
          <a:prstGeom xmlns:a="http://schemas.openxmlformats.org/drawingml/2006/main" prst="roundRect">
            <a:avLst>
              <a:gd name="adj" fmla="val 8710"/>
            </a:avLst>
          </a:prstGeom>
          <a:solidFill xmlns:a="http://schemas.openxmlformats.org/drawingml/2006/main">
            <a:srgbClr val="15243B"/>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E8166870-9541-4161-AA9A-5C00DD7A7103}"/>
              </a:ext>
            </a:extLst>
          </p:cNvPr>
          <p:cNvPicPr>
            <a:picLocks xmlns:a="http://schemas.openxmlformats.org/drawingml/2006/main" noChangeAspect="1"/>
          </p:cNvPicPr>
          <p:nvPr/>
        </p:nvPicPr>
        <p:blipFill>
          <a:blip xmlns:r="http://schemas.openxmlformats.org/officeDocument/2006/relationships" xmlns:a="http://schemas.openxmlformats.org/drawingml/2006/main" r:embed="R15c26846eb78498a"/>
          <a:stretch xmlns:a="http://schemas.openxmlformats.org/drawingml/2006/main"/>
        </p:blipFill>
        <p:spPr>
          <a:xfrm xmlns:a="http://schemas.openxmlformats.org/drawingml/2006/main">
            <a:off x="8455485" y="2571750"/>
            <a:ext cx="2234281" cy="4572000"/>
          </a:xfrm>
          <a:prstGeom xmlns:a="http://schemas.openxmlformats.org/drawingml/2006/main" prst="rect">
            <a:avLst/>
          </a:prstGeom>
        </p:spPr>
      </p:pic>
      <p:sp>
        <p:nvSpPr>
          <p:cNvPr id="15" name="Frame Android">
            <a:extLst xmlns:a="http://schemas.openxmlformats.org/drawingml/2006/main">
              <a:ext uri="{FF2B5EF4-FFF2-40B4-BE49-F238E27FC236}">
                <a16:creationId xmlns:a16="http://schemas.microsoft.com/office/drawing/2014/main" id="{A7D01D51-EF2D-4A54-9A7C-A4184193FE5A}"/>
              </a:ext>
            </a:extLst>
          </p:cNvPr>
          <p:cNvSpPr>
            <a:spLocks xmlns:a="http://schemas.openxmlformats.org/drawingml/2006/main" noGrp="1"/>
          </p:cNvSpPr>
          <p:nvPr/>
        </p:nvSpPr>
        <p:spPr>
          <a:xfrm xmlns:a="http://schemas.openxmlformats.org/drawingml/2006/main">
            <a:off x="11513010" y="2486025"/>
            <a:ext cx="2405731" cy="4743450"/>
          </a:xfrm>
          <a:prstGeom xmlns:a="http://schemas.openxmlformats.org/drawingml/2006/main" prst="roundRect">
            <a:avLst>
              <a:gd name="adj" fmla="val 8710"/>
            </a:avLst>
          </a:prstGeom>
          <a:solidFill xmlns:a="http://schemas.openxmlformats.org/drawingml/2006/main">
            <a:srgbClr val="15243B"/>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49970E0C-08F1-4B17-95B6-B879671761E8}"/>
              </a:ext>
            </a:extLst>
          </p:cNvPr>
          <p:cNvPicPr>
            <a:picLocks xmlns:a="http://schemas.openxmlformats.org/drawingml/2006/main" noChangeAspect="1"/>
          </p:cNvPicPr>
          <p:nvPr/>
        </p:nvPicPr>
        <p:blipFill>
          <a:blip xmlns:r="http://schemas.openxmlformats.org/officeDocument/2006/relationships" xmlns:a="http://schemas.openxmlformats.org/drawingml/2006/main" r:embed="R1b68792d93794a59"/>
          <a:stretch xmlns:a="http://schemas.openxmlformats.org/drawingml/2006/main"/>
        </p:blipFill>
        <p:spPr>
          <a:xfrm xmlns:a="http://schemas.openxmlformats.org/drawingml/2006/main">
            <a:off x="11598735" y="2571750"/>
            <a:ext cx="2234281" cy="4572000"/>
          </a:xfrm>
          <a:prstGeom xmlns:a="http://schemas.openxmlformats.org/drawingml/2006/main" prst="rect">
            <a:avLst/>
          </a:prstGeom>
        </p:spPr>
      </p:pic>
      <p:sp>
        <p:nvSpPr>
          <p:cNvPr id="17" name="Text Tangkapan aktual emulator; sesi dan pe">
            <a:extLst xmlns:a="http://schemas.openxmlformats.org/drawingml/2006/main">
              <a:ext uri="{FF2B5EF4-FFF2-40B4-BE49-F238E27FC236}">
                <a16:creationId xmlns:a16="http://schemas.microsoft.com/office/drawing/2014/main" id="{FCDEBC14-6006-4945-9ADC-76FC440C13C4}"/>
              </a:ext>
            </a:extLst>
          </p:cNvPr>
          <p:cNvSpPr>
            <a:spLocks xmlns:a="http://schemas.openxmlformats.org/drawingml/2006/main" noGrp="1"/>
          </p:cNvSpPr>
          <p:nvPr/>
        </p:nvSpPr>
        <p:spPr>
          <a:xfrm xmlns:a="http://schemas.openxmlformats.org/drawingml/2006/main">
            <a:off x="7905750" y="7334250"/>
            <a:ext cx="676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Tangkapan aktual emulator; sesi dan pelanggan sintetis</a:t>
            </a:r>
          </a:p>
        </p:txBody>
      </p:sp>
    </p:spTree>
    <p:extLst>
      <p:ext uri="{BB962C8B-B14F-4D97-AF65-F5344CB8AC3E}">
        <p14:creationId xmlns:p14="http://schemas.microsoft.com/office/powerpoint/2010/main" val="101788670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BDC9364B-610B-446B-B109-F3E4C0CBFDC7}"/>
              </a:ext>
            </a:extLst>
          </p:cNvPr>
          <p:cNvCxnSpPr>
            <a:stCxn xmlns:a="http://schemas.openxmlformats.org/drawingml/2006/main" id="10" idx="3"/>
            <a:endCxn xmlns:a="http://schemas.openxmlformats.org/drawingml/2006/main" id="11" idx="1"/>
          </p:cNvCxnSpPr>
          <p:nvPr/>
        </p:nvCxnSpPr>
        <p:spPr>
          <a:xfrm xmlns:a="http://schemas.openxmlformats.org/drawingml/2006/main">
            <a:off x="11668125" y="3071813"/>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4" name="">
            <a:extLst xmlns:a="http://schemas.openxmlformats.org/drawingml/2006/main">
              <a:ext uri="{FF2B5EF4-FFF2-40B4-BE49-F238E27FC236}">
                <a16:creationId xmlns:a16="http://schemas.microsoft.com/office/drawing/2014/main" id="{E65019A5-DDE2-4B92-B0BE-CF25F0E8A752}"/>
              </a:ext>
            </a:extLst>
          </p:cNvPr>
          <p:cNvCxnSpPr>
            <a:stCxn xmlns:a="http://schemas.openxmlformats.org/drawingml/2006/main" id="9" idx="3"/>
            <a:endCxn xmlns:a="http://schemas.openxmlformats.org/drawingml/2006/main" id="10" idx="1"/>
          </p:cNvCxnSpPr>
          <p:nvPr/>
        </p:nvCxnSpPr>
        <p:spPr>
          <a:xfrm xmlns:a="http://schemas.openxmlformats.org/drawingml/2006/main">
            <a:off x="8858250" y="3071813"/>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784057EA-77F7-4EEA-B46E-0349FBBF5818}"/>
              </a:ext>
            </a:extLst>
          </p:cNvPr>
          <p:cNvCxnSpPr>
            <a:stCxn xmlns:a="http://schemas.openxmlformats.org/drawingml/2006/main" id="8" idx="3"/>
            <a:endCxn xmlns:a="http://schemas.openxmlformats.org/drawingml/2006/main" id="9" idx="1"/>
          </p:cNvCxnSpPr>
          <p:nvPr/>
        </p:nvCxnSpPr>
        <p:spPr>
          <a:xfrm xmlns:a="http://schemas.openxmlformats.org/drawingml/2006/main">
            <a:off x="6048375" y="3071813"/>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2" name="">
            <a:extLst xmlns:a="http://schemas.openxmlformats.org/drawingml/2006/main">
              <a:ext uri="{FF2B5EF4-FFF2-40B4-BE49-F238E27FC236}">
                <a16:creationId xmlns:a16="http://schemas.microsoft.com/office/drawing/2014/main" id="{C5476072-3062-4785-B2EF-28FC644D6449}"/>
              </a:ext>
            </a:extLst>
          </p:cNvPr>
          <p:cNvCxnSpPr>
            <a:stCxn xmlns:a="http://schemas.openxmlformats.org/drawingml/2006/main" id="7" idx="3"/>
            <a:endCxn xmlns:a="http://schemas.openxmlformats.org/drawingml/2006/main" id="8" idx="1"/>
          </p:cNvCxnSpPr>
          <p:nvPr/>
        </p:nvCxnSpPr>
        <p:spPr>
          <a:xfrm xmlns:a="http://schemas.openxmlformats.org/drawingml/2006/main">
            <a:off x="3238500" y="3071813"/>
            <a:ext cx="333375" cy="0"/>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sp>
        <p:nvSpPr>
          <p:cNvPr id="22" name="Text 11">
            <a:extLst xmlns:a="http://schemas.openxmlformats.org/drawingml/2006/main">
              <a:ext uri="{FF2B5EF4-FFF2-40B4-BE49-F238E27FC236}">
                <a16:creationId xmlns:a16="http://schemas.microsoft.com/office/drawing/2014/main" id="{A5544137-83EE-46A7-9375-5AC77A36A5AF}"/>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11</a:t>
            </a:r>
          </a:p>
        </p:txBody>
      </p:sp>
      <p:sp>
        <p:nvSpPr>
          <p:cNvPr id="2" name="Text Retail Operations Platform   /   Inter">
            <a:extLst xmlns:a="http://schemas.openxmlformats.org/drawingml/2006/main">
              <a:ext uri="{FF2B5EF4-FFF2-40B4-BE49-F238E27FC236}">
                <a16:creationId xmlns:a16="http://schemas.microsoft.com/office/drawing/2014/main" id="{71BB199C-4627-4850-BD33-2C7F31EE0AED}"/>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ED3F88D3-A97B-47E8-A19C-4BF9AF102281}"/>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8AABD2F4-A95A-434C-AC70-8A755F09EF3E}"/>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Visibilitas operasional dan jejak akti">
            <a:extLst xmlns:a="http://schemas.openxmlformats.org/drawingml/2006/main">
              <a:ext uri="{FF2B5EF4-FFF2-40B4-BE49-F238E27FC236}">
                <a16:creationId xmlns:a16="http://schemas.microsoft.com/office/drawing/2014/main" id="{13FA9BF6-BE3B-4539-AEE7-DD1B4661ACD4}"/>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Visibilitas operasional dan jejak aktivitas</a:t>
            </a:r>
          </a:p>
        </p:txBody>
      </p:sp>
      <p:sp>
        <p:nvSpPr>
          <p:cNvPr id="6" name="Text Data tugas terhubung dengan petugas, b">
            <a:extLst xmlns:a="http://schemas.openxmlformats.org/drawingml/2006/main">
              <a:ext uri="{FF2B5EF4-FFF2-40B4-BE49-F238E27FC236}">
                <a16:creationId xmlns:a16="http://schemas.microsoft.com/office/drawing/2014/main" id="{12BE2867-A25D-44AB-92AA-698001BF312C}"/>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Data tugas terhubung dengan petugas, bukti pickup, dan hasil penerimaan</a:t>
            </a:r>
          </a:p>
        </p:txBody>
      </p:sp>
      <p:sp>
        <p:nvSpPr>
          <p:cNvPr id="7" name="Diagram Referensi tugas">
            <a:extLst xmlns:a="http://schemas.openxmlformats.org/drawingml/2006/main">
              <a:ext uri="{FF2B5EF4-FFF2-40B4-BE49-F238E27FC236}">
                <a16:creationId xmlns:a16="http://schemas.microsoft.com/office/drawing/2014/main" id="{0DAE1D4E-FCCE-4913-8321-DEE8137FB1C5}"/>
              </a:ext>
            </a:extLst>
          </p:cNvPr>
          <p:cNvSpPr>
            <a:spLocks xmlns:a="http://schemas.openxmlformats.org/drawingml/2006/main" noGrp="1"/>
          </p:cNvSpPr>
          <p:nvPr/>
        </p:nvSpPr>
        <p:spPr>
          <a:xfrm xmlns:a="http://schemas.openxmlformats.org/drawingml/2006/main">
            <a:off x="762000" y="2667000"/>
            <a:ext cx="247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1875" b="1">
                <a:solidFill>
                  <a:srgbClr val="17336F"/>
                </a:solidFill>
                <a:latin typeface="Arial"/>
                <a:ea typeface="Arial"/>
                <a:cs typeface="Arial"/>
              </a:defRPr>
            </a:defPPr>
          </a:lstStyle>
          <a:p xmlns:a="http://schemas.openxmlformats.org/drawingml/2006/main">
            <a:pPr algn="ctr">
              <a:defRPr sz="1875" b="1">
                <a:solidFill>
                  <a:srgbClr val="17336F"/>
                </a:solidFill>
                <a:latin typeface="Arial"/>
                <a:ea typeface="Arial"/>
                <a:cs typeface="Arial"/>
              </a:defRPr>
            </a:pPr>
            <a:r>
              <a:rPr sz="1875" b="1">
                <a:solidFill>
                  <a:srgbClr val="17336F"/>
                </a:solidFill>
                <a:latin typeface="Arial"/>
                <a:ea typeface="Arial"/>
                <a:cs typeface="Arial"/>
              </a:rPr>
              <a:t>Referensi tugas</a:t>
            </a:r>
          </a:p>
        </p:txBody>
      </p:sp>
      <p:sp>
        <p:nvSpPr>
          <p:cNvPr id="8" name="Diagram Petugas &amp; waktu">
            <a:extLst xmlns:a="http://schemas.openxmlformats.org/drawingml/2006/main">
              <a:ext uri="{FF2B5EF4-FFF2-40B4-BE49-F238E27FC236}">
                <a16:creationId xmlns:a16="http://schemas.microsoft.com/office/drawing/2014/main" id="{26D7CE19-19A3-44FC-8D93-3F5FBFFB0C43}"/>
              </a:ext>
            </a:extLst>
          </p:cNvPr>
          <p:cNvSpPr>
            <a:spLocks xmlns:a="http://schemas.openxmlformats.org/drawingml/2006/main" noGrp="1"/>
          </p:cNvSpPr>
          <p:nvPr/>
        </p:nvSpPr>
        <p:spPr>
          <a:xfrm xmlns:a="http://schemas.openxmlformats.org/drawingml/2006/main">
            <a:off x="3571875" y="2667000"/>
            <a:ext cx="247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1875" b="1">
                <a:solidFill>
                  <a:srgbClr val="17336F"/>
                </a:solidFill>
                <a:latin typeface="Arial"/>
                <a:ea typeface="Arial"/>
                <a:cs typeface="Arial"/>
              </a:defRPr>
            </a:defPPr>
          </a:lstStyle>
          <a:p xmlns:a="http://schemas.openxmlformats.org/drawingml/2006/main">
            <a:pPr algn="ctr">
              <a:defRPr sz="1875" b="1">
                <a:solidFill>
                  <a:srgbClr val="17336F"/>
                </a:solidFill>
                <a:latin typeface="Arial"/>
                <a:ea typeface="Arial"/>
                <a:cs typeface="Arial"/>
              </a:defRPr>
            </a:pPr>
            <a:r>
              <a:rPr sz="1875" b="1">
                <a:solidFill>
                  <a:srgbClr val="17336F"/>
                </a:solidFill>
                <a:latin typeface="Arial"/>
                <a:ea typeface="Arial"/>
                <a:cs typeface="Arial"/>
              </a:rPr>
              <a:t>Petugas &amp; waktu</a:t>
            </a:r>
          </a:p>
        </p:txBody>
      </p:sp>
      <p:sp>
        <p:nvSpPr>
          <p:cNvPr id="9" name="Diagram POP final">
            <a:extLst xmlns:a="http://schemas.openxmlformats.org/drawingml/2006/main">
              <a:ext uri="{FF2B5EF4-FFF2-40B4-BE49-F238E27FC236}">
                <a16:creationId xmlns:a16="http://schemas.microsoft.com/office/drawing/2014/main" id="{5FC84568-ADFA-487E-AF61-FD3693026145}"/>
              </a:ext>
            </a:extLst>
          </p:cNvPr>
          <p:cNvSpPr>
            <a:spLocks xmlns:a="http://schemas.openxmlformats.org/drawingml/2006/main" noGrp="1"/>
          </p:cNvSpPr>
          <p:nvPr/>
        </p:nvSpPr>
        <p:spPr>
          <a:xfrm xmlns:a="http://schemas.openxmlformats.org/drawingml/2006/main">
            <a:off x="6381750" y="2667000"/>
            <a:ext cx="247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1875" b="1">
                <a:solidFill>
                  <a:srgbClr val="17336F"/>
                </a:solidFill>
                <a:latin typeface="Arial"/>
                <a:ea typeface="Arial"/>
                <a:cs typeface="Arial"/>
              </a:defRPr>
            </a:defPPr>
          </a:lstStyle>
          <a:p xmlns:a="http://schemas.openxmlformats.org/drawingml/2006/main">
            <a:pPr algn="ctr">
              <a:defRPr sz="1875" b="1">
                <a:solidFill>
                  <a:srgbClr val="17336F"/>
                </a:solidFill>
                <a:latin typeface="Arial"/>
                <a:ea typeface="Arial"/>
                <a:cs typeface="Arial"/>
              </a:defRPr>
            </a:pPr>
            <a:r>
              <a:rPr sz="1875" b="1">
                <a:solidFill>
                  <a:srgbClr val="17336F"/>
                </a:solidFill>
                <a:latin typeface="Arial"/>
                <a:ea typeface="Arial"/>
                <a:cs typeface="Arial"/>
              </a:rPr>
              <a:t>POP final</a:t>
            </a:r>
          </a:p>
        </p:txBody>
      </p:sp>
      <p:sp>
        <p:nvSpPr>
          <p:cNvPr id="10" name="Diagram Handover">
            <a:extLst xmlns:a="http://schemas.openxmlformats.org/drawingml/2006/main">
              <a:ext uri="{FF2B5EF4-FFF2-40B4-BE49-F238E27FC236}">
                <a16:creationId xmlns:a16="http://schemas.microsoft.com/office/drawing/2014/main" id="{705520CA-5B1C-435F-A302-A27EC131657F}"/>
              </a:ext>
            </a:extLst>
          </p:cNvPr>
          <p:cNvSpPr>
            <a:spLocks xmlns:a="http://schemas.openxmlformats.org/drawingml/2006/main" noGrp="1"/>
          </p:cNvSpPr>
          <p:nvPr/>
        </p:nvSpPr>
        <p:spPr>
          <a:xfrm xmlns:a="http://schemas.openxmlformats.org/drawingml/2006/main">
            <a:off x="9191625" y="2667000"/>
            <a:ext cx="247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1875" b="1">
                <a:solidFill>
                  <a:srgbClr val="17336F"/>
                </a:solidFill>
                <a:latin typeface="Arial"/>
                <a:ea typeface="Arial"/>
                <a:cs typeface="Arial"/>
              </a:defRPr>
            </a:defPPr>
          </a:lstStyle>
          <a:p xmlns:a="http://schemas.openxmlformats.org/drawingml/2006/main">
            <a:pPr algn="ctr">
              <a:defRPr sz="1875" b="1">
                <a:solidFill>
                  <a:srgbClr val="17336F"/>
                </a:solidFill>
                <a:latin typeface="Arial"/>
                <a:ea typeface="Arial"/>
                <a:cs typeface="Arial"/>
              </a:defRPr>
            </a:pPr>
            <a:r>
              <a:rPr sz="1875" b="1">
                <a:solidFill>
                  <a:srgbClr val="17336F"/>
                </a:solidFill>
                <a:latin typeface="Arial"/>
                <a:ea typeface="Arial"/>
                <a:cs typeface="Arial"/>
              </a:rPr>
              <a:t>Handover</a:t>
            </a:r>
          </a:p>
        </p:txBody>
      </p:sp>
      <p:sp>
        <p:nvSpPr>
          <p:cNvPr id="11" name="Diagram Hasil verifikasi">
            <a:extLst xmlns:a="http://schemas.openxmlformats.org/drawingml/2006/main">
              <a:ext uri="{FF2B5EF4-FFF2-40B4-BE49-F238E27FC236}">
                <a16:creationId xmlns:a16="http://schemas.microsoft.com/office/drawing/2014/main" id="{7F0419FE-FDEA-4E92-80A1-B38A605C9262}"/>
              </a:ext>
            </a:extLst>
          </p:cNvPr>
          <p:cNvSpPr>
            <a:spLocks xmlns:a="http://schemas.openxmlformats.org/drawingml/2006/main" noGrp="1"/>
          </p:cNvSpPr>
          <p:nvPr/>
        </p:nvSpPr>
        <p:spPr>
          <a:xfrm xmlns:a="http://schemas.openxmlformats.org/drawingml/2006/main">
            <a:off x="12001500" y="2667000"/>
            <a:ext cx="2476500" cy="809625"/>
          </a:xfrm>
          <a:prstGeom xmlns:a="http://schemas.openxmlformats.org/drawingml/2006/main" prst="roundRect">
            <a:avLst>
              <a:gd name="adj" fmla="val 9412"/>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1875" b="1">
                <a:solidFill>
                  <a:srgbClr val="17336F"/>
                </a:solidFill>
                <a:latin typeface="Arial"/>
                <a:ea typeface="Arial"/>
                <a:cs typeface="Arial"/>
              </a:defRPr>
            </a:defPPr>
          </a:lstStyle>
          <a:p xmlns:a="http://schemas.openxmlformats.org/drawingml/2006/main">
            <a:pPr algn="ctr">
              <a:defRPr sz="1875" b="1">
                <a:solidFill>
                  <a:srgbClr val="17336F"/>
                </a:solidFill>
                <a:latin typeface="Arial"/>
                <a:ea typeface="Arial"/>
                <a:cs typeface="Arial"/>
              </a:defRPr>
            </a:pPr>
            <a:r>
              <a:rPr sz="1875" b="1">
                <a:solidFill>
                  <a:srgbClr val="17336F"/>
                </a:solidFill>
                <a:latin typeface="Arial"/>
                <a:ea typeface="Arial"/>
                <a:cs typeface="Arial"/>
              </a:rPr>
              <a:t>Hasil verifikasi</a:t>
            </a:r>
          </a:p>
        </p:txBody>
      </p:sp>
      <p:sp>
        <p:nvSpPr>
          <p:cNvPr id="16" name="Text Pemantauan harian">
            <a:extLst xmlns:a="http://schemas.openxmlformats.org/drawingml/2006/main">
              <a:ext uri="{FF2B5EF4-FFF2-40B4-BE49-F238E27FC236}">
                <a16:creationId xmlns:a16="http://schemas.microsoft.com/office/drawing/2014/main" id="{7F1CF209-EA9A-40F6-8BEE-44A8D71254C4}"/>
              </a:ext>
            </a:extLst>
          </p:cNvPr>
          <p:cNvSpPr>
            <a:spLocks xmlns:a="http://schemas.openxmlformats.org/drawingml/2006/main" noGrp="1"/>
          </p:cNvSpPr>
          <p:nvPr/>
        </p:nvSpPr>
        <p:spPr>
          <a:xfrm xmlns:a="http://schemas.openxmlformats.org/drawingml/2006/main">
            <a:off x="762000" y="41910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43B"/>
                </a:solidFill>
                <a:latin typeface="Arial"/>
                <a:ea typeface="Arial"/>
                <a:cs typeface="Arial"/>
              </a:defRPr>
            </a:defPPr>
          </a:lstStyle>
          <a:p xmlns:a="http://schemas.openxmlformats.org/drawingml/2006/main">
            <a:pPr algn="l">
              <a:defRPr sz="2700" b="1">
                <a:solidFill>
                  <a:srgbClr val="15243B"/>
                </a:solidFill>
                <a:latin typeface="Arial"/>
                <a:ea typeface="Arial"/>
                <a:cs typeface="Arial"/>
              </a:defRPr>
            </a:pPr>
            <a:r>
              <a:rPr sz="2700" b="1">
                <a:solidFill>
                  <a:srgbClr val="15243B"/>
                </a:solidFill>
                <a:latin typeface="Arial"/>
                <a:ea typeface="Arial"/>
                <a:cs typeface="Arial"/>
              </a:rPr>
              <a:t>Pemantauan harian</a:t>
            </a:r>
          </a:p>
        </p:txBody>
      </p:sp>
      <p:sp>
        <p:nvSpPr>
          <p:cNvPr id="17" name="Text Dashboard ringkasan, daftar tugas, pen">
            <a:extLst xmlns:a="http://schemas.openxmlformats.org/drawingml/2006/main">
              <a:ext uri="{FF2B5EF4-FFF2-40B4-BE49-F238E27FC236}">
                <a16:creationId xmlns:a16="http://schemas.microsoft.com/office/drawing/2014/main" id="{AF5F5B77-EF4C-4FE7-A983-1A6DBEBDE6A1}"/>
              </a:ext>
            </a:extLst>
          </p:cNvPr>
          <p:cNvSpPr>
            <a:spLocks xmlns:a="http://schemas.openxmlformats.org/drawingml/2006/main" noGrp="1"/>
          </p:cNvSpPr>
          <p:nvPr/>
        </p:nvSpPr>
        <p:spPr>
          <a:xfrm xmlns:a="http://schemas.openxmlformats.org/drawingml/2006/main">
            <a:off x="762000" y="4857750"/>
            <a:ext cx="6429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D6C82"/>
                </a:solidFill>
                <a:latin typeface="Arial"/>
                <a:ea typeface="Arial"/>
                <a:cs typeface="Arial"/>
              </a:defRPr>
            </a:defPPr>
          </a:lstStyle>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Dashboard ringkasan, daftar tugas, pencarian,</a:t>
            </a:r>
          </a:p>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filter status, dan pekerjaan yang perlu tindakan.</a:t>
            </a:r>
          </a:p>
        </p:txBody>
      </p:sp>
      <p:sp>
        <p:nvSpPr>
          <p:cNvPr id="18" name="Text Audit dan pemeriksaan">
            <a:extLst xmlns:a="http://schemas.openxmlformats.org/drawingml/2006/main">
              <a:ext uri="{FF2B5EF4-FFF2-40B4-BE49-F238E27FC236}">
                <a16:creationId xmlns:a16="http://schemas.microsoft.com/office/drawing/2014/main" id="{E340C934-793A-4393-98EC-81E1AB8503A0}"/>
              </a:ext>
            </a:extLst>
          </p:cNvPr>
          <p:cNvSpPr>
            <a:spLocks xmlns:a="http://schemas.openxmlformats.org/drawingml/2006/main" noGrp="1"/>
          </p:cNvSpPr>
          <p:nvPr/>
        </p:nvSpPr>
        <p:spPr>
          <a:xfrm xmlns:a="http://schemas.openxmlformats.org/drawingml/2006/main">
            <a:off x="8096250" y="41910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43B"/>
                </a:solidFill>
                <a:latin typeface="Arial"/>
                <a:ea typeface="Arial"/>
                <a:cs typeface="Arial"/>
              </a:defRPr>
            </a:defPPr>
          </a:lstStyle>
          <a:p xmlns:a="http://schemas.openxmlformats.org/drawingml/2006/main">
            <a:pPr algn="l">
              <a:defRPr sz="2700" b="1">
                <a:solidFill>
                  <a:srgbClr val="15243B"/>
                </a:solidFill>
                <a:latin typeface="Arial"/>
                <a:ea typeface="Arial"/>
                <a:cs typeface="Arial"/>
              </a:defRPr>
            </a:pPr>
            <a:r>
              <a:rPr sz="2700" b="1">
                <a:solidFill>
                  <a:srgbClr val="15243B"/>
                </a:solidFill>
                <a:latin typeface="Arial"/>
                <a:ea typeface="Arial"/>
                <a:cs typeface="Arial"/>
              </a:rPr>
              <a:t>Audit dan pemeriksaan</a:t>
            </a:r>
          </a:p>
        </p:txBody>
      </p:sp>
      <p:sp>
        <p:nvSpPr>
          <p:cNvPr id="19" name="Text Riwayat perubahan membantu menelusuri&#10;">
            <a:extLst xmlns:a="http://schemas.openxmlformats.org/drawingml/2006/main">
              <a:ext uri="{FF2B5EF4-FFF2-40B4-BE49-F238E27FC236}">
                <a16:creationId xmlns:a16="http://schemas.microsoft.com/office/drawing/2014/main" id="{D1CF0065-1037-4830-895D-A517C27909C4}"/>
              </a:ext>
            </a:extLst>
          </p:cNvPr>
          <p:cNvSpPr>
            <a:spLocks xmlns:a="http://schemas.openxmlformats.org/drawingml/2006/main" noGrp="1"/>
          </p:cNvSpPr>
          <p:nvPr/>
        </p:nvSpPr>
        <p:spPr>
          <a:xfrm xmlns:a="http://schemas.openxmlformats.org/drawingml/2006/main">
            <a:off x="8096250" y="4857750"/>
            <a:ext cx="6381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D6C82"/>
                </a:solidFill>
                <a:latin typeface="Arial"/>
                <a:ea typeface="Arial"/>
                <a:cs typeface="Arial"/>
              </a:defRPr>
            </a:defPPr>
          </a:lstStyle>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Riwayat perubahan membantu menelusuri</a:t>
            </a:r>
          </a:p>
          <a:p xmlns:a="http://schemas.openxmlformats.org/drawingml/2006/main">
            <a:pPr algn="l">
              <a:defRPr sz="2175" b="0">
                <a:solidFill>
                  <a:srgbClr val="5D6C82"/>
                </a:solidFill>
                <a:latin typeface="Arial"/>
                <a:ea typeface="Arial"/>
                <a:cs typeface="Arial"/>
              </a:defRPr>
            </a:pPr>
            <a:r>
              <a:rPr sz="2175" b="0">
                <a:solidFill>
                  <a:srgbClr val="5D6C82"/>
                </a:solidFill>
                <a:latin typeface="Arial"/>
                <a:ea typeface="Arial"/>
                <a:cs typeface="Arial"/>
              </a:rPr>
              <a:t>siapa melakukan apa, kapan, dan pada tugas mana.</a:t>
            </a:r>
          </a:p>
        </p:txBody>
      </p:sp>
      <p:sp>
        <p:nvSpPr>
          <p:cNvPr id="20" name="Rule">
            <a:extLst xmlns:a="http://schemas.openxmlformats.org/drawingml/2006/main">
              <a:ext uri="{FF2B5EF4-FFF2-40B4-BE49-F238E27FC236}">
                <a16:creationId xmlns:a16="http://schemas.microsoft.com/office/drawing/2014/main" id="{2A4F6971-BDE6-446B-998F-B2342209500A}"/>
              </a:ext>
            </a:extLst>
          </p:cNvPr>
          <p:cNvSpPr>
            <a:spLocks xmlns:a="http://schemas.openxmlformats.org/drawingml/2006/main" noGrp="1"/>
          </p:cNvSpPr>
          <p:nvPr/>
        </p:nvSpPr>
        <p:spPr>
          <a:xfrm xmlns:a="http://schemas.openxmlformats.org/drawingml/2006/main">
            <a:off x="762000" y="6429375"/>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21" name="Text Monitoring tersedia saat ini. Analitik">
            <a:extLst xmlns:a="http://schemas.openxmlformats.org/drawingml/2006/main">
              <a:ext uri="{FF2B5EF4-FFF2-40B4-BE49-F238E27FC236}">
                <a16:creationId xmlns:a16="http://schemas.microsoft.com/office/drawing/2014/main" id="{A76B8167-D0E9-4E7C-A773-FDB81B84A2C4}"/>
              </a:ext>
            </a:extLst>
          </p:cNvPr>
          <p:cNvSpPr>
            <a:spLocks xmlns:a="http://schemas.openxmlformats.org/drawingml/2006/main" noGrp="1"/>
          </p:cNvSpPr>
          <p:nvPr/>
        </p:nvSpPr>
        <p:spPr>
          <a:xfrm xmlns:a="http://schemas.openxmlformats.org/drawingml/2006/main">
            <a:off x="762000" y="6762750"/>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336F"/>
                </a:solidFill>
                <a:latin typeface="Arial"/>
                <a:ea typeface="Arial"/>
                <a:cs typeface="Arial"/>
              </a:defRPr>
            </a:defPPr>
          </a:lstStyle>
          <a:p xmlns:a="http://schemas.openxmlformats.org/drawingml/2006/main">
            <a:pPr algn="l">
              <a:defRPr sz="2025" b="1">
                <a:solidFill>
                  <a:srgbClr val="17336F"/>
                </a:solidFill>
                <a:latin typeface="Arial"/>
                <a:ea typeface="Arial"/>
                <a:cs typeface="Arial"/>
              </a:defRPr>
            </a:pPr>
            <a:r>
              <a:rPr sz="2025" b="1">
                <a:solidFill>
                  <a:srgbClr val="17336F"/>
                </a:solidFill>
                <a:latin typeface="Arial"/>
                <a:ea typeface="Arial"/>
                <a:cs typeface="Arial"/>
              </a:rPr>
              <a:t>Monitoring tersedia saat ini. Analitik kinerja dan pelaporan lanjutan masih direncanakan.</a:t>
            </a:r>
          </a:p>
        </p:txBody>
      </p:sp>
    </p:spTree>
    <p:extLst>
      <p:ext uri="{BB962C8B-B14F-4D97-AF65-F5344CB8AC3E}">
        <p14:creationId xmlns:p14="http://schemas.microsoft.com/office/powerpoint/2010/main" val="16023383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600EB125-62A3-42B9-951C-C703CB23AE79}"/>
              </a:ext>
            </a:extLst>
          </p:cNvPr>
          <p:cNvCxnSpPr>
            <a:stCxn xmlns:a="http://schemas.openxmlformats.org/drawingml/2006/main" id="12" idx="3"/>
            <a:endCxn xmlns:a="http://schemas.openxmlformats.org/drawingml/2006/main" id="18" idx="1"/>
          </p:cNvCxnSpPr>
          <p:nvPr/>
        </p:nvCxnSpPr>
        <p:spPr>
          <a:xfrm xmlns:a="http://schemas.openxmlformats.org/drawingml/2006/main" flipV="1">
            <a:off x="6477000" y="6596063"/>
            <a:ext cx="2571750" cy="71438"/>
          </a:xfrm>
          <a:prstGeom xmlns:a="http://schemas.openxmlformats.org/drawingml/2006/main" prst="straightConnector1">
            <a:avLst/>
          </a:prstGeom>
          <a:ln xmlns:a="http://schemas.openxmlformats.org/drawingml/2006/main" w="21908">
            <a:solidFill>
              <a:srgbClr val="965F12"/>
            </a:solidFill>
            <a:prstDash val="dash"/>
            <a:tailEnd type="triangle" w="med" len="med"/>
          </a:ln>
        </p:spPr>
      </p:cxnSp>
      <p:cxnSp>
        <p:nvCxnSpPr>
          <p:cNvPr id="16" name="">
            <a:extLst xmlns:a="http://schemas.openxmlformats.org/drawingml/2006/main">
              <a:ext uri="{FF2B5EF4-FFF2-40B4-BE49-F238E27FC236}">
                <a16:creationId xmlns:a16="http://schemas.microsoft.com/office/drawing/2014/main" id="{8BDB4044-C9A2-42F2-8936-A3E070120EAA}"/>
              </a:ext>
            </a:extLst>
          </p:cNvPr>
          <p:cNvCxnSpPr>
            <a:stCxn xmlns:a="http://schemas.openxmlformats.org/drawingml/2006/main" id="14" idx="1"/>
            <a:endCxn xmlns:a="http://schemas.openxmlformats.org/drawingml/2006/main" id="8" idx="3"/>
          </p:cNvCxnSpPr>
          <p:nvPr/>
        </p:nvCxnSpPr>
        <p:spPr>
          <a:xfrm xmlns:a="http://schemas.openxmlformats.org/drawingml/2006/main" flipH="1" flipV="1">
            <a:off x="7620000" y="3119438"/>
            <a:ext cx="2286000" cy="309563"/>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5" name="">
            <a:extLst xmlns:a="http://schemas.openxmlformats.org/drawingml/2006/main">
              <a:ext uri="{FF2B5EF4-FFF2-40B4-BE49-F238E27FC236}">
                <a16:creationId xmlns:a16="http://schemas.microsoft.com/office/drawing/2014/main" id="{AA142DEB-12B3-428C-B31B-6068295FB418}"/>
              </a:ext>
            </a:extLst>
          </p:cNvPr>
          <p:cNvCxnSpPr>
            <a:stCxn xmlns:a="http://schemas.openxmlformats.org/drawingml/2006/main" id="9" idx="3"/>
            <a:endCxn xmlns:a="http://schemas.openxmlformats.org/drawingml/2006/main" id="14" idx="1"/>
          </p:cNvCxnSpPr>
          <p:nvPr/>
        </p:nvCxnSpPr>
        <p:spPr>
          <a:xfrm xmlns:a="http://schemas.openxmlformats.org/drawingml/2006/main" flipV="1">
            <a:off x="6477000" y="3429000"/>
            <a:ext cx="3429000" cy="1452563"/>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3" name="">
            <a:extLst xmlns:a="http://schemas.openxmlformats.org/drawingml/2006/main">
              <a:ext uri="{FF2B5EF4-FFF2-40B4-BE49-F238E27FC236}">
                <a16:creationId xmlns:a16="http://schemas.microsoft.com/office/drawing/2014/main" id="{725BBF73-5197-42B7-AA74-1C9882FA505A}"/>
              </a:ext>
            </a:extLst>
          </p:cNvPr>
          <p:cNvCxnSpPr>
            <a:stCxn xmlns:a="http://schemas.openxmlformats.org/drawingml/2006/main" id="9" idx="2"/>
            <a:endCxn xmlns:a="http://schemas.openxmlformats.org/drawingml/2006/main" id="12" idx="0"/>
          </p:cNvCxnSpPr>
          <p:nvPr/>
        </p:nvCxnSpPr>
        <p:spPr>
          <a:xfrm xmlns:a="http://schemas.openxmlformats.org/drawingml/2006/main">
            <a:off x="4191000" y="5381625"/>
            <a:ext cx="0" cy="809625"/>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1" name="">
            <a:extLst xmlns:a="http://schemas.openxmlformats.org/drawingml/2006/main">
              <a:ext uri="{FF2B5EF4-FFF2-40B4-BE49-F238E27FC236}">
                <a16:creationId xmlns:a16="http://schemas.microsoft.com/office/drawing/2014/main" id="{6B860396-535F-4BED-801B-56931F19EB32}"/>
              </a:ext>
            </a:extLst>
          </p:cNvPr>
          <p:cNvCxnSpPr>
            <a:stCxn xmlns:a="http://schemas.openxmlformats.org/drawingml/2006/main" id="8" idx="2"/>
            <a:endCxn xmlns:a="http://schemas.openxmlformats.org/drawingml/2006/main" id="9" idx="0"/>
          </p:cNvCxnSpPr>
          <p:nvPr/>
        </p:nvCxnSpPr>
        <p:spPr>
          <a:xfrm xmlns:a="http://schemas.openxmlformats.org/drawingml/2006/main" flipH="1">
            <a:off x="4191000" y="3571875"/>
            <a:ext cx="1881188" cy="809625"/>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cxnSp>
        <p:nvCxnSpPr>
          <p:cNvPr id="10" name="">
            <a:extLst xmlns:a="http://schemas.openxmlformats.org/drawingml/2006/main">
              <a:ext uri="{FF2B5EF4-FFF2-40B4-BE49-F238E27FC236}">
                <a16:creationId xmlns:a16="http://schemas.microsoft.com/office/drawing/2014/main" id="{82732AFC-7941-43D9-A098-A033549DC3B6}"/>
              </a:ext>
            </a:extLst>
          </p:cNvPr>
          <p:cNvCxnSpPr>
            <a:stCxn xmlns:a="http://schemas.openxmlformats.org/drawingml/2006/main" id="7" idx="2"/>
            <a:endCxn xmlns:a="http://schemas.openxmlformats.org/drawingml/2006/main" id="9" idx="0"/>
          </p:cNvCxnSpPr>
          <p:nvPr/>
        </p:nvCxnSpPr>
        <p:spPr>
          <a:xfrm xmlns:a="http://schemas.openxmlformats.org/drawingml/2006/main">
            <a:off x="2309813" y="3571875"/>
            <a:ext cx="1881188" cy="809625"/>
          </a:xfrm>
          <a:prstGeom xmlns:a="http://schemas.openxmlformats.org/drawingml/2006/main" prst="straightConnector1">
            <a:avLst/>
          </a:prstGeom>
          <a:ln xmlns:a="http://schemas.openxmlformats.org/drawingml/2006/main" w="21908">
            <a:solidFill>
              <a:srgbClr val="17336F"/>
            </a:solidFill>
            <a:prstDash val="solid"/>
            <a:tailEnd type="triangle" w="med" len="med"/>
          </a:ln>
        </p:spPr>
      </p:cxnSp>
      <p:sp>
        <p:nvSpPr>
          <p:cNvPr id="20" name="Text 12">
            <a:extLst xmlns:a="http://schemas.openxmlformats.org/drawingml/2006/main">
              <a:ext uri="{FF2B5EF4-FFF2-40B4-BE49-F238E27FC236}">
                <a16:creationId xmlns:a16="http://schemas.microsoft.com/office/drawing/2014/main" id="{A13B3AC5-9878-481F-AC6F-B8C6E9B7317F}"/>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12</a:t>
            </a:r>
          </a:p>
        </p:txBody>
      </p:sp>
      <p:sp>
        <p:nvSpPr>
          <p:cNvPr id="2" name="Text Retail Operations Platform   /   Inter">
            <a:extLst xmlns:a="http://schemas.openxmlformats.org/drawingml/2006/main">
              <a:ext uri="{FF2B5EF4-FFF2-40B4-BE49-F238E27FC236}">
                <a16:creationId xmlns:a16="http://schemas.microsoft.com/office/drawing/2014/main" id="{63B1AE13-5EC3-44FD-9804-16A236DBFDF8}"/>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133BB950-F773-451D-8DD6-2E3E6FFB0B03}"/>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F7BCDDDE-9089-4F62-BFB1-E94067F4FC63}"/>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Arsitektur sistem yang terintegrasi">
            <a:extLst xmlns:a="http://schemas.openxmlformats.org/drawingml/2006/main">
              <a:ext uri="{FF2B5EF4-FFF2-40B4-BE49-F238E27FC236}">
                <a16:creationId xmlns:a16="http://schemas.microsoft.com/office/drawing/2014/main" id="{EFADC2AD-7CA1-4B7B-9BFD-914A8CFE64EC}"/>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Arsitektur sistem yang terintegrasi</a:t>
            </a:r>
          </a:p>
        </p:txBody>
      </p:sp>
      <p:sp>
        <p:nvSpPr>
          <p:cNvPr id="6" name="Text Komponen operasional saat ini dan bata">
            <a:extLst xmlns:a="http://schemas.openxmlformats.org/drawingml/2006/main">
              <a:ext uri="{FF2B5EF4-FFF2-40B4-BE49-F238E27FC236}">
                <a16:creationId xmlns:a16="http://schemas.microsoft.com/office/drawing/2014/main" id="{B16BF149-9941-4BE0-BE54-150CF9FE3F81}"/>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Komponen operasional saat ini dan batas integrasi mendatang</a:t>
            </a:r>
          </a:p>
        </p:txBody>
      </p:sp>
      <p:sp>
        <p:nvSpPr>
          <p:cNvPr id="7" name="Diagram Retail Web&#10;React + Inertia">
            <a:extLst xmlns:a="http://schemas.openxmlformats.org/drawingml/2006/main">
              <a:ext uri="{FF2B5EF4-FFF2-40B4-BE49-F238E27FC236}">
                <a16:creationId xmlns:a16="http://schemas.microsoft.com/office/drawing/2014/main" id="{1D01D5FA-2A84-4924-BCFA-637A345B8818}"/>
              </a:ext>
            </a:extLst>
          </p:cNvPr>
          <p:cNvSpPr>
            <a:spLocks xmlns:a="http://schemas.openxmlformats.org/drawingml/2006/main" noGrp="1"/>
          </p:cNvSpPr>
          <p:nvPr/>
        </p:nvSpPr>
        <p:spPr>
          <a:xfrm xmlns:a="http://schemas.openxmlformats.org/drawingml/2006/main">
            <a:off x="762000" y="2667000"/>
            <a:ext cx="3095625" cy="904875"/>
          </a:xfrm>
          <a:prstGeom xmlns:a="http://schemas.openxmlformats.org/drawingml/2006/main" prst="roundRect">
            <a:avLst>
              <a:gd name="adj" fmla="val 8421"/>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Retail Web</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React + Inertia</a:t>
            </a:r>
          </a:p>
        </p:txBody>
      </p:sp>
      <p:sp>
        <p:nvSpPr>
          <p:cNvPr id="8" name="Diagram Staff Android&#10;React + Capacitor">
            <a:extLst xmlns:a="http://schemas.openxmlformats.org/drawingml/2006/main">
              <a:ext uri="{FF2B5EF4-FFF2-40B4-BE49-F238E27FC236}">
                <a16:creationId xmlns:a16="http://schemas.microsoft.com/office/drawing/2014/main" id="{52521AD3-9DF7-4BD3-8A82-F11FAEF6A545}"/>
              </a:ext>
            </a:extLst>
          </p:cNvPr>
          <p:cNvSpPr>
            <a:spLocks xmlns:a="http://schemas.openxmlformats.org/drawingml/2006/main" noGrp="1"/>
          </p:cNvSpPr>
          <p:nvPr/>
        </p:nvSpPr>
        <p:spPr>
          <a:xfrm xmlns:a="http://schemas.openxmlformats.org/drawingml/2006/main">
            <a:off x="4524375" y="2667000"/>
            <a:ext cx="3095625" cy="904875"/>
          </a:xfrm>
          <a:prstGeom xmlns:a="http://schemas.openxmlformats.org/drawingml/2006/main" prst="roundRect">
            <a:avLst>
              <a:gd name="adj" fmla="val 8421"/>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Staff Android</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React + Capacitor</a:t>
            </a:r>
          </a:p>
        </p:txBody>
      </p:sp>
      <p:sp>
        <p:nvSpPr>
          <p:cNvPr id="9" name="Diagram Laravel Backend&#10;aturan bisnis dan hak akses">
            <a:extLst xmlns:a="http://schemas.openxmlformats.org/drawingml/2006/main">
              <a:ext uri="{FF2B5EF4-FFF2-40B4-BE49-F238E27FC236}">
                <a16:creationId xmlns:a16="http://schemas.microsoft.com/office/drawing/2014/main" id="{AC921165-69DA-499E-9E55-3E0E99C70514}"/>
              </a:ext>
            </a:extLst>
          </p:cNvPr>
          <p:cNvSpPr>
            <a:spLocks xmlns:a="http://schemas.openxmlformats.org/drawingml/2006/main" noGrp="1"/>
          </p:cNvSpPr>
          <p:nvPr/>
        </p:nvSpPr>
        <p:spPr>
          <a:xfrm xmlns:a="http://schemas.openxmlformats.org/drawingml/2006/main">
            <a:off x="1905000" y="4381500"/>
            <a:ext cx="4572000" cy="1000125"/>
          </a:xfrm>
          <a:prstGeom xmlns:a="http://schemas.openxmlformats.org/drawingml/2006/main" prst="roundRect">
            <a:avLst>
              <a:gd name="adj" fmla="val 7619"/>
            </a:avLst>
          </a:prstGeom>
          <a:solidFill xmlns:a="http://schemas.openxmlformats.org/drawingml/2006/main">
            <a:srgbClr val="17336F"/>
          </a:solidFill>
          <a:ln xmlns:a="http://schemas.openxmlformats.org/drawingml/2006/main" w="0">
            <a:noFill/>
          </a:ln>
        </p:spPr>
        <p:txBody>
          <a:bodyPr xmlns:a="http://schemas.openxmlformats.org/drawingml/2006/main" lIns="152400" tIns="152400" rIns="152400" bIns="152400" anchor="ctr">
            <a:noAutofit/>
          </a:bodyPr>
          <a:lstStyle xmlns:a="http://schemas.openxmlformats.org/drawingml/2006/main">
            <a:defPPr algn="ctr">
              <a:defRPr sz="2175" b="1">
                <a:solidFill>
                  <a:srgbClr val="FFFFFF"/>
                </a:solidFill>
                <a:latin typeface="Arial"/>
                <a:ea typeface="Arial"/>
                <a:cs typeface="Arial"/>
              </a:defRPr>
            </a:defPPr>
          </a:lstStyle>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Laravel Backend</a:t>
            </a:r>
          </a:p>
          <a:p xmlns:a="http://schemas.openxmlformats.org/drawingml/2006/main">
            <a:pPr algn="ctr">
              <a:defRPr sz="2175" b="1">
                <a:solidFill>
                  <a:srgbClr val="FFFFFF"/>
                </a:solidFill>
                <a:latin typeface="Arial"/>
                <a:ea typeface="Arial"/>
                <a:cs typeface="Arial"/>
              </a:defRPr>
            </a:pPr>
            <a:r>
              <a:rPr sz="2175" b="1">
                <a:solidFill>
                  <a:srgbClr val="FFFFFF"/>
                </a:solidFill>
                <a:latin typeface="Arial"/>
                <a:ea typeface="Arial"/>
                <a:cs typeface="Arial"/>
              </a:rPr>
              <a:t>aturan bisnis dan hak akses</a:t>
            </a:r>
          </a:p>
        </p:txBody>
      </p:sp>
      <p:sp>
        <p:nvSpPr>
          <p:cNvPr id="12" name="Diagram Database + modul bisnis&#10;pickup, POP, handover, audit">
            <a:extLst xmlns:a="http://schemas.openxmlformats.org/drawingml/2006/main">
              <a:ext uri="{FF2B5EF4-FFF2-40B4-BE49-F238E27FC236}">
                <a16:creationId xmlns:a16="http://schemas.microsoft.com/office/drawing/2014/main" id="{0800E2CA-A49B-45D5-99A5-BF7B78432015}"/>
              </a:ext>
            </a:extLst>
          </p:cNvPr>
          <p:cNvSpPr>
            <a:spLocks xmlns:a="http://schemas.openxmlformats.org/drawingml/2006/main" noGrp="1"/>
          </p:cNvSpPr>
          <p:nvPr/>
        </p:nvSpPr>
        <p:spPr>
          <a:xfrm xmlns:a="http://schemas.openxmlformats.org/drawingml/2006/main">
            <a:off x="1905000" y="6191250"/>
            <a:ext cx="4572000" cy="952500"/>
          </a:xfrm>
          <a:prstGeom xmlns:a="http://schemas.openxmlformats.org/drawingml/2006/main" prst="roundRect">
            <a:avLst>
              <a:gd name="adj" fmla="val 8000"/>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Database + modul bisnis</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pickup, POP, handover, audit</a:t>
            </a:r>
          </a:p>
        </p:txBody>
      </p:sp>
      <p:sp>
        <p:nvSpPr>
          <p:cNvPr id="14" name="Diagram Firebase Cloud Messaging&#10;notifikasi assignment">
            <a:extLst xmlns:a="http://schemas.openxmlformats.org/drawingml/2006/main">
              <a:ext uri="{FF2B5EF4-FFF2-40B4-BE49-F238E27FC236}">
                <a16:creationId xmlns:a16="http://schemas.microsoft.com/office/drawing/2014/main" id="{24E97395-868A-4599-B75A-ADB6252633B6}"/>
              </a:ext>
            </a:extLst>
          </p:cNvPr>
          <p:cNvSpPr>
            <a:spLocks xmlns:a="http://schemas.openxmlformats.org/drawingml/2006/main" noGrp="1"/>
          </p:cNvSpPr>
          <p:nvPr/>
        </p:nvSpPr>
        <p:spPr>
          <a:xfrm xmlns:a="http://schemas.openxmlformats.org/drawingml/2006/main">
            <a:off x="9906000" y="2952750"/>
            <a:ext cx="4381500" cy="952500"/>
          </a:xfrm>
          <a:prstGeom xmlns:a="http://schemas.openxmlformats.org/drawingml/2006/main" prst="roundRect">
            <a:avLst>
              <a:gd name="adj" fmla="val 8000"/>
            </a:avLst>
          </a:prstGeom>
          <a:solidFill xmlns:a="http://schemas.openxmlformats.org/drawingml/2006/main">
            <a:srgbClr val="EEF3FA"/>
          </a:solidFill>
          <a:ln xmlns:a="http://schemas.openxmlformats.org/drawingml/2006/main" w="12383">
            <a:solidFill>
              <a:srgbClr val="D6DFEB"/>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17336F"/>
                </a:solidFill>
                <a:latin typeface="Arial"/>
                <a:ea typeface="Arial"/>
                <a:cs typeface="Arial"/>
              </a:defRPr>
            </a:defPPr>
          </a:lstStyle>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Firebase Cloud Messaging</a:t>
            </a:r>
          </a:p>
          <a:p xmlns:a="http://schemas.openxmlformats.org/drawingml/2006/main">
            <a:pPr algn="ctr">
              <a:defRPr sz="2025" b="1">
                <a:solidFill>
                  <a:srgbClr val="17336F"/>
                </a:solidFill>
                <a:latin typeface="Arial"/>
                <a:ea typeface="Arial"/>
                <a:cs typeface="Arial"/>
              </a:defRPr>
            </a:pPr>
            <a:r>
              <a:rPr sz="2025" b="1">
                <a:solidFill>
                  <a:srgbClr val="17336F"/>
                </a:solidFill>
                <a:latin typeface="Arial"/>
                <a:ea typeface="Arial"/>
                <a:cs typeface="Arial"/>
              </a:rPr>
              <a:t>notifikasi assignment</a:t>
            </a:r>
          </a:p>
        </p:txBody>
      </p:sp>
      <p:sp>
        <p:nvSpPr>
          <p:cNvPr id="17" name="Text Tersedia; delivery nyata APK terbaru b">
            <a:extLst xmlns:a="http://schemas.openxmlformats.org/drawingml/2006/main">
              <a:ext uri="{FF2B5EF4-FFF2-40B4-BE49-F238E27FC236}">
                <a16:creationId xmlns:a16="http://schemas.microsoft.com/office/drawing/2014/main" id="{F62CC3CE-C48C-42D0-991B-D8E88A6244E8}"/>
              </a:ext>
            </a:extLst>
          </p:cNvPr>
          <p:cNvSpPr>
            <a:spLocks xmlns:a="http://schemas.openxmlformats.org/drawingml/2006/main" noGrp="1"/>
          </p:cNvSpPr>
          <p:nvPr/>
        </p:nvSpPr>
        <p:spPr>
          <a:xfrm xmlns:a="http://schemas.openxmlformats.org/drawingml/2006/main">
            <a:off x="9620250" y="414337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65F12"/>
                </a:solidFill>
                <a:latin typeface="Arial"/>
                <a:ea typeface="Arial"/>
                <a:cs typeface="Arial"/>
              </a:defRPr>
            </a:defPPr>
          </a:lstStyle>
          <a:p xmlns:a="http://schemas.openxmlformats.org/drawingml/2006/main">
            <a:pPr algn="l">
              <a:defRPr sz="1575" b="0">
                <a:solidFill>
                  <a:srgbClr val="965F12"/>
                </a:solidFill>
                <a:latin typeface="Arial"/>
                <a:ea typeface="Arial"/>
                <a:cs typeface="Arial"/>
              </a:defRPr>
            </a:pPr>
            <a:r>
              <a:rPr sz="1575" b="0">
                <a:solidFill>
                  <a:srgbClr val="965F12"/>
                </a:solidFill>
                <a:latin typeface="Arial"/>
                <a:ea typeface="Arial"/>
                <a:cs typeface="Arial"/>
              </a:rPr>
              <a:t>Tersedia; delivery nyata APK terbaru belum UAT</a:t>
            </a:r>
          </a:p>
        </p:txBody>
      </p:sp>
      <p:sp>
        <p:nvSpPr>
          <p:cNvPr id="18" name="Diagram Rencana integrasi&#10;JNE Hybrid / ERP / kanal pelanggan">
            <a:extLst xmlns:a="http://schemas.openxmlformats.org/drawingml/2006/main">
              <a:ext uri="{FF2B5EF4-FFF2-40B4-BE49-F238E27FC236}">
                <a16:creationId xmlns:a16="http://schemas.microsoft.com/office/drawing/2014/main" id="{AC90D90A-A8A2-4DA6-993E-3E8FD624E456}"/>
              </a:ext>
            </a:extLst>
          </p:cNvPr>
          <p:cNvSpPr>
            <a:spLocks xmlns:a="http://schemas.openxmlformats.org/drawingml/2006/main" noGrp="1"/>
          </p:cNvSpPr>
          <p:nvPr/>
        </p:nvSpPr>
        <p:spPr>
          <a:xfrm xmlns:a="http://schemas.openxmlformats.org/drawingml/2006/main">
            <a:off x="9048750" y="6048375"/>
            <a:ext cx="5238750" cy="1095375"/>
          </a:xfrm>
          <a:prstGeom xmlns:a="http://schemas.openxmlformats.org/drawingml/2006/main" prst="roundRect">
            <a:avLst>
              <a:gd name="adj" fmla="val 6957"/>
            </a:avLst>
          </a:prstGeom>
          <a:solidFill xmlns:a="http://schemas.openxmlformats.org/drawingml/2006/main">
            <a:srgbClr val="FFF5E6"/>
          </a:solidFill>
          <a:ln xmlns:a="http://schemas.openxmlformats.org/drawingml/2006/main" w="12383">
            <a:solidFill>
              <a:srgbClr val="965F12"/>
            </a:solidFill>
          </a:ln>
        </p:spPr>
        <p:txBody>
          <a:bodyPr xmlns:a="http://schemas.openxmlformats.org/drawingml/2006/main" lIns="152400" tIns="152400" rIns="152400" bIns="152400" anchor="ctr">
            <a:noAutofit/>
          </a:bodyPr>
          <a:lstStyle xmlns:a="http://schemas.openxmlformats.org/drawingml/2006/main">
            <a:defPPr algn="ctr">
              <a:defRPr sz="2025" b="1">
                <a:solidFill>
                  <a:srgbClr val="965F12"/>
                </a:solidFill>
                <a:latin typeface="Arial"/>
                <a:ea typeface="Arial"/>
                <a:cs typeface="Arial"/>
              </a:defRPr>
            </a:defPPr>
          </a:lstStyle>
          <a:p xmlns:a="http://schemas.openxmlformats.org/drawingml/2006/main">
            <a:pPr algn="ctr">
              <a:defRPr sz="2025" b="1">
                <a:solidFill>
                  <a:srgbClr val="965F12"/>
                </a:solidFill>
                <a:latin typeface="Arial"/>
                <a:ea typeface="Arial"/>
                <a:cs typeface="Arial"/>
              </a:defRPr>
            </a:pPr>
            <a:r>
              <a:rPr sz="2025" b="1">
                <a:solidFill>
                  <a:srgbClr val="965F12"/>
                </a:solidFill>
                <a:latin typeface="Arial"/>
                <a:ea typeface="Arial"/>
                <a:cs typeface="Arial"/>
              </a:rPr>
              <a:t>Rencana integrasi</a:t>
            </a:r>
          </a:p>
          <a:p xmlns:a="http://schemas.openxmlformats.org/drawingml/2006/main">
            <a:pPr algn="ctr">
              <a:defRPr sz="2025" b="1">
                <a:solidFill>
                  <a:srgbClr val="965F12"/>
                </a:solidFill>
                <a:latin typeface="Arial"/>
                <a:ea typeface="Arial"/>
                <a:cs typeface="Arial"/>
              </a:defRPr>
            </a:pPr>
            <a:r>
              <a:rPr sz="2025" b="1">
                <a:solidFill>
                  <a:srgbClr val="965F12"/>
                </a:solidFill>
                <a:latin typeface="Arial"/>
                <a:ea typeface="Arial"/>
                <a:cs typeface="Arial"/>
              </a:rPr>
              <a:t>JNE Hybrid / ERP / kanal pelanggan</a:t>
            </a:r>
          </a:p>
        </p:txBody>
      </p:sp>
    </p:spTree>
    <p:extLst>
      <p:ext uri="{BB962C8B-B14F-4D97-AF65-F5344CB8AC3E}">
        <p14:creationId xmlns:p14="http://schemas.microsoft.com/office/powerpoint/2010/main" val="140652308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 13">
            <a:extLst xmlns:a="http://schemas.openxmlformats.org/drawingml/2006/main">
              <a:ext uri="{FF2B5EF4-FFF2-40B4-BE49-F238E27FC236}">
                <a16:creationId xmlns:a16="http://schemas.microsoft.com/office/drawing/2014/main" id="{CA0945B9-B099-4BE8-B9BF-52897A093D4B}"/>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13</a:t>
            </a:r>
          </a:p>
        </p:txBody>
      </p:sp>
      <p:sp>
        <p:nvSpPr>
          <p:cNvPr id="2" name="Text Retail Operations Platform   /   Inter">
            <a:extLst xmlns:a="http://schemas.openxmlformats.org/drawingml/2006/main">
              <a:ext uri="{FF2B5EF4-FFF2-40B4-BE49-F238E27FC236}">
                <a16:creationId xmlns:a16="http://schemas.microsoft.com/office/drawing/2014/main" id="{E199E9BE-C03E-4FF2-A0B7-A445DCE66C4D}"/>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0BFBFA9F-E1D0-4234-B0E8-5BFCC74718F9}"/>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81EE61D2-8E34-4463-B68C-0C192C6EC218}"/>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Status implementasi dan kesiapan opera">
            <a:extLst xmlns:a="http://schemas.openxmlformats.org/drawingml/2006/main">
              <a:ext uri="{FF2B5EF4-FFF2-40B4-BE49-F238E27FC236}">
                <a16:creationId xmlns:a16="http://schemas.microsoft.com/office/drawing/2014/main" id="{F66A5458-6CA3-49DC-AC9C-6EE8BCEAA75B}"/>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Status implementasi dan kesiapan operasional</a:t>
            </a:r>
          </a:p>
        </p:txBody>
      </p:sp>
      <p:sp>
        <p:nvSpPr>
          <p:cNvPr id="6" name="Text Verifikasi teknis tidak menggantikan U">
            <a:extLst xmlns:a="http://schemas.openxmlformats.org/drawingml/2006/main">
              <a:ext uri="{FF2B5EF4-FFF2-40B4-BE49-F238E27FC236}">
                <a16:creationId xmlns:a16="http://schemas.microsoft.com/office/drawing/2014/main" id="{5EA7234B-18FD-47B8-ADBA-207D488B7C6D}"/>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Verifikasi teknis tidak menggantikan UAT dan persetujuan rilis</a:t>
            </a:r>
          </a:p>
        </p:txBody>
      </p:sp>
      <p:graphicFrame>
        <p:nvGraphicFramePr>
          <p:cNvPr id="7" name="">
            <a:extLst xmlns:a="http://schemas.openxmlformats.org/drawingml/2006/main">
              <a:ext uri="{FF2B5EF4-FFF2-40B4-BE49-F238E27FC236}">
                <a16:creationId xmlns:a16="http://schemas.microsoft.com/office/drawing/2014/main" id="{792F382A-9241-4CD9-886A-880A3003136E}"/>
              </a:ext>
            </a:extLst>
          </p:cNvPr>
          <p:cNvGraphicFramePr/>
          <p:nvPr/>
        </p:nvGraphicFramePr>
        <p:xfrm>
          <a:off xmlns:a="http://schemas.openxmlformats.org/drawingml/2006/main" x="762000" y="2476500"/>
          <a:ext xmlns:a="http://schemas.openxmlformats.org/drawingml/2006/main" cx="13716000" cy="3429000"/>
        </p:xfrm>
        <a:graphic xmlns:a="http://schemas.openxmlformats.org/drawingml/2006/main">
          <a:graphicData uri="http://schemas.openxmlformats.org/drawingml/2006/table">
            <a:tbl>
              <a:tblPr/>
              <a:tblGrid>
                <a:gridCol w="2857500"/>
                <a:gridCol w="4667250"/>
                <a:gridCol w="6191250"/>
              </a:tblGrid>
              <a:tr h="685800">
                <a:tc>
                  <a:txBody>
                    <a:bodyPr lIns="171450" tIns="133350" rIns="152400" bIns="95250"/>
                    <a:lstStyle/>
                    <a:p>
                      <a:r>
                        <a:rPr sz="1800" b="1">
                          <a:solidFill>
                            <a:srgbClr val="FFFFFF"/>
                          </a:solidFill>
                          <a:latin typeface="Arial"/>
                          <a:ea typeface="Arial"/>
                          <a:cs typeface="Arial"/>
                        </a:rPr>
                        <a:t>Kategori</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c>
                  <a:txBody>
                    <a:bodyPr lIns="171450" tIns="133350" rIns="152400" bIns="95250"/>
                    <a:lstStyle/>
                    <a:p>
                      <a:r>
                        <a:rPr sz="1800" b="1">
                          <a:solidFill>
                            <a:srgbClr val="FFFFFF"/>
                          </a:solidFill>
                          <a:latin typeface="Arial"/>
                          <a:ea typeface="Arial"/>
                          <a:cs typeface="Arial"/>
                        </a:rPr>
                        <a:t>Area</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c>
                  <a:txBody>
                    <a:bodyPr lIns="171450" tIns="133350" rIns="152400" bIns="95250"/>
                    <a:lstStyle/>
                    <a:p>
                      <a:r>
                        <a:rPr sz="1800" b="1">
                          <a:solidFill>
                            <a:srgbClr val="FFFFFF"/>
                          </a:solidFill>
                          <a:latin typeface="Arial"/>
                          <a:ea typeface="Arial"/>
                          <a:cs typeface="Arial"/>
                        </a:rPr>
                        <a:t>Batas bukti saat ini</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r>
              <a:tr h="685800">
                <a:tc>
                  <a:txBody>
                    <a:bodyPr lIns="171450" tIns="133350" rIns="152400" bIns="95250"/>
                    <a:lstStyle/>
                    <a:p>
                      <a:r>
                        <a:rPr sz="1875" b="0">
                          <a:solidFill>
                            <a:srgbClr val="15243B"/>
                          </a:solidFill>
                          <a:latin typeface="Arial"/>
                          <a:ea typeface="Arial"/>
                          <a:cs typeface="Arial"/>
                        </a:rPr>
                        <a:t>Terverifikasi teknis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Alur pickup, POP, handover Android</a:t>
                      </a:r>
                    </a:p>
                  </a:txBody>
                  <a:tcPr marL="91440" marR="91440" marT="45720" marB="45720">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Kode, uji otomatis, dan skenario emulator tercatat</a:t>
                      </a:r>
                    </a:p>
                  </a:txBody>
                  <a:tcPr marL="91440" marR="91440" marT="45720" marB="45720">
                    <a:lnR w="9525">
                      <a:solidFill>
                        <a:srgbClr val="FFFFFF"/>
                      </a:solidFill>
                      <a:prstDash val="solid"/>
                    </a:lnR>
                    <a:lnB w="9525">
                      <a:solidFill>
                        <a:srgbClr val="FFFFFF"/>
                      </a:solidFill>
                      <a:prstDash val="solid"/>
                    </a:lnB>
                    <a:solidFill>
                      <a:srgbClr val="EEF3FA"/>
                    </a:solidFill>
                  </a:tcPr>
                </a:tc>
              </a:tr>
              <a:tr h="685800">
                <a:tc>
                  <a:txBody>
                    <a:bodyPr lIns="171450" tIns="133350" rIns="152400" bIns="95250"/>
                    <a:lstStyle/>
                    <a:p>
                      <a:r>
                        <a:rPr sz="1875" b="0">
                          <a:solidFill>
                            <a:srgbClr val="15243B"/>
                          </a:solidFill>
                          <a:latin typeface="Arial"/>
                          <a:ea typeface="Arial"/>
                          <a:cs typeface="Arial"/>
                        </a:rPr>
                        <a:t>Implementasi tersedia</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Customer web, assignment massal, tes push Admin</a:t>
                      </a:r>
                    </a:p>
                  </a:txBody>
                  <a:tcPr marL="91440" marR="91440" marT="45720" marB="45720">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Uji otomatis tercatat. UAT browser aktual belum selesai</a:t>
                      </a:r>
                    </a:p>
                  </a:txBody>
                  <a:tcPr marL="91440" marR="91440" marT="45720" marB="45720">
                    <a:lnR w="9525">
                      <a:solidFill>
                        <a:srgbClr val="FFFFFF"/>
                      </a:solidFill>
                      <a:prstDash val="solid"/>
                    </a:lnR>
                    <a:lnB w="9525">
                      <a:solidFill>
                        <a:srgbClr val="FFFFFF"/>
                      </a:solidFill>
                      <a:prstDash val="solid"/>
                    </a:lnB>
                    <a:solidFill>
                      <a:srgbClr val="FFFFFF"/>
                    </a:solidFill>
                  </a:tcPr>
                </a:tc>
              </a:tr>
              <a:tr h="685800">
                <a:tc>
                  <a:txBody>
                    <a:bodyPr lIns="171450" tIns="133350" rIns="152400" bIns="95250"/>
                    <a:lstStyle/>
                    <a:p>
                      <a:r>
                        <a:rPr sz="1875" b="0">
                          <a:solidFill>
                            <a:srgbClr val="15243B"/>
                          </a:solidFill>
                          <a:latin typeface="Arial"/>
                          <a:ea typeface="Arial"/>
                          <a:cs typeface="Arial"/>
                        </a:rPr>
                        <a:t>Implementasi tersedia</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FCM assignment dan tes notifikasi</a:t>
                      </a:r>
                    </a:p>
                  </a:txBody>
                  <a:tcPr marL="91440" marR="91440" marT="45720" marB="45720">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Transport diuji dengan mock. Delivery nyata belum UAT</a:t>
                      </a:r>
                    </a:p>
                  </a:txBody>
                  <a:tcPr marL="91440" marR="91440" marT="45720" marB="45720">
                    <a:lnR w="9525">
                      <a:solidFill>
                        <a:srgbClr val="FFFFFF"/>
                      </a:solidFill>
                      <a:prstDash val="solid"/>
                    </a:lnR>
                    <a:lnB w="9525">
                      <a:solidFill>
                        <a:srgbClr val="FFFFFF"/>
                      </a:solidFill>
                      <a:prstDash val="solid"/>
                    </a:lnB>
                    <a:solidFill>
                      <a:srgbClr val="EEF3FA"/>
                    </a:solidFill>
                  </a:tcPr>
                </a:tc>
              </a:tr>
              <a:tr h="685800">
                <a:tc>
                  <a:txBody>
                    <a:bodyPr lIns="171450" tIns="133350" rIns="152400" bIns="95250"/>
                    <a:lstStyle/>
                    <a:p>
                      <a:r>
                        <a:rPr sz="1875" b="0">
                          <a:solidFill>
                            <a:srgbClr val="15243B"/>
                          </a:solidFill>
                          <a:latin typeface="Arial"/>
                          <a:ea typeface="Arial"/>
                          <a:cs typeface="Arial"/>
                        </a:rPr>
                        <a:t>Rencana / konsep</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Analitik, cashless HO, AWB, portal, fleet</a:t>
                      </a:r>
                    </a:p>
                  </a:txBody>
                  <a:tcPr marL="91440" marR="91440" marT="45720" marB="45720">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Belum menjadi integrasi produksi</a:t>
                      </a:r>
                    </a:p>
                  </a:txBody>
                  <a:tcPr marL="91440" marR="91440" marT="45720" marB="45720">
                    <a:lnR w="9525">
                      <a:solidFill>
                        <a:srgbClr val="FFFFFF"/>
                      </a:solidFill>
                      <a:prstDash val="solid"/>
                    </a:lnR>
                    <a:lnB w="9525">
                      <a:solidFill>
                        <a:srgbClr val="FFFFFF"/>
                      </a:solidFill>
                      <a:prstDash val="solid"/>
                    </a:lnB>
                    <a:solidFill>
                      <a:srgbClr val="FFFFFF"/>
                    </a:solidFill>
                  </a:tcPr>
                </a:tc>
              </a:tr>
            </a:tbl>
          </a:graphicData>
        </a:graphic>
      </p:graphicFrame>
      <p:sp>
        <p:nvSpPr>
          <p:cNvPr id="8" name="Text BELUM SIAP PILOT">
            <a:extLst xmlns:a="http://schemas.openxmlformats.org/drawingml/2006/main">
              <a:ext uri="{FF2B5EF4-FFF2-40B4-BE49-F238E27FC236}">
                <a16:creationId xmlns:a16="http://schemas.microsoft.com/office/drawing/2014/main" id="{CEB24021-E034-4731-8441-6C3BECF46261}"/>
              </a:ext>
            </a:extLst>
          </p:cNvPr>
          <p:cNvSpPr>
            <a:spLocks xmlns:a="http://schemas.openxmlformats.org/drawingml/2006/main" noGrp="1"/>
          </p:cNvSpPr>
          <p:nvPr/>
        </p:nvSpPr>
        <p:spPr>
          <a:xfrm xmlns:a="http://schemas.openxmlformats.org/drawingml/2006/main">
            <a:off x="762000" y="623887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DF2335"/>
                </a:solidFill>
                <a:latin typeface="Arial"/>
                <a:ea typeface="Arial"/>
                <a:cs typeface="Arial"/>
              </a:defRPr>
            </a:defPPr>
          </a:lstStyle>
          <a:p xmlns:a="http://schemas.openxmlformats.org/drawingml/2006/main">
            <a:pPr algn="l">
              <a:defRPr sz="2625" b="1">
                <a:solidFill>
                  <a:srgbClr val="DF2335"/>
                </a:solidFill>
                <a:latin typeface="Arial"/>
                <a:ea typeface="Arial"/>
                <a:cs typeface="Arial"/>
              </a:defRPr>
            </a:pPr>
            <a:r>
              <a:rPr sz="2625" b="1">
                <a:solidFill>
                  <a:srgbClr val="DF2335"/>
                </a:solidFill>
                <a:latin typeface="Arial"/>
                <a:ea typeface="Arial"/>
                <a:cs typeface="Arial"/>
              </a:rPr>
              <a:t>BELUM SIAP PILOT</a:t>
            </a:r>
          </a:p>
        </p:txBody>
      </p:sp>
      <p:sp>
        <p:nvSpPr>
          <p:cNvPr id="9" name="Text UAT perangkat fisik, signing, HTTPS, d">
            <a:extLst xmlns:a="http://schemas.openxmlformats.org/drawingml/2006/main">
              <a:ext uri="{FF2B5EF4-FFF2-40B4-BE49-F238E27FC236}">
                <a16:creationId xmlns:a16="http://schemas.microsoft.com/office/drawing/2014/main" id="{6F759C80-EB1F-4B18-8CA6-339B6893BF7C}"/>
              </a:ext>
            </a:extLst>
          </p:cNvPr>
          <p:cNvSpPr>
            <a:spLocks xmlns:a="http://schemas.openxmlformats.org/drawingml/2006/main" noGrp="1"/>
          </p:cNvSpPr>
          <p:nvPr/>
        </p:nvSpPr>
        <p:spPr>
          <a:xfrm xmlns:a="http://schemas.openxmlformats.org/drawingml/2006/main">
            <a:off x="6191250" y="6172200"/>
            <a:ext cx="8143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243B"/>
                </a:solidFill>
                <a:latin typeface="Arial"/>
                <a:ea typeface="Arial"/>
                <a:cs typeface="Arial"/>
              </a:defRPr>
            </a:defPPr>
          </a:lstStyle>
          <a:p xmlns:a="http://schemas.openxmlformats.org/drawingml/2006/main">
            <a:pPr algn="l">
              <a:defRPr sz="2100" b="0">
                <a:solidFill>
                  <a:srgbClr val="15243B"/>
                </a:solidFill>
                <a:latin typeface="Arial"/>
                <a:ea typeface="Arial"/>
                <a:cs typeface="Arial"/>
              </a:defRPr>
            </a:pPr>
            <a:r>
              <a:rPr sz="2100" b="0">
                <a:solidFill>
                  <a:srgbClr val="15243B"/>
                </a:solidFill>
                <a:latin typeface="Arial"/>
                <a:ea typeface="Arial"/>
                <a:cs typeface="Arial"/>
              </a:rPr>
              <a:t>UAT perangkat fisik, signing, HTTPS, distribusi,</a:t>
            </a:r>
          </a:p>
          <a:p xmlns:a="http://schemas.openxmlformats.org/drawingml/2006/main">
            <a:pPr algn="l">
              <a:defRPr sz="2100" b="0">
                <a:solidFill>
                  <a:srgbClr val="15243B"/>
                </a:solidFill>
                <a:latin typeface="Arial"/>
                <a:ea typeface="Arial"/>
                <a:cs typeface="Arial"/>
              </a:defRPr>
            </a:pPr>
            <a:r>
              <a:rPr sz="2100" b="0">
                <a:solidFill>
                  <a:srgbClr val="15243B"/>
                </a:solidFill>
                <a:latin typeface="Arial"/>
                <a:ea typeface="Arial"/>
                <a:cs typeface="Arial"/>
              </a:rPr>
              <a:t>dan penanggung jawab dukungan masih terbuka.</a:t>
            </a:r>
          </a:p>
        </p:txBody>
      </p:sp>
      <p:sp>
        <p:nvSpPr>
          <p:cNvPr id="10" name="Text Aturan terbaru menggantikan baseline l">
            <a:extLst xmlns:a="http://schemas.openxmlformats.org/drawingml/2006/main">
              <a:ext uri="{FF2B5EF4-FFF2-40B4-BE49-F238E27FC236}">
                <a16:creationId xmlns:a16="http://schemas.microsoft.com/office/drawing/2014/main" id="{E404CA33-4774-4E0E-BAD8-5968554FC01A}"/>
              </a:ext>
            </a:extLst>
          </p:cNvPr>
          <p:cNvSpPr>
            <a:spLocks xmlns:a="http://schemas.openxmlformats.org/drawingml/2006/main" noGrp="1"/>
          </p:cNvSpPr>
          <p:nvPr/>
        </p:nvSpPr>
        <p:spPr>
          <a:xfrm xmlns:a="http://schemas.openxmlformats.org/drawingml/2006/main">
            <a:off x="762000" y="7143750"/>
            <a:ext cx="1371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D6C82"/>
                </a:solidFill>
                <a:latin typeface="Arial"/>
                <a:ea typeface="Arial"/>
                <a:cs typeface="Arial"/>
              </a:defRPr>
            </a:defPPr>
          </a:lstStyle>
          <a:p xmlns:a="http://schemas.openxmlformats.org/drawingml/2006/main">
            <a:pPr algn="l">
              <a:defRPr sz="1425" b="0">
                <a:solidFill>
                  <a:srgbClr val="5D6C82"/>
                </a:solidFill>
                <a:latin typeface="Arial"/>
                <a:ea typeface="Arial"/>
                <a:cs typeface="Arial"/>
              </a:defRPr>
            </a:pPr>
            <a:r>
              <a:rPr sz="1425" b="0">
                <a:solidFill>
                  <a:srgbClr val="5D6C82"/>
                </a:solidFill>
                <a:latin typeface="Arial"/>
                <a:ea typeface="Arial"/>
                <a:cs typeface="Arial"/>
              </a:rPr>
              <a:t>Aturan terbaru menggantikan baseline lama: Tanpa Paket menutup tugas; mobile mendukung verifikasi dan penutupan.</a:t>
            </a:r>
          </a:p>
        </p:txBody>
      </p:sp>
    </p:spTree>
    <p:extLst>
      <p:ext uri="{BB962C8B-B14F-4D97-AF65-F5344CB8AC3E}">
        <p14:creationId xmlns:p14="http://schemas.microsoft.com/office/powerpoint/2010/main" val="12804191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ext 14">
            <a:extLst xmlns:a="http://schemas.openxmlformats.org/drawingml/2006/main">
              <a:ext uri="{FF2B5EF4-FFF2-40B4-BE49-F238E27FC236}">
                <a16:creationId xmlns:a16="http://schemas.microsoft.com/office/drawing/2014/main" id="{98582AB0-F169-4C14-B3F8-EAF0EEFC0409}"/>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14</a:t>
            </a:r>
          </a:p>
        </p:txBody>
      </p:sp>
      <p:sp>
        <p:nvSpPr>
          <p:cNvPr id="2" name="Text Retail Operations Platform   /   Inter">
            <a:extLst xmlns:a="http://schemas.openxmlformats.org/drawingml/2006/main">
              <a:ext uri="{FF2B5EF4-FFF2-40B4-BE49-F238E27FC236}">
                <a16:creationId xmlns:a16="http://schemas.microsoft.com/office/drawing/2014/main" id="{04CCF15E-41A7-4894-9C47-54219138A099}"/>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33590B1B-17A0-4063-8866-0E8A0CB4E4A2}"/>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EB40C552-95E5-4452-B274-B0F5EE6BABCE}"/>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Manfaat bisnis yang diharapkan">
            <a:extLst xmlns:a="http://schemas.openxmlformats.org/drawingml/2006/main">
              <a:ext uri="{FF2B5EF4-FFF2-40B4-BE49-F238E27FC236}">
                <a16:creationId xmlns:a16="http://schemas.microsoft.com/office/drawing/2014/main" id="{B54FB750-F0BE-4B8B-A606-D893138C3532}"/>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Manfaat bisnis yang diharapkan</a:t>
            </a:r>
          </a:p>
        </p:txBody>
      </p:sp>
      <p:sp>
        <p:nvSpPr>
          <p:cNvPr id="6" name="Text Hipotesis manfaat yang perlu dibuktika">
            <a:extLst xmlns:a="http://schemas.openxmlformats.org/drawingml/2006/main">
              <a:ext uri="{FF2B5EF4-FFF2-40B4-BE49-F238E27FC236}">
                <a16:creationId xmlns:a16="http://schemas.microsoft.com/office/drawing/2014/main" id="{09C00680-20A1-4F25-9DA4-E51CD52C0BDD}"/>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Hipotesis manfaat yang perlu dibuktikan melalui UAT dan pilot</a:t>
            </a:r>
          </a:p>
        </p:txBody>
      </p:sp>
      <p:sp>
        <p:nvSpPr>
          <p:cNvPr id="7" name="Text 01">
            <a:extLst xmlns:a="http://schemas.openxmlformats.org/drawingml/2006/main">
              <a:ext uri="{FF2B5EF4-FFF2-40B4-BE49-F238E27FC236}">
                <a16:creationId xmlns:a16="http://schemas.microsoft.com/office/drawing/2014/main" id="{6B6A0F36-6ABE-431B-9C7B-1CA503515537}"/>
              </a:ext>
            </a:extLst>
          </p:cNvPr>
          <p:cNvSpPr>
            <a:spLocks xmlns:a="http://schemas.openxmlformats.org/drawingml/2006/main" noGrp="1"/>
          </p:cNvSpPr>
          <p:nvPr/>
        </p:nvSpPr>
        <p:spPr>
          <a:xfrm xmlns:a="http://schemas.openxmlformats.org/drawingml/2006/main">
            <a:off x="762000" y="27146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DF2335"/>
                </a:solidFill>
                <a:latin typeface="Arial"/>
                <a:ea typeface="Arial"/>
                <a:cs typeface="Arial"/>
              </a:defRPr>
            </a:defPPr>
          </a:lstStyle>
          <a:p xmlns:a="http://schemas.openxmlformats.org/drawingml/2006/main">
            <a:pPr algn="l">
              <a:defRPr sz="2925" b="1">
                <a:solidFill>
                  <a:srgbClr val="DF2335"/>
                </a:solidFill>
                <a:latin typeface="Arial"/>
                <a:ea typeface="Arial"/>
                <a:cs typeface="Arial"/>
              </a:defRPr>
            </a:pPr>
            <a:r>
              <a:rPr sz="2925" b="1">
                <a:solidFill>
                  <a:srgbClr val="DF2335"/>
                </a:solidFill>
                <a:latin typeface="Arial"/>
                <a:ea typeface="Arial"/>
                <a:cs typeface="Arial"/>
              </a:rPr>
              <a:t>01</a:t>
            </a:r>
          </a:p>
        </p:txBody>
      </p:sp>
      <p:sp>
        <p:nvSpPr>
          <p:cNvPr id="8" name="Text Koordinasi tugas lebih jelas">
            <a:extLst xmlns:a="http://schemas.openxmlformats.org/drawingml/2006/main">
              <a:ext uri="{FF2B5EF4-FFF2-40B4-BE49-F238E27FC236}">
                <a16:creationId xmlns:a16="http://schemas.microsoft.com/office/drawing/2014/main" id="{12F98874-B946-4C76-B495-FC3E27A53856}"/>
              </a:ext>
            </a:extLst>
          </p:cNvPr>
          <p:cNvSpPr>
            <a:spLocks xmlns:a="http://schemas.openxmlformats.org/drawingml/2006/main" noGrp="1"/>
          </p:cNvSpPr>
          <p:nvPr/>
        </p:nvSpPr>
        <p:spPr>
          <a:xfrm xmlns:a="http://schemas.openxmlformats.org/drawingml/2006/main">
            <a:off x="1809750" y="2714625"/>
            <a:ext cx="1247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336F"/>
                </a:solidFill>
                <a:latin typeface="Arial"/>
                <a:ea typeface="Arial"/>
                <a:cs typeface="Arial"/>
              </a:defRPr>
            </a:defPPr>
          </a:lstStyle>
          <a:p xmlns:a="http://schemas.openxmlformats.org/drawingml/2006/main">
            <a:pPr algn="l">
              <a:defRPr sz="2475" b="1">
                <a:solidFill>
                  <a:srgbClr val="17336F"/>
                </a:solidFill>
                <a:latin typeface="Arial"/>
                <a:ea typeface="Arial"/>
                <a:cs typeface="Arial"/>
              </a:defRPr>
            </a:pPr>
            <a:r>
              <a:rPr sz="2475" b="1">
                <a:solidFill>
                  <a:srgbClr val="17336F"/>
                </a:solidFill>
                <a:latin typeface="Arial"/>
                <a:ea typeface="Arial"/>
                <a:cs typeface="Arial"/>
              </a:rPr>
              <a:t>Koordinasi tugas lebih jelas</a:t>
            </a:r>
          </a:p>
        </p:txBody>
      </p:sp>
      <p:sp>
        <p:nvSpPr>
          <p:cNvPr id="9" name="Text Penanggung jawab, jadwal, dan status b">
            <a:extLst xmlns:a="http://schemas.openxmlformats.org/drawingml/2006/main">
              <a:ext uri="{FF2B5EF4-FFF2-40B4-BE49-F238E27FC236}">
                <a16:creationId xmlns:a16="http://schemas.microsoft.com/office/drawing/2014/main" id="{C233AE1F-E2F5-46DF-B9F5-043C75FE6F7E}"/>
              </a:ext>
            </a:extLst>
          </p:cNvPr>
          <p:cNvSpPr>
            <a:spLocks xmlns:a="http://schemas.openxmlformats.org/drawingml/2006/main" noGrp="1"/>
          </p:cNvSpPr>
          <p:nvPr/>
        </p:nvSpPr>
        <p:spPr>
          <a:xfrm xmlns:a="http://schemas.openxmlformats.org/drawingml/2006/main">
            <a:off x="1809750" y="3219450"/>
            <a:ext cx="1228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82"/>
                </a:solidFill>
                <a:latin typeface="Arial"/>
                <a:ea typeface="Arial"/>
                <a:cs typeface="Arial"/>
              </a:defRPr>
            </a:defPPr>
          </a:lstStyle>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Penanggung jawab, jadwal, dan status berada pada satu alur.</a:t>
            </a:r>
          </a:p>
        </p:txBody>
      </p:sp>
      <p:sp>
        <p:nvSpPr>
          <p:cNvPr id="10" name="Text 02">
            <a:extLst xmlns:a="http://schemas.openxmlformats.org/drawingml/2006/main">
              <a:ext uri="{FF2B5EF4-FFF2-40B4-BE49-F238E27FC236}">
                <a16:creationId xmlns:a16="http://schemas.microsoft.com/office/drawing/2014/main" id="{A0352A29-AA79-4A73-9DF0-6130930A4BF4}"/>
              </a:ext>
            </a:extLst>
          </p:cNvPr>
          <p:cNvSpPr>
            <a:spLocks xmlns:a="http://schemas.openxmlformats.org/drawingml/2006/main" noGrp="1"/>
          </p:cNvSpPr>
          <p:nvPr/>
        </p:nvSpPr>
        <p:spPr>
          <a:xfrm xmlns:a="http://schemas.openxmlformats.org/drawingml/2006/main">
            <a:off x="762000" y="38195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DF2335"/>
                </a:solidFill>
                <a:latin typeface="Arial"/>
                <a:ea typeface="Arial"/>
                <a:cs typeface="Arial"/>
              </a:defRPr>
            </a:defPPr>
          </a:lstStyle>
          <a:p xmlns:a="http://schemas.openxmlformats.org/drawingml/2006/main">
            <a:pPr algn="l">
              <a:defRPr sz="2925" b="1">
                <a:solidFill>
                  <a:srgbClr val="DF2335"/>
                </a:solidFill>
                <a:latin typeface="Arial"/>
                <a:ea typeface="Arial"/>
                <a:cs typeface="Arial"/>
              </a:defRPr>
            </a:pPr>
            <a:r>
              <a:rPr sz="2925" b="1">
                <a:solidFill>
                  <a:srgbClr val="DF2335"/>
                </a:solidFill>
                <a:latin typeface="Arial"/>
                <a:ea typeface="Arial"/>
                <a:cs typeface="Arial"/>
              </a:rPr>
              <a:t>02</a:t>
            </a:r>
          </a:p>
        </p:txBody>
      </p:sp>
      <p:sp>
        <p:nvSpPr>
          <p:cNvPr id="11" name="Text Pencatatan lapangan lebih konsisten">
            <a:extLst xmlns:a="http://schemas.openxmlformats.org/drawingml/2006/main">
              <a:ext uri="{FF2B5EF4-FFF2-40B4-BE49-F238E27FC236}">
                <a16:creationId xmlns:a16="http://schemas.microsoft.com/office/drawing/2014/main" id="{E7D3D6FD-3CD2-4C61-A11F-FCD3DF741C1E}"/>
              </a:ext>
            </a:extLst>
          </p:cNvPr>
          <p:cNvSpPr>
            <a:spLocks xmlns:a="http://schemas.openxmlformats.org/drawingml/2006/main" noGrp="1"/>
          </p:cNvSpPr>
          <p:nvPr/>
        </p:nvSpPr>
        <p:spPr>
          <a:xfrm xmlns:a="http://schemas.openxmlformats.org/drawingml/2006/main">
            <a:off x="1809750" y="3819525"/>
            <a:ext cx="1247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336F"/>
                </a:solidFill>
                <a:latin typeface="Arial"/>
                <a:ea typeface="Arial"/>
                <a:cs typeface="Arial"/>
              </a:defRPr>
            </a:defPPr>
          </a:lstStyle>
          <a:p xmlns:a="http://schemas.openxmlformats.org/drawingml/2006/main">
            <a:pPr algn="l">
              <a:defRPr sz="2475" b="1">
                <a:solidFill>
                  <a:srgbClr val="17336F"/>
                </a:solidFill>
                <a:latin typeface="Arial"/>
                <a:ea typeface="Arial"/>
                <a:cs typeface="Arial"/>
              </a:defRPr>
            </a:pPr>
            <a:r>
              <a:rPr sz="2475" b="1">
                <a:solidFill>
                  <a:srgbClr val="17336F"/>
                </a:solidFill>
                <a:latin typeface="Arial"/>
                <a:ea typeface="Arial"/>
                <a:cs typeface="Arial"/>
              </a:rPr>
              <a:t>Pencatatan lapangan lebih konsisten</a:t>
            </a:r>
          </a:p>
        </p:txBody>
      </p:sp>
      <p:sp>
        <p:nvSpPr>
          <p:cNvPr id="12" name="Text Petugas mengikuti langkah dan validasi">
            <a:extLst xmlns:a="http://schemas.openxmlformats.org/drawingml/2006/main">
              <a:ext uri="{FF2B5EF4-FFF2-40B4-BE49-F238E27FC236}">
                <a16:creationId xmlns:a16="http://schemas.microsoft.com/office/drawing/2014/main" id="{DFF17CD0-62F7-48D0-B80E-5C697554B598}"/>
              </a:ext>
            </a:extLst>
          </p:cNvPr>
          <p:cNvSpPr>
            <a:spLocks xmlns:a="http://schemas.openxmlformats.org/drawingml/2006/main" noGrp="1"/>
          </p:cNvSpPr>
          <p:nvPr/>
        </p:nvSpPr>
        <p:spPr>
          <a:xfrm xmlns:a="http://schemas.openxmlformats.org/drawingml/2006/main">
            <a:off x="1809750" y="4324350"/>
            <a:ext cx="1228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82"/>
                </a:solidFill>
                <a:latin typeface="Arial"/>
                <a:ea typeface="Arial"/>
                <a:cs typeface="Arial"/>
              </a:defRPr>
            </a:defPPr>
          </a:lstStyle>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Petugas mengikuti langkah dan validasi yang sama.</a:t>
            </a:r>
          </a:p>
        </p:txBody>
      </p:sp>
      <p:sp>
        <p:nvSpPr>
          <p:cNvPr id="13" name="Text 03">
            <a:extLst xmlns:a="http://schemas.openxmlformats.org/drawingml/2006/main">
              <a:ext uri="{FF2B5EF4-FFF2-40B4-BE49-F238E27FC236}">
                <a16:creationId xmlns:a16="http://schemas.microsoft.com/office/drawing/2014/main" id="{6F407E99-8DF6-4AD8-944C-8A12ED94CE18}"/>
              </a:ext>
            </a:extLst>
          </p:cNvPr>
          <p:cNvSpPr>
            <a:spLocks xmlns:a="http://schemas.openxmlformats.org/drawingml/2006/main" noGrp="1"/>
          </p:cNvSpPr>
          <p:nvPr/>
        </p:nvSpPr>
        <p:spPr>
          <a:xfrm xmlns:a="http://schemas.openxmlformats.org/drawingml/2006/main">
            <a:off x="762000" y="49244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DF2335"/>
                </a:solidFill>
                <a:latin typeface="Arial"/>
                <a:ea typeface="Arial"/>
                <a:cs typeface="Arial"/>
              </a:defRPr>
            </a:defPPr>
          </a:lstStyle>
          <a:p xmlns:a="http://schemas.openxmlformats.org/drawingml/2006/main">
            <a:pPr algn="l">
              <a:defRPr sz="2925" b="1">
                <a:solidFill>
                  <a:srgbClr val="DF2335"/>
                </a:solidFill>
                <a:latin typeface="Arial"/>
                <a:ea typeface="Arial"/>
                <a:cs typeface="Arial"/>
              </a:defRPr>
            </a:pPr>
            <a:r>
              <a:rPr sz="2925" b="1">
                <a:solidFill>
                  <a:srgbClr val="DF2335"/>
                </a:solidFill>
                <a:latin typeface="Arial"/>
                <a:ea typeface="Arial"/>
                <a:cs typeface="Arial"/>
              </a:rPr>
              <a:t>03</a:t>
            </a:r>
          </a:p>
        </p:txBody>
      </p:sp>
      <p:sp>
        <p:nvSpPr>
          <p:cNvPr id="14" name="Text Pemeriksaan serah terima lebih terarah">
            <a:extLst xmlns:a="http://schemas.openxmlformats.org/drawingml/2006/main">
              <a:ext uri="{FF2B5EF4-FFF2-40B4-BE49-F238E27FC236}">
                <a16:creationId xmlns:a16="http://schemas.microsoft.com/office/drawing/2014/main" id="{09D8DCA9-0B3D-4F04-9057-B8F7B092F7EA}"/>
              </a:ext>
            </a:extLst>
          </p:cNvPr>
          <p:cNvSpPr>
            <a:spLocks xmlns:a="http://schemas.openxmlformats.org/drawingml/2006/main" noGrp="1"/>
          </p:cNvSpPr>
          <p:nvPr/>
        </p:nvSpPr>
        <p:spPr>
          <a:xfrm xmlns:a="http://schemas.openxmlformats.org/drawingml/2006/main">
            <a:off x="1809750" y="4924425"/>
            <a:ext cx="1247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336F"/>
                </a:solidFill>
                <a:latin typeface="Arial"/>
                <a:ea typeface="Arial"/>
                <a:cs typeface="Arial"/>
              </a:defRPr>
            </a:defPPr>
          </a:lstStyle>
          <a:p xmlns:a="http://schemas.openxmlformats.org/drawingml/2006/main">
            <a:pPr algn="l">
              <a:defRPr sz="2475" b="1">
                <a:solidFill>
                  <a:srgbClr val="17336F"/>
                </a:solidFill>
                <a:latin typeface="Arial"/>
                <a:ea typeface="Arial"/>
                <a:cs typeface="Arial"/>
              </a:defRPr>
            </a:pPr>
            <a:r>
              <a:rPr sz="2475" b="1">
                <a:solidFill>
                  <a:srgbClr val="17336F"/>
                </a:solidFill>
                <a:latin typeface="Arial"/>
                <a:ea typeface="Arial"/>
                <a:cs typeface="Arial"/>
              </a:rPr>
              <a:t>Pemeriksaan serah terima lebih terarah</a:t>
            </a:r>
          </a:p>
        </p:txBody>
      </p:sp>
      <p:sp>
        <p:nvSpPr>
          <p:cNvPr id="15" name="Text Jumlah per kategori dan catatan selisi">
            <a:extLst xmlns:a="http://schemas.openxmlformats.org/drawingml/2006/main">
              <a:ext uri="{FF2B5EF4-FFF2-40B4-BE49-F238E27FC236}">
                <a16:creationId xmlns:a16="http://schemas.microsoft.com/office/drawing/2014/main" id="{CACA469F-7BB1-4AA2-9363-79B40CA489D9}"/>
              </a:ext>
            </a:extLst>
          </p:cNvPr>
          <p:cNvSpPr>
            <a:spLocks xmlns:a="http://schemas.openxmlformats.org/drawingml/2006/main" noGrp="1"/>
          </p:cNvSpPr>
          <p:nvPr/>
        </p:nvSpPr>
        <p:spPr>
          <a:xfrm xmlns:a="http://schemas.openxmlformats.org/drawingml/2006/main">
            <a:off x="1809750" y="5429250"/>
            <a:ext cx="1228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82"/>
                </a:solidFill>
                <a:latin typeface="Arial"/>
                <a:ea typeface="Arial"/>
                <a:cs typeface="Arial"/>
              </a:defRPr>
            </a:defPPr>
          </a:lstStyle>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Jumlah per kategori dan catatan selisih menjadi acuan.</a:t>
            </a:r>
          </a:p>
        </p:txBody>
      </p:sp>
      <p:sp>
        <p:nvSpPr>
          <p:cNvPr id="16" name="Text 04">
            <a:extLst xmlns:a="http://schemas.openxmlformats.org/drawingml/2006/main">
              <a:ext uri="{FF2B5EF4-FFF2-40B4-BE49-F238E27FC236}">
                <a16:creationId xmlns:a16="http://schemas.microsoft.com/office/drawing/2014/main" id="{CBEB50C2-3244-437D-8E78-9CA703B8DD27}"/>
              </a:ext>
            </a:extLst>
          </p:cNvPr>
          <p:cNvSpPr>
            <a:spLocks xmlns:a="http://schemas.openxmlformats.org/drawingml/2006/main" noGrp="1"/>
          </p:cNvSpPr>
          <p:nvPr/>
        </p:nvSpPr>
        <p:spPr>
          <a:xfrm xmlns:a="http://schemas.openxmlformats.org/drawingml/2006/main">
            <a:off x="762000" y="602932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DF2335"/>
                </a:solidFill>
                <a:latin typeface="Arial"/>
                <a:ea typeface="Arial"/>
                <a:cs typeface="Arial"/>
              </a:defRPr>
            </a:defPPr>
          </a:lstStyle>
          <a:p xmlns:a="http://schemas.openxmlformats.org/drawingml/2006/main">
            <a:pPr algn="l">
              <a:defRPr sz="2925" b="1">
                <a:solidFill>
                  <a:srgbClr val="DF2335"/>
                </a:solidFill>
                <a:latin typeface="Arial"/>
                <a:ea typeface="Arial"/>
                <a:cs typeface="Arial"/>
              </a:defRPr>
            </a:pPr>
            <a:r>
              <a:rPr sz="2925" b="1">
                <a:solidFill>
                  <a:srgbClr val="DF2335"/>
                </a:solidFill>
                <a:latin typeface="Arial"/>
                <a:ea typeface="Arial"/>
                <a:cs typeface="Arial"/>
              </a:rPr>
              <a:t>04</a:t>
            </a:r>
          </a:p>
        </p:txBody>
      </p:sp>
      <p:sp>
        <p:nvSpPr>
          <p:cNvPr id="17" name="Text Evaluasi operasional lebih mudah">
            <a:extLst xmlns:a="http://schemas.openxmlformats.org/drawingml/2006/main">
              <a:ext uri="{FF2B5EF4-FFF2-40B4-BE49-F238E27FC236}">
                <a16:creationId xmlns:a16="http://schemas.microsoft.com/office/drawing/2014/main" id="{0DF06821-C45A-44B7-89B9-3466360E3F39}"/>
              </a:ext>
            </a:extLst>
          </p:cNvPr>
          <p:cNvSpPr>
            <a:spLocks xmlns:a="http://schemas.openxmlformats.org/drawingml/2006/main" noGrp="1"/>
          </p:cNvSpPr>
          <p:nvPr/>
        </p:nvSpPr>
        <p:spPr>
          <a:xfrm xmlns:a="http://schemas.openxmlformats.org/drawingml/2006/main">
            <a:off x="1809750" y="6029325"/>
            <a:ext cx="1247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7336F"/>
                </a:solidFill>
                <a:latin typeface="Arial"/>
                <a:ea typeface="Arial"/>
                <a:cs typeface="Arial"/>
              </a:defRPr>
            </a:defPPr>
          </a:lstStyle>
          <a:p xmlns:a="http://schemas.openxmlformats.org/drawingml/2006/main">
            <a:pPr algn="l">
              <a:defRPr sz="2475" b="1">
                <a:solidFill>
                  <a:srgbClr val="17336F"/>
                </a:solidFill>
                <a:latin typeface="Arial"/>
                <a:ea typeface="Arial"/>
                <a:cs typeface="Arial"/>
              </a:defRPr>
            </a:pPr>
            <a:r>
              <a:rPr sz="2475" b="1">
                <a:solidFill>
                  <a:srgbClr val="17336F"/>
                </a:solidFill>
                <a:latin typeface="Arial"/>
                <a:ea typeface="Arial"/>
                <a:cs typeface="Arial"/>
              </a:rPr>
              <a:t>Evaluasi operasional lebih mudah</a:t>
            </a:r>
          </a:p>
        </p:txBody>
      </p:sp>
      <p:sp>
        <p:nvSpPr>
          <p:cNvPr id="18" name="Text Data tugas, bukti, dan penerimaan ters">
            <a:extLst xmlns:a="http://schemas.openxmlformats.org/drawingml/2006/main">
              <a:ext uri="{FF2B5EF4-FFF2-40B4-BE49-F238E27FC236}">
                <a16:creationId xmlns:a16="http://schemas.microsoft.com/office/drawing/2014/main" id="{D8FDB8A9-696D-47E5-9EDB-19D53FD18DD5}"/>
              </a:ext>
            </a:extLst>
          </p:cNvPr>
          <p:cNvSpPr>
            <a:spLocks xmlns:a="http://schemas.openxmlformats.org/drawingml/2006/main" noGrp="1"/>
          </p:cNvSpPr>
          <p:nvPr/>
        </p:nvSpPr>
        <p:spPr>
          <a:xfrm xmlns:a="http://schemas.openxmlformats.org/drawingml/2006/main">
            <a:off x="1809750" y="6534150"/>
            <a:ext cx="122872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82"/>
                </a:solidFill>
                <a:latin typeface="Arial"/>
                <a:ea typeface="Arial"/>
                <a:cs typeface="Arial"/>
              </a:defRPr>
            </a:defPPr>
          </a:lstStyle>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Data tugas, bukti, dan penerimaan tersedia untuk ditelusuri.</a:t>
            </a:r>
          </a:p>
        </p:txBody>
      </p:sp>
    </p:spTree>
    <p:extLst>
      <p:ext uri="{BB962C8B-B14F-4D97-AF65-F5344CB8AC3E}">
        <p14:creationId xmlns:p14="http://schemas.microsoft.com/office/powerpoint/2010/main" val="10800118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 15">
            <a:extLst xmlns:a="http://schemas.openxmlformats.org/drawingml/2006/main">
              <a:ext uri="{FF2B5EF4-FFF2-40B4-BE49-F238E27FC236}">
                <a16:creationId xmlns:a16="http://schemas.microsoft.com/office/drawing/2014/main" id="{3916896D-BF90-40EF-8ADC-F1C9C1BC3E2D}"/>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15</a:t>
            </a:r>
          </a:p>
        </p:txBody>
      </p:sp>
      <p:sp>
        <p:nvSpPr>
          <p:cNvPr id="2" name="Text Retail Operations Platform   /   Inter">
            <a:extLst xmlns:a="http://schemas.openxmlformats.org/drawingml/2006/main">
              <a:ext uri="{FF2B5EF4-FFF2-40B4-BE49-F238E27FC236}">
                <a16:creationId xmlns:a16="http://schemas.microsoft.com/office/drawing/2014/main" id="{737C3C87-0178-47A0-89D0-05E155AE8B9D}"/>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986E3578-A521-4038-A0D3-943AD7ABA89D}"/>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514FA7CE-FB5F-4F6F-82CB-42B8413C1592}"/>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Roadmap pengembangan platform">
            <a:extLst xmlns:a="http://schemas.openxmlformats.org/drawingml/2006/main">
              <a:ext uri="{FF2B5EF4-FFF2-40B4-BE49-F238E27FC236}">
                <a16:creationId xmlns:a16="http://schemas.microsoft.com/office/drawing/2014/main" id="{24CA37B0-C701-4446-872A-C65A3031B88F}"/>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Roadmap pengembangan platform</a:t>
            </a:r>
          </a:p>
        </p:txBody>
      </p:sp>
      <p:sp>
        <p:nvSpPr>
          <p:cNvPr id="6" name="Text Rencana pengembangan. Urutan dan jadwa">
            <a:extLst xmlns:a="http://schemas.openxmlformats.org/drawingml/2006/main">
              <a:ext uri="{FF2B5EF4-FFF2-40B4-BE49-F238E27FC236}">
                <a16:creationId xmlns:a16="http://schemas.microsoft.com/office/drawing/2014/main" id="{16F6F8E6-EF2F-4348-A6C8-EFE8CC250D0B}"/>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Rencana pengembangan. Urutan dan jadwal menunggu prioritas serta validasi kebutuhan.</a:t>
            </a:r>
          </a:p>
        </p:txBody>
      </p:sp>
      <p:graphicFrame>
        <p:nvGraphicFramePr>
          <p:cNvPr id="7" name="">
            <a:extLst xmlns:a="http://schemas.openxmlformats.org/drawingml/2006/main">
              <a:ext uri="{FF2B5EF4-FFF2-40B4-BE49-F238E27FC236}">
                <a16:creationId xmlns:a16="http://schemas.microsoft.com/office/drawing/2014/main" id="{662F49B4-DA9F-4F30-BB88-3D639B3C4F5A}"/>
              </a:ext>
            </a:extLst>
          </p:cNvPr>
          <p:cNvGraphicFramePr/>
          <p:nvPr/>
        </p:nvGraphicFramePr>
        <p:xfrm>
          <a:off xmlns:a="http://schemas.openxmlformats.org/drawingml/2006/main" x="762000" y="2571750"/>
          <a:ext xmlns:a="http://schemas.openxmlformats.org/drawingml/2006/main" cx="13716000" cy="4000500"/>
        </p:xfrm>
        <a:graphic xmlns:a="http://schemas.openxmlformats.org/drawingml/2006/main">
          <a:graphicData uri="http://schemas.openxmlformats.org/drawingml/2006/table">
            <a:tbl>
              <a:tblPr/>
              <a:tblGrid>
                <a:gridCol w="6191250"/>
                <a:gridCol w="7524750"/>
              </a:tblGrid>
              <a:tr h="666750">
                <a:tc>
                  <a:txBody>
                    <a:bodyPr lIns="171450" tIns="133350" rIns="152400" bIns="95250"/>
                    <a:lstStyle/>
                    <a:p>
                      <a:r>
                        <a:rPr sz="1800" b="1">
                          <a:solidFill>
                            <a:srgbClr val="FFFFFF"/>
                          </a:solidFill>
                          <a:latin typeface="Arial"/>
                          <a:ea typeface="Arial"/>
                          <a:cs typeface="Arial"/>
                        </a:rPr>
                        <a:t>Arah pengembangan</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c>
                  <a:txBody>
                    <a:bodyPr lIns="171450" tIns="133350" rIns="152400" bIns="95250"/>
                    <a:lstStyle/>
                    <a:p>
                      <a:r>
                        <a:rPr sz="1800" b="1">
                          <a:solidFill>
                            <a:srgbClr val="FFFFFF"/>
                          </a:solidFill>
                          <a:latin typeface="Arial"/>
                          <a:ea typeface="Arial"/>
                          <a:cs typeface="Arial"/>
                        </a:rPr>
                        <a:t>Fokus nilai operasional</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17336F"/>
                    </a:solidFill>
                  </a:tcPr>
                </a:tc>
              </a:tr>
              <a:tr h="666750">
                <a:tc>
                  <a:txBody>
                    <a:bodyPr lIns="171450" tIns="133350" rIns="152400" bIns="95250"/>
                    <a:lstStyle/>
                    <a:p>
                      <a:r>
                        <a:rPr sz="1875" b="0">
                          <a:solidFill>
                            <a:srgbClr val="15243B"/>
                          </a:solidFill>
                          <a:latin typeface="Arial"/>
                          <a:ea typeface="Arial"/>
                          <a:cs typeface="Arial"/>
                        </a:rPr>
                        <a:t>Pickup Reporting &amp; Performance Analytics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Laporan dan evaluasi kinerja berbasis data pickup</a:t>
                      </a:r>
                    </a:p>
                  </a:txBody>
                  <a:tcPr marL="91440" marR="91440" marT="45720" marB="45720">
                    <a:lnR w="9525">
                      <a:solidFill>
                        <a:srgbClr val="FFFFFF"/>
                      </a:solidFill>
                      <a:prstDash val="solid"/>
                    </a:lnR>
                    <a:lnB w="9525">
                      <a:solidFill>
                        <a:srgbClr val="FFFFFF"/>
                      </a:solidFill>
                      <a:prstDash val="solid"/>
                    </a:lnB>
                    <a:solidFill>
                      <a:srgbClr val="EEF3FA"/>
                    </a:solidFill>
                  </a:tcPr>
                </a:tc>
              </a:tr>
              <a:tr h="666750">
                <a:tc>
                  <a:txBody>
                    <a:bodyPr lIns="171450" tIns="133350" rIns="152400" bIns="95250"/>
                    <a:lstStyle/>
                    <a:p>
                      <a:r>
                        <a:rPr sz="1875" b="0">
                          <a:solidFill>
                            <a:srgbClr val="15243B"/>
                          </a:solidFill>
                          <a:latin typeface="Arial"/>
                          <a:ea typeface="Arial"/>
                          <a:cs typeface="Arial"/>
                        </a:rPr>
                        <a:t>Cashless Handover via JNE Hybrid</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Konsep / PoC validasi AWB dan proses HO berotorisasi</a:t>
                      </a:r>
                    </a:p>
                  </a:txBody>
                  <a:tcPr marL="91440" marR="91440" marT="45720" marB="45720">
                    <a:lnR w="9525">
                      <a:solidFill>
                        <a:srgbClr val="FFFFFF"/>
                      </a:solidFill>
                      <a:prstDash val="solid"/>
                    </a:lnR>
                    <a:lnB w="9525">
                      <a:solidFill>
                        <a:srgbClr val="FFFFFF"/>
                      </a:solidFill>
                      <a:prstDash val="solid"/>
                    </a:lnB>
                    <a:solidFill>
                      <a:srgbClr val="FFFFFF"/>
                    </a:solidFill>
                  </a:tcPr>
                </a:tc>
              </a:tr>
              <a:tr h="666750">
                <a:tc>
                  <a:txBody>
                    <a:bodyPr lIns="171450" tIns="133350" rIns="152400" bIns="95250"/>
                    <a:lstStyle/>
                    <a:p>
                      <a:r>
                        <a:rPr sz="1875" b="0">
                          <a:solidFill>
                            <a:srgbClr val="15243B"/>
                          </a:solidFill>
                          <a:latin typeface="Arial"/>
                          <a:ea typeface="Arial"/>
                          <a:cs typeface="Arial"/>
                        </a:rPr>
                        <a:t>Shipment / AWB Monitoring</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Pemantauan kiriman setelah pickup</a:t>
                      </a:r>
                    </a:p>
                  </a:txBody>
                  <a:tcPr marL="91440" marR="91440" marT="45720" marB="45720">
                    <a:lnR w="9525">
                      <a:solidFill>
                        <a:srgbClr val="FFFFFF"/>
                      </a:solidFill>
                      <a:prstDash val="solid"/>
                    </a:lnR>
                    <a:lnB w="9525">
                      <a:solidFill>
                        <a:srgbClr val="FFFFFF"/>
                      </a:solidFill>
                      <a:prstDash val="solid"/>
                    </a:lnB>
                    <a:solidFill>
                      <a:srgbClr val="EEF3FA"/>
                    </a:solidFill>
                  </a:tcPr>
                </a:tc>
              </a:tr>
              <a:tr h="666750">
                <a:tc>
                  <a:txBody>
                    <a:bodyPr lIns="171450" tIns="133350" rIns="152400" bIns="95250"/>
                    <a:lstStyle/>
                    <a:p>
                      <a:r>
                        <a:rPr sz="1875" b="0">
                          <a:solidFill>
                            <a:srgbClr val="15243B"/>
                          </a:solidFill>
                          <a:latin typeface="Arial"/>
                          <a:ea typeface="Arial"/>
                          <a:cs typeface="Arial"/>
                        </a:rPr>
                        <a:t>Customer Portal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c>
                  <a:txBody>
                    <a:bodyPr lIns="171450" tIns="133350" rIns="152400" bIns="95250"/>
                    <a:lstStyle/>
                    <a:p>
                      <a:r>
                        <a:rPr sz="1875" b="0">
                          <a:solidFill>
                            <a:srgbClr val="15243B"/>
                          </a:solidFill>
                          <a:latin typeface="Arial"/>
                          <a:ea typeface="Arial"/>
                          <a:cs typeface="Arial"/>
                        </a:rPr>
                        <a:t>Akses pelanggan ke informasi dan layanan yang disepakati</a:t>
                      </a:r>
                    </a:p>
                  </a:txBody>
                  <a:tcPr marL="91440" marR="91440" marT="45720" marB="45720">
                    <a:lnR w="9525">
                      <a:solidFill>
                        <a:srgbClr val="FFFFFF"/>
                      </a:solidFill>
                      <a:prstDash val="solid"/>
                    </a:lnR>
                    <a:lnB w="9525">
                      <a:solidFill>
                        <a:srgbClr val="FFFFFF"/>
                      </a:solidFill>
                      <a:prstDash val="solid"/>
                    </a:lnB>
                    <a:solidFill>
                      <a:srgbClr val="FFFFFF"/>
                    </a:solidFill>
                  </a:tcPr>
                </a:tc>
              </a:tr>
              <a:tr h="666750">
                <a:tc>
                  <a:txBody>
                    <a:bodyPr lIns="171450" tIns="133350" rIns="152400" bIns="95250"/>
                    <a:lstStyle/>
                    <a:p>
                      <a:r>
                        <a:rPr sz="1875" b="0">
                          <a:solidFill>
                            <a:srgbClr val="15243B"/>
                          </a:solidFill>
                          <a:latin typeface="Arial"/>
                          <a:ea typeface="Arial"/>
                          <a:cs typeface="Arial"/>
                        </a:rPr>
                        <a:t>Fleet / Vehicle Usage + ERP</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EF3FA"/>
                    </a:solidFill>
                  </a:tcPr>
                </a:tc>
                <a:tc>
                  <a:txBody>
                    <a:bodyPr lIns="171450" tIns="133350" rIns="152400" bIns="95250"/>
                    <a:lstStyle/>
                    <a:p>
                      <a:r>
                        <a:rPr sz="1875" b="0">
                          <a:solidFill>
                            <a:srgbClr val="15243B"/>
                          </a:solidFill>
                          <a:latin typeface="Arial"/>
                          <a:ea typeface="Arial"/>
                          <a:cs typeface="Arial"/>
                        </a:rPr>
                        <a:t>Keterkaitan penggunaan kendaraan dan sistem ERP</a:t>
                      </a:r>
                    </a:p>
                  </a:txBody>
                  <a:tcPr marL="91440" marR="91440" marT="45720" marB="45720">
                    <a:lnR w="9525">
                      <a:solidFill>
                        <a:srgbClr val="FFFFFF"/>
                      </a:solidFill>
                      <a:prstDash val="solid"/>
                    </a:lnR>
                    <a:lnB w="9525">
                      <a:solidFill>
                        <a:srgbClr val="FFFFFF"/>
                      </a:solidFill>
                      <a:prstDash val="solid"/>
                    </a:lnB>
                    <a:solidFill>
                      <a:srgbClr val="EEF3FA"/>
                    </a:solidFill>
                  </a:tcPr>
                </a:tc>
              </a:tr>
            </a:tbl>
          </a:graphicData>
        </a:graphic>
      </p:graphicFrame>
      <p:sp>
        <p:nvSpPr>
          <p:cNvPr id="8" name="Text Modul retail lainnya dapat menyusul se">
            <a:extLst xmlns:a="http://schemas.openxmlformats.org/drawingml/2006/main">
              <a:ext uri="{FF2B5EF4-FFF2-40B4-BE49-F238E27FC236}">
                <a16:creationId xmlns:a16="http://schemas.microsoft.com/office/drawing/2014/main" id="{25CB138E-D40B-45CB-98C6-2A7A1EAED69A}"/>
              </a:ext>
            </a:extLst>
          </p:cNvPr>
          <p:cNvSpPr>
            <a:spLocks xmlns:a="http://schemas.openxmlformats.org/drawingml/2006/main" noGrp="1"/>
          </p:cNvSpPr>
          <p:nvPr/>
        </p:nvSpPr>
        <p:spPr>
          <a:xfrm xmlns:a="http://schemas.openxmlformats.org/drawingml/2006/main">
            <a:off x="762000" y="6953250"/>
            <a:ext cx="1362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D6C82"/>
                </a:solidFill>
                <a:latin typeface="Arial"/>
                <a:ea typeface="Arial"/>
                <a:cs typeface="Arial"/>
              </a:defRPr>
            </a:defPPr>
          </a:lstStyle>
          <a:p xmlns:a="http://schemas.openxmlformats.org/drawingml/2006/main">
            <a:pPr algn="l">
              <a:defRPr sz="2025" b="0">
                <a:solidFill>
                  <a:srgbClr val="5D6C82"/>
                </a:solidFill>
                <a:latin typeface="Arial"/>
                <a:ea typeface="Arial"/>
                <a:cs typeface="Arial"/>
              </a:defRPr>
            </a:pPr>
            <a:r>
              <a:rPr sz="2025" b="0">
                <a:solidFill>
                  <a:srgbClr val="5D6C82"/>
                </a:solidFill>
                <a:latin typeface="Arial"/>
                <a:ea typeface="Arial"/>
                <a:cs typeface="Arial"/>
              </a:rPr>
              <a:t>Modul retail lainnya dapat menyusul setelah kebutuhan dan kelayakan disepakati.</a:t>
            </a:r>
          </a:p>
        </p:txBody>
      </p:sp>
    </p:spTree>
    <p:extLst>
      <p:ext uri="{BB962C8B-B14F-4D97-AF65-F5344CB8AC3E}">
        <p14:creationId xmlns:p14="http://schemas.microsoft.com/office/powerpoint/2010/main" val="121414389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7B38A884-F661-4035-860A-A8DD7109461E}"/>
              </a:ext>
            </a:extLst>
          </p:cNvPr>
          <p:cNvCxnSpPr>
            <a:stCxn xmlns:a="http://schemas.openxmlformats.org/drawingml/2006/main" id="10" idx="2"/>
            <a:endCxn xmlns:a="http://schemas.openxmlformats.org/drawingml/2006/main" id="13" idx="0"/>
          </p:cNvCxnSpPr>
          <p:nvPr/>
        </p:nvCxnSpPr>
        <p:spPr>
          <a:xfrm xmlns:a="http://schemas.openxmlformats.org/drawingml/2006/main" flipH="1">
            <a:off x="8858250" y="5048250"/>
            <a:ext cx="1047750" cy="1047750"/>
          </a:xfrm>
          <a:prstGeom xmlns:a="http://schemas.openxmlformats.org/drawingml/2006/main" prst="straightConnector1">
            <a:avLst/>
          </a:prstGeom>
          <a:ln xmlns:a="http://schemas.openxmlformats.org/drawingml/2006/main" w="21908">
            <a:solidFill>
              <a:srgbClr val="965F12"/>
            </a:solidFill>
            <a:prstDash val="dash"/>
            <a:tailEnd type="triangle" w="med" len="med"/>
          </a:ln>
        </p:spPr>
      </p:cxnSp>
      <p:cxnSp>
        <p:nvCxnSpPr>
          <p:cNvPr id="12" name="">
            <a:extLst xmlns:a="http://schemas.openxmlformats.org/drawingml/2006/main">
              <a:ext uri="{FF2B5EF4-FFF2-40B4-BE49-F238E27FC236}">
                <a16:creationId xmlns:a16="http://schemas.microsoft.com/office/drawing/2014/main" id="{349EA68B-D710-48EE-94D8-43989C4D257D}"/>
              </a:ext>
            </a:extLst>
          </p:cNvPr>
          <p:cNvCxnSpPr>
            <a:stCxn xmlns:a="http://schemas.openxmlformats.org/drawingml/2006/main" id="9" idx="3"/>
            <a:endCxn xmlns:a="http://schemas.openxmlformats.org/drawingml/2006/main" id="10" idx="1"/>
          </p:cNvCxnSpPr>
          <p:nvPr/>
        </p:nvCxnSpPr>
        <p:spPr>
          <a:xfrm xmlns:a="http://schemas.openxmlformats.org/drawingml/2006/main">
            <a:off x="7477125" y="4452938"/>
            <a:ext cx="1000125" cy="0"/>
          </a:xfrm>
          <a:prstGeom xmlns:a="http://schemas.openxmlformats.org/drawingml/2006/main" prst="straightConnector1">
            <a:avLst/>
          </a:prstGeom>
          <a:ln xmlns:a="http://schemas.openxmlformats.org/drawingml/2006/main" w="21908">
            <a:solidFill>
              <a:srgbClr val="965F12"/>
            </a:solidFill>
            <a:prstDash val="dash"/>
            <a:tailEnd type="triangle" w="med" len="med"/>
          </a:ln>
        </p:spPr>
      </p:cxnSp>
      <p:cxnSp>
        <p:nvCxnSpPr>
          <p:cNvPr id="11" name="">
            <a:extLst xmlns:a="http://schemas.openxmlformats.org/drawingml/2006/main">
              <a:ext uri="{FF2B5EF4-FFF2-40B4-BE49-F238E27FC236}">
                <a16:creationId xmlns:a16="http://schemas.microsoft.com/office/drawing/2014/main" id="{A8B97749-ECDB-4F21-9015-EEA8A21B483E}"/>
              </a:ext>
            </a:extLst>
          </p:cNvPr>
          <p:cNvCxnSpPr>
            <a:stCxn xmlns:a="http://schemas.openxmlformats.org/drawingml/2006/main" id="8" idx="3"/>
            <a:endCxn xmlns:a="http://schemas.openxmlformats.org/drawingml/2006/main" id="9" idx="1"/>
          </p:cNvCxnSpPr>
          <p:nvPr/>
        </p:nvCxnSpPr>
        <p:spPr>
          <a:xfrm xmlns:a="http://schemas.openxmlformats.org/drawingml/2006/main">
            <a:off x="3619500" y="4452938"/>
            <a:ext cx="1000125" cy="0"/>
          </a:xfrm>
          <a:prstGeom xmlns:a="http://schemas.openxmlformats.org/drawingml/2006/main" prst="straightConnector1">
            <a:avLst/>
          </a:prstGeom>
          <a:ln xmlns:a="http://schemas.openxmlformats.org/drawingml/2006/main" w="21908">
            <a:solidFill>
              <a:srgbClr val="965F12"/>
            </a:solidFill>
            <a:prstDash val="dash"/>
            <a:tailEnd type="triangle" w="med" len="med"/>
          </a:ln>
        </p:spPr>
      </p:cxnSp>
      <p:sp>
        <p:nvSpPr>
          <p:cNvPr id="16" name="Text 16">
            <a:extLst xmlns:a="http://schemas.openxmlformats.org/drawingml/2006/main">
              <a:ext uri="{FF2B5EF4-FFF2-40B4-BE49-F238E27FC236}">
                <a16:creationId xmlns:a16="http://schemas.microsoft.com/office/drawing/2014/main" id="{51C6CA2C-358C-4C98-9E75-15E9748A9550}"/>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16</a:t>
            </a:r>
          </a:p>
        </p:txBody>
      </p:sp>
      <p:sp>
        <p:nvSpPr>
          <p:cNvPr id="2" name="Text Retail Operations Platform   /   Inter">
            <a:extLst xmlns:a="http://schemas.openxmlformats.org/drawingml/2006/main">
              <a:ext uri="{FF2B5EF4-FFF2-40B4-BE49-F238E27FC236}">
                <a16:creationId xmlns:a16="http://schemas.microsoft.com/office/drawing/2014/main" id="{094251CF-01AC-4C88-9F82-F9CED2CE9700}"/>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E07ADB25-E305-4D77-B279-A5D5CB9D02F9}"/>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4472A778-4FA4-4DF8-BE72-CF272FE50A37}"/>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Konsep cashless handover melalui JNE H">
            <a:extLst xmlns:a="http://schemas.openxmlformats.org/drawingml/2006/main">
              <a:ext uri="{FF2B5EF4-FFF2-40B4-BE49-F238E27FC236}">
                <a16:creationId xmlns:a16="http://schemas.microsoft.com/office/drawing/2014/main" id="{3C6F8271-2E99-4F0F-89D0-EFFDEF7F7544}"/>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Konsep cashless handover melalui JNE Hybrid</a:t>
            </a:r>
          </a:p>
        </p:txBody>
      </p:sp>
      <p:sp>
        <p:nvSpPr>
          <p:cNvPr id="6" name="Text KONSEP / PoC. Belum merupakan integras">
            <a:extLst xmlns:a="http://schemas.openxmlformats.org/drawingml/2006/main">
              <a:ext uri="{FF2B5EF4-FFF2-40B4-BE49-F238E27FC236}">
                <a16:creationId xmlns:a16="http://schemas.microsoft.com/office/drawing/2014/main" id="{996A327F-4D3A-4EC5-90B8-98D0A604D8FA}"/>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KONSEP / PoC. Belum merupakan integrasi produksi.</a:t>
            </a:r>
          </a:p>
        </p:txBody>
      </p:sp>
      <p:sp>
        <p:nvSpPr>
          <p:cNvPr id="7" name="Text Satu pickup = satu cashless HO">
            <a:extLst xmlns:a="http://schemas.openxmlformats.org/drawingml/2006/main">
              <a:ext uri="{FF2B5EF4-FFF2-40B4-BE49-F238E27FC236}">
                <a16:creationId xmlns:a16="http://schemas.microsoft.com/office/drawing/2014/main" id="{D162752C-17EA-4EAD-8B16-0ECBDC973C36}"/>
              </a:ext>
            </a:extLst>
          </p:cNvPr>
          <p:cNvSpPr>
            <a:spLocks xmlns:a="http://schemas.openxmlformats.org/drawingml/2006/main" noGrp="1"/>
          </p:cNvSpPr>
          <p:nvPr/>
        </p:nvSpPr>
        <p:spPr>
          <a:xfrm xmlns:a="http://schemas.openxmlformats.org/drawingml/2006/main">
            <a:off x="762000" y="2667000"/>
            <a:ext cx="1333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7336F"/>
                </a:solidFill>
                <a:latin typeface="Arial"/>
                <a:ea typeface="Arial"/>
                <a:cs typeface="Arial"/>
              </a:defRPr>
            </a:defPPr>
          </a:lstStyle>
          <a:p xmlns:a="http://schemas.openxmlformats.org/drawingml/2006/main">
            <a:pPr algn="l">
              <a:defRPr sz="3525" b="1">
                <a:solidFill>
                  <a:srgbClr val="17336F"/>
                </a:solidFill>
                <a:latin typeface="Arial"/>
                <a:ea typeface="Arial"/>
                <a:cs typeface="Arial"/>
              </a:defRPr>
            </a:pPr>
            <a:r>
              <a:rPr sz="3525" b="1">
                <a:solidFill>
                  <a:srgbClr val="17336F"/>
                </a:solidFill>
                <a:latin typeface="Arial"/>
                <a:ea typeface="Arial"/>
                <a:cs typeface="Arial"/>
              </a:rPr>
              <a:t>Satu pickup = satu cashless HO</a:t>
            </a:r>
          </a:p>
        </p:txBody>
      </p:sp>
      <p:sp>
        <p:nvSpPr>
          <p:cNvPr id="8" name="Diagram Petugas scan&#10;AWB satu per satu">
            <a:extLst xmlns:a="http://schemas.openxmlformats.org/drawingml/2006/main">
              <a:ext uri="{FF2B5EF4-FFF2-40B4-BE49-F238E27FC236}">
                <a16:creationId xmlns:a16="http://schemas.microsoft.com/office/drawing/2014/main" id="{5B447D1A-0E5C-45DF-BD5D-4617BA6BFA56}"/>
              </a:ext>
            </a:extLst>
          </p:cNvPr>
          <p:cNvSpPr>
            <a:spLocks xmlns:a="http://schemas.openxmlformats.org/drawingml/2006/main" noGrp="1"/>
          </p:cNvSpPr>
          <p:nvPr/>
        </p:nvSpPr>
        <p:spPr>
          <a:xfrm xmlns:a="http://schemas.openxmlformats.org/drawingml/2006/main">
            <a:off x="762000" y="3857625"/>
            <a:ext cx="2857500" cy="1190625"/>
          </a:xfrm>
          <a:prstGeom xmlns:a="http://schemas.openxmlformats.org/drawingml/2006/main" prst="roundRect">
            <a:avLst>
              <a:gd name="adj" fmla="val 6400"/>
            </a:avLst>
          </a:prstGeom>
          <a:solidFill xmlns:a="http://schemas.openxmlformats.org/drawingml/2006/main">
            <a:srgbClr val="FFF5E6"/>
          </a:solidFill>
          <a:ln xmlns:a="http://schemas.openxmlformats.org/drawingml/2006/main" w="12383">
            <a:solidFill>
              <a:srgbClr val="965F12"/>
            </a:solidFill>
          </a:ln>
        </p:spPr>
        <p:txBody>
          <a:bodyPr xmlns:a="http://schemas.openxmlformats.org/drawingml/2006/main" lIns="152400" tIns="152400" rIns="152400" bIns="152400" anchor="ctr">
            <a:noAutofit/>
          </a:bodyPr>
          <a:lstStyle xmlns:a="http://schemas.openxmlformats.org/drawingml/2006/main">
            <a:defPPr algn="ctr">
              <a:defRPr sz="2100" b="1">
                <a:solidFill>
                  <a:srgbClr val="965F12"/>
                </a:solidFill>
                <a:latin typeface="Arial"/>
                <a:ea typeface="Arial"/>
                <a:cs typeface="Arial"/>
              </a:defRPr>
            </a:defPPr>
          </a:lstStyle>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Petugas scan</a:t>
            </a:r>
          </a:p>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AWB satu per satu</a:t>
            </a:r>
          </a:p>
        </p:txBody>
      </p:sp>
      <p:sp>
        <p:nvSpPr>
          <p:cNvPr id="9" name="Diagram Validasi&#10;JNE Hybrid">
            <a:extLst xmlns:a="http://schemas.openxmlformats.org/drawingml/2006/main">
              <a:ext uri="{FF2B5EF4-FFF2-40B4-BE49-F238E27FC236}">
                <a16:creationId xmlns:a16="http://schemas.microsoft.com/office/drawing/2014/main" id="{3AF9D241-1477-49FA-A155-B6CC5551CC69}"/>
              </a:ext>
            </a:extLst>
          </p:cNvPr>
          <p:cNvSpPr>
            <a:spLocks xmlns:a="http://schemas.openxmlformats.org/drawingml/2006/main" noGrp="1"/>
          </p:cNvSpPr>
          <p:nvPr/>
        </p:nvSpPr>
        <p:spPr>
          <a:xfrm xmlns:a="http://schemas.openxmlformats.org/drawingml/2006/main">
            <a:off x="4619625" y="3857625"/>
            <a:ext cx="2857500" cy="1190625"/>
          </a:xfrm>
          <a:prstGeom xmlns:a="http://schemas.openxmlformats.org/drawingml/2006/main" prst="roundRect">
            <a:avLst>
              <a:gd name="adj" fmla="val 6400"/>
            </a:avLst>
          </a:prstGeom>
          <a:solidFill xmlns:a="http://schemas.openxmlformats.org/drawingml/2006/main">
            <a:srgbClr val="FFF5E6"/>
          </a:solidFill>
          <a:ln xmlns:a="http://schemas.openxmlformats.org/drawingml/2006/main" w="12383">
            <a:solidFill>
              <a:srgbClr val="965F12"/>
            </a:solidFill>
          </a:ln>
        </p:spPr>
        <p:txBody>
          <a:bodyPr xmlns:a="http://schemas.openxmlformats.org/drawingml/2006/main" lIns="152400" tIns="152400" rIns="152400" bIns="152400" anchor="ctr">
            <a:noAutofit/>
          </a:bodyPr>
          <a:lstStyle xmlns:a="http://schemas.openxmlformats.org/drawingml/2006/main">
            <a:defPPr algn="ctr">
              <a:defRPr sz="2100" b="1">
                <a:solidFill>
                  <a:srgbClr val="965F12"/>
                </a:solidFill>
                <a:latin typeface="Arial"/>
                <a:ea typeface="Arial"/>
                <a:cs typeface="Arial"/>
              </a:defRPr>
            </a:defPPr>
          </a:lstStyle>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Validasi</a:t>
            </a:r>
          </a:p>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JNE Hybrid</a:t>
            </a:r>
          </a:p>
        </p:txBody>
      </p:sp>
      <p:sp>
        <p:nvSpPr>
          <p:cNvPr id="10" name="Diagram Hasil validasi&#10;tampil ke petugas">
            <a:extLst xmlns:a="http://schemas.openxmlformats.org/drawingml/2006/main">
              <a:ext uri="{FF2B5EF4-FFF2-40B4-BE49-F238E27FC236}">
                <a16:creationId xmlns:a16="http://schemas.microsoft.com/office/drawing/2014/main" id="{E6C5B27C-9190-4C6F-B443-3EB39B8781E2}"/>
              </a:ext>
            </a:extLst>
          </p:cNvPr>
          <p:cNvSpPr>
            <a:spLocks xmlns:a="http://schemas.openxmlformats.org/drawingml/2006/main" noGrp="1"/>
          </p:cNvSpPr>
          <p:nvPr/>
        </p:nvSpPr>
        <p:spPr>
          <a:xfrm xmlns:a="http://schemas.openxmlformats.org/drawingml/2006/main">
            <a:off x="8477250" y="3857625"/>
            <a:ext cx="2857500" cy="1190625"/>
          </a:xfrm>
          <a:prstGeom xmlns:a="http://schemas.openxmlformats.org/drawingml/2006/main" prst="roundRect">
            <a:avLst>
              <a:gd name="adj" fmla="val 6400"/>
            </a:avLst>
          </a:prstGeom>
          <a:solidFill xmlns:a="http://schemas.openxmlformats.org/drawingml/2006/main">
            <a:srgbClr val="FFF5E6"/>
          </a:solidFill>
          <a:ln xmlns:a="http://schemas.openxmlformats.org/drawingml/2006/main" w="12383">
            <a:solidFill>
              <a:srgbClr val="965F12"/>
            </a:solidFill>
          </a:ln>
        </p:spPr>
        <p:txBody>
          <a:bodyPr xmlns:a="http://schemas.openxmlformats.org/drawingml/2006/main" lIns="152400" tIns="152400" rIns="152400" bIns="152400" anchor="ctr">
            <a:noAutofit/>
          </a:bodyPr>
          <a:lstStyle xmlns:a="http://schemas.openxmlformats.org/drawingml/2006/main">
            <a:defPPr algn="ctr">
              <a:defRPr sz="2100" b="1">
                <a:solidFill>
                  <a:srgbClr val="965F12"/>
                </a:solidFill>
                <a:latin typeface="Arial"/>
                <a:ea typeface="Arial"/>
                <a:cs typeface="Arial"/>
              </a:defRPr>
            </a:defPPr>
          </a:lstStyle>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Hasil validasi</a:t>
            </a:r>
          </a:p>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tampil ke petugas</a:t>
            </a:r>
          </a:p>
        </p:txBody>
      </p:sp>
      <p:sp>
        <p:nvSpPr>
          <p:cNvPr id="13" name="Diagram Integrasi / bot sisi kantor yang berotorisasi&#10;memproses HO sesuai akses dan prosedur resmi">
            <a:extLst xmlns:a="http://schemas.openxmlformats.org/drawingml/2006/main">
              <a:ext uri="{FF2B5EF4-FFF2-40B4-BE49-F238E27FC236}">
                <a16:creationId xmlns:a16="http://schemas.microsoft.com/office/drawing/2014/main" id="{FFAF9C30-F650-409B-B397-951C47C207FB}"/>
              </a:ext>
            </a:extLst>
          </p:cNvPr>
          <p:cNvSpPr>
            <a:spLocks xmlns:a="http://schemas.openxmlformats.org/drawingml/2006/main" noGrp="1"/>
          </p:cNvSpPr>
          <p:nvPr/>
        </p:nvSpPr>
        <p:spPr>
          <a:xfrm xmlns:a="http://schemas.openxmlformats.org/drawingml/2006/main">
            <a:off x="4572000" y="6096000"/>
            <a:ext cx="8572500" cy="904875"/>
          </a:xfrm>
          <a:prstGeom xmlns:a="http://schemas.openxmlformats.org/drawingml/2006/main" prst="roundRect">
            <a:avLst>
              <a:gd name="adj" fmla="val 8421"/>
            </a:avLst>
          </a:prstGeom>
          <a:solidFill xmlns:a="http://schemas.openxmlformats.org/drawingml/2006/main">
            <a:srgbClr val="FFFFFF"/>
          </a:solidFill>
          <a:ln xmlns:a="http://schemas.openxmlformats.org/drawingml/2006/main" w="12383">
            <a:solidFill>
              <a:srgbClr val="965F12"/>
            </a:solidFill>
          </a:ln>
        </p:spPr>
        <p:txBody>
          <a:bodyPr xmlns:a="http://schemas.openxmlformats.org/drawingml/2006/main" lIns="152400" tIns="152400" rIns="152400" bIns="152400" anchor="ctr">
            <a:noAutofit/>
          </a:bodyPr>
          <a:lstStyle xmlns:a="http://schemas.openxmlformats.org/drawingml/2006/main">
            <a:defPPr algn="ctr">
              <a:defRPr sz="2100" b="1">
                <a:solidFill>
                  <a:srgbClr val="965F12"/>
                </a:solidFill>
                <a:latin typeface="Arial"/>
                <a:ea typeface="Arial"/>
                <a:cs typeface="Arial"/>
              </a:defRPr>
            </a:defPPr>
          </a:lstStyle>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Integrasi / bot sisi kantor yang berotorisasi</a:t>
            </a:r>
          </a:p>
          <a:p xmlns:a="http://schemas.openxmlformats.org/drawingml/2006/main">
            <a:pPr algn="ctr">
              <a:defRPr sz="2100" b="1">
                <a:solidFill>
                  <a:srgbClr val="965F12"/>
                </a:solidFill>
                <a:latin typeface="Arial"/>
                <a:ea typeface="Arial"/>
                <a:cs typeface="Arial"/>
              </a:defRPr>
            </a:pPr>
            <a:r>
              <a:rPr sz="2100" b="1">
                <a:solidFill>
                  <a:srgbClr val="965F12"/>
                </a:solidFill>
                <a:latin typeface="Arial"/>
                <a:ea typeface="Arial"/>
                <a:cs typeface="Arial"/>
              </a:rPr>
              <a:t>memproses HO sesuai akses dan prosedur resmi</a:t>
            </a:r>
          </a:p>
        </p:txBody>
      </p:sp>
      <p:sp>
        <p:nvSpPr>
          <p:cNvPr id="15" name="Text Kelayakan, akses resmi, penanganan res">
            <a:extLst xmlns:a="http://schemas.openxmlformats.org/drawingml/2006/main">
              <a:ext uri="{FF2B5EF4-FFF2-40B4-BE49-F238E27FC236}">
                <a16:creationId xmlns:a16="http://schemas.microsoft.com/office/drawing/2014/main" id="{9DAF7001-EA89-4CFE-880B-26BA3820C1DF}"/>
              </a:ext>
            </a:extLst>
          </p:cNvPr>
          <p:cNvSpPr>
            <a:spLocks xmlns:a="http://schemas.openxmlformats.org/drawingml/2006/main" noGrp="1"/>
          </p:cNvSpPr>
          <p:nvPr/>
        </p:nvSpPr>
        <p:spPr>
          <a:xfrm xmlns:a="http://schemas.openxmlformats.org/drawingml/2006/main">
            <a:off x="762000" y="7191375"/>
            <a:ext cx="1371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D6C82"/>
                </a:solidFill>
                <a:latin typeface="Arial"/>
                <a:ea typeface="Arial"/>
                <a:cs typeface="Arial"/>
              </a:defRPr>
            </a:defPPr>
          </a:lstStyle>
          <a:p xmlns:a="http://schemas.openxmlformats.org/drawingml/2006/main">
            <a:pPr algn="l">
              <a:defRPr sz="1650" b="0">
                <a:solidFill>
                  <a:srgbClr val="5D6C82"/>
                </a:solidFill>
                <a:latin typeface="Arial"/>
                <a:ea typeface="Arial"/>
                <a:cs typeface="Arial"/>
              </a:defRPr>
            </a:pPr>
            <a:r>
              <a:rPr sz="1650" b="0">
                <a:solidFill>
                  <a:srgbClr val="5D6C82"/>
                </a:solidFill>
                <a:latin typeface="Arial"/>
                <a:ea typeface="Arial"/>
                <a:cs typeface="Arial"/>
              </a:rPr>
              <a:t>Kelayakan, akses resmi, penanganan respons, dan kontrol operasional perlu dibuktikan melalui PoC.</a:t>
            </a:r>
          </a:p>
        </p:txBody>
      </p:sp>
    </p:spTree>
    <p:extLst>
      <p:ext uri="{BB962C8B-B14F-4D97-AF65-F5344CB8AC3E}">
        <p14:creationId xmlns:p14="http://schemas.microsoft.com/office/powerpoint/2010/main" val="14439503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 17">
            <a:extLst xmlns:a="http://schemas.openxmlformats.org/drawingml/2006/main">
              <a:ext uri="{FF2B5EF4-FFF2-40B4-BE49-F238E27FC236}">
                <a16:creationId xmlns:a16="http://schemas.microsoft.com/office/drawing/2014/main" id="{CA7145F0-A7C7-435A-808F-71F8345BC072}"/>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17</a:t>
            </a:r>
          </a:p>
        </p:txBody>
      </p:sp>
      <p:sp>
        <p:nvSpPr>
          <p:cNvPr id="2" name="Text Retail Operations Platform   /   Inter">
            <a:extLst xmlns:a="http://schemas.openxmlformats.org/drawingml/2006/main">
              <a:ext uri="{FF2B5EF4-FFF2-40B4-BE49-F238E27FC236}">
                <a16:creationId xmlns:a16="http://schemas.microsoft.com/office/drawing/2014/main" id="{08F46CCA-314D-45DA-ACBC-808658E06AE1}"/>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Retail Operations Platform   /   Internal</a:t>
            </a:r>
          </a:p>
        </p:txBody>
      </p:sp>
      <p:sp>
        <p:nvSpPr>
          <p:cNvPr id="3" name="Rule">
            <a:extLst xmlns:a="http://schemas.openxmlformats.org/drawingml/2006/main">
              <a:ext uri="{FF2B5EF4-FFF2-40B4-BE49-F238E27FC236}">
                <a16:creationId xmlns:a16="http://schemas.microsoft.com/office/drawing/2014/main" id="{5BD55793-2F86-453B-8C35-CEB9F23D10E4}"/>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FF0A1063-ECAE-436C-A72C-F8C6A884FF4F}"/>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Langkah berikutnya menuju pilot terkon">
            <a:extLst xmlns:a="http://schemas.openxmlformats.org/drawingml/2006/main">
              <a:ext uri="{FF2B5EF4-FFF2-40B4-BE49-F238E27FC236}">
                <a16:creationId xmlns:a16="http://schemas.microsoft.com/office/drawing/2014/main" id="{602B03EE-9839-46CB-A253-63D5905864B5}"/>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Langkah berikutnya menuju pilot terkontrol</a:t>
            </a:r>
          </a:p>
        </p:txBody>
      </p:sp>
      <p:sp>
        <p:nvSpPr>
          <p:cNvPr id="6" name="Text Usulan tahapan keputusan. Pilot dimula">
            <a:extLst xmlns:a="http://schemas.openxmlformats.org/drawingml/2006/main">
              <a:ext uri="{FF2B5EF4-FFF2-40B4-BE49-F238E27FC236}">
                <a16:creationId xmlns:a16="http://schemas.microsoft.com/office/drawing/2014/main" id="{9F2023F6-F015-4C8F-80EA-D92A4974439D}"/>
              </a:ext>
            </a:extLst>
          </p:cNvPr>
          <p:cNvSpPr>
            <a:spLocks xmlns:a="http://schemas.openxmlformats.org/drawingml/2006/main" noGrp="1"/>
          </p:cNvSpPr>
          <p:nvPr/>
        </p:nvSpPr>
        <p:spPr>
          <a:xfrm xmlns:a="http://schemas.openxmlformats.org/drawingml/2006/main">
            <a:off x="762000" y="1714500"/>
            <a:ext cx="13525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Usulan tahapan keputusan. Pilot dimulai setelah gate kesiapan disetujui.</a:t>
            </a:r>
          </a:p>
        </p:txBody>
      </p:sp>
      <p:sp>
        <p:nvSpPr>
          <p:cNvPr id="7" name="Text 01">
            <a:extLst xmlns:a="http://schemas.openxmlformats.org/drawingml/2006/main">
              <a:ext uri="{FF2B5EF4-FFF2-40B4-BE49-F238E27FC236}">
                <a16:creationId xmlns:a16="http://schemas.microsoft.com/office/drawing/2014/main" id="{AD3C76AF-5376-4695-A31C-FB42B034015B}"/>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01</a:t>
            </a:r>
          </a:p>
        </p:txBody>
      </p:sp>
      <p:sp>
        <p:nvSpPr>
          <p:cNvPr id="8" name="Text UAT operasional pada perangkat nyata">
            <a:extLst xmlns:a="http://schemas.openxmlformats.org/drawingml/2006/main">
              <a:ext uri="{FF2B5EF4-FFF2-40B4-BE49-F238E27FC236}">
                <a16:creationId xmlns:a16="http://schemas.microsoft.com/office/drawing/2014/main" id="{2C1BC922-0866-4C62-86C5-1BC8D7CC3F5A}"/>
              </a:ext>
            </a:extLst>
          </p:cNvPr>
          <p:cNvSpPr>
            <a:spLocks xmlns:a="http://schemas.openxmlformats.org/drawingml/2006/main" noGrp="1"/>
          </p:cNvSpPr>
          <p:nvPr/>
        </p:nvSpPr>
        <p:spPr>
          <a:xfrm xmlns:a="http://schemas.openxmlformats.org/drawingml/2006/main">
            <a:off x="1581150" y="2667000"/>
            <a:ext cx="1289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UAT operasional pada perangkat nyata</a:t>
            </a:r>
          </a:p>
        </p:txBody>
      </p:sp>
      <p:sp>
        <p:nvSpPr>
          <p:cNvPr id="9" name="Text Uji alur normal, tanpa paket, konflik ">
            <a:extLst xmlns:a="http://schemas.openxmlformats.org/drawingml/2006/main">
              <a:ext uri="{FF2B5EF4-FFF2-40B4-BE49-F238E27FC236}">
                <a16:creationId xmlns:a16="http://schemas.microsoft.com/office/drawing/2014/main" id="{58D72236-AB61-4546-9BA8-DB62A5F747BC}"/>
              </a:ext>
            </a:extLst>
          </p:cNvPr>
          <p:cNvSpPr>
            <a:spLocks xmlns:a="http://schemas.openxmlformats.org/drawingml/2006/main" noGrp="1"/>
          </p:cNvSpPr>
          <p:nvPr/>
        </p:nvSpPr>
        <p:spPr>
          <a:xfrm xmlns:a="http://schemas.openxmlformats.org/drawingml/2006/main">
            <a:off x="1581150" y="3162300"/>
            <a:ext cx="1281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Uji alur normal, tanpa paket, konflik tugas, jaringan putus, draft, handover, dan FCM.</a:t>
            </a:r>
          </a:p>
        </p:txBody>
      </p:sp>
      <p:sp>
        <p:nvSpPr>
          <p:cNvPr id="10" name="Text 02">
            <a:extLst xmlns:a="http://schemas.openxmlformats.org/drawingml/2006/main">
              <a:ext uri="{FF2B5EF4-FFF2-40B4-BE49-F238E27FC236}">
                <a16:creationId xmlns:a16="http://schemas.microsoft.com/office/drawing/2014/main" id="{70CF4696-E926-4E3E-8F90-E42BFCE2FB4D}"/>
              </a:ext>
            </a:extLst>
          </p:cNvPr>
          <p:cNvSpPr>
            <a:spLocks xmlns:a="http://schemas.openxmlformats.org/drawingml/2006/main" noGrp="1"/>
          </p:cNvSpPr>
          <p:nvPr/>
        </p:nvSpPr>
        <p:spPr>
          <a:xfrm xmlns:a="http://schemas.openxmlformats.org/drawingml/2006/main">
            <a:off x="762000" y="409575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02</a:t>
            </a:r>
          </a:p>
        </p:txBody>
      </p:sp>
      <p:sp>
        <p:nvSpPr>
          <p:cNvPr id="11" name="Text Kesiapan rilis dan dukungan">
            <a:extLst xmlns:a="http://schemas.openxmlformats.org/drawingml/2006/main">
              <a:ext uri="{FF2B5EF4-FFF2-40B4-BE49-F238E27FC236}">
                <a16:creationId xmlns:a16="http://schemas.microsoft.com/office/drawing/2014/main" id="{B1A46F19-C57A-4390-8AAA-9BA7AF10BA9A}"/>
              </a:ext>
            </a:extLst>
          </p:cNvPr>
          <p:cNvSpPr>
            <a:spLocks xmlns:a="http://schemas.openxmlformats.org/drawingml/2006/main" noGrp="1"/>
          </p:cNvSpPr>
          <p:nvPr/>
        </p:nvSpPr>
        <p:spPr>
          <a:xfrm xmlns:a="http://schemas.openxmlformats.org/drawingml/2006/main">
            <a:off x="1581150" y="4095750"/>
            <a:ext cx="1289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Kesiapan rilis dan dukungan</a:t>
            </a:r>
          </a:p>
        </p:txBody>
      </p:sp>
      <p:sp>
        <p:nvSpPr>
          <p:cNvPr id="12" name="Text Tetapkan perangkat, HTTPS, signing, di">
            <a:extLst xmlns:a="http://schemas.openxmlformats.org/drawingml/2006/main">
              <a:ext uri="{FF2B5EF4-FFF2-40B4-BE49-F238E27FC236}">
                <a16:creationId xmlns:a16="http://schemas.microsoft.com/office/drawing/2014/main" id="{2584CBB5-5914-441C-A902-7DCDF04A8373}"/>
              </a:ext>
            </a:extLst>
          </p:cNvPr>
          <p:cNvSpPr>
            <a:spLocks xmlns:a="http://schemas.openxmlformats.org/drawingml/2006/main" noGrp="1"/>
          </p:cNvSpPr>
          <p:nvPr/>
        </p:nvSpPr>
        <p:spPr>
          <a:xfrm xmlns:a="http://schemas.openxmlformats.org/drawingml/2006/main">
            <a:off x="1581150" y="4591050"/>
            <a:ext cx="1281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Tetapkan perangkat, HTTPS, signing, distribusi pembaruan, rollback, dan pemilik dukungan.</a:t>
            </a:r>
          </a:p>
        </p:txBody>
      </p:sp>
      <p:sp>
        <p:nvSpPr>
          <p:cNvPr id="13" name="Text 03">
            <a:extLst xmlns:a="http://schemas.openxmlformats.org/drawingml/2006/main">
              <a:ext uri="{FF2B5EF4-FFF2-40B4-BE49-F238E27FC236}">
                <a16:creationId xmlns:a16="http://schemas.microsoft.com/office/drawing/2014/main" id="{84BA004C-2C8F-466C-A371-E90714098B0F}"/>
              </a:ext>
            </a:extLst>
          </p:cNvPr>
          <p:cNvSpPr>
            <a:spLocks xmlns:a="http://schemas.openxmlformats.org/drawingml/2006/main" noGrp="1"/>
          </p:cNvSpPr>
          <p:nvPr/>
        </p:nvSpPr>
        <p:spPr>
          <a:xfrm xmlns:a="http://schemas.openxmlformats.org/drawingml/2006/main">
            <a:off x="762000" y="5524500"/>
            <a:ext cx="619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336F"/>
                </a:solidFill>
                <a:latin typeface="Arial"/>
                <a:ea typeface="Arial"/>
                <a:cs typeface="Arial"/>
              </a:defRPr>
            </a:defPPr>
          </a:lstStyle>
          <a:p xmlns:a="http://schemas.openxmlformats.org/drawingml/2006/main">
            <a:pPr algn="l">
              <a:defRPr sz="2400" b="1">
                <a:solidFill>
                  <a:srgbClr val="17336F"/>
                </a:solidFill>
                <a:latin typeface="Arial"/>
                <a:ea typeface="Arial"/>
                <a:cs typeface="Arial"/>
              </a:defRPr>
            </a:pPr>
            <a:r>
              <a:rPr sz="2400" b="1">
                <a:solidFill>
                  <a:srgbClr val="17336F"/>
                </a:solidFill>
                <a:latin typeface="Arial"/>
                <a:ea typeface="Arial"/>
                <a:cs typeface="Arial"/>
              </a:rPr>
              <a:t>03</a:t>
            </a:r>
          </a:p>
        </p:txBody>
      </p:sp>
      <p:sp>
        <p:nvSpPr>
          <p:cNvPr id="14" name="Text Pilot terbatas setelah persetujuan">
            <a:extLst xmlns:a="http://schemas.openxmlformats.org/drawingml/2006/main">
              <a:ext uri="{FF2B5EF4-FFF2-40B4-BE49-F238E27FC236}">
                <a16:creationId xmlns:a16="http://schemas.microsoft.com/office/drawing/2014/main" id="{3109679C-D9AC-44D1-B36D-0A8ED8B597D7}"/>
              </a:ext>
            </a:extLst>
          </p:cNvPr>
          <p:cNvSpPr>
            <a:spLocks xmlns:a="http://schemas.openxmlformats.org/drawingml/2006/main" noGrp="1"/>
          </p:cNvSpPr>
          <p:nvPr/>
        </p:nvSpPr>
        <p:spPr>
          <a:xfrm xmlns:a="http://schemas.openxmlformats.org/drawingml/2006/main">
            <a:off x="1581150" y="5524500"/>
            <a:ext cx="12896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43B"/>
                </a:solidFill>
                <a:latin typeface="Arial"/>
                <a:ea typeface="Arial"/>
                <a:cs typeface="Arial"/>
              </a:defRPr>
            </a:defPPr>
          </a:lstStyle>
          <a:p xmlns:a="http://schemas.openxmlformats.org/drawingml/2006/main">
            <a:pPr algn="l">
              <a:defRPr sz="2325" b="1">
                <a:solidFill>
                  <a:srgbClr val="15243B"/>
                </a:solidFill>
                <a:latin typeface="Arial"/>
                <a:ea typeface="Arial"/>
                <a:cs typeface="Arial"/>
              </a:defRPr>
            </a:pPr>
            <a:r>
              <a:rPr sz="2325" b="1">
                <a:solidFill>
                  <a:srgbClr val="15243B"/>
                </a:solidFill>
                <a:latin typeface="Arial"/>
                <a:ea typeface="Arial"/>
                <a:cs typeface="Arial"/>
              </a:rPr>
              <a:t>Pilot terbatas setelah persetujuan</a:t>
            </a:r>
          </a:p>
        </p:txBody>
      </p:sp>
      <p:sp>
        <p:nvSpPr>
          <p:cNvPr id="15" name="Text Sepakati cabang, pengguna, durasi, bas">
            <a:extLst xmlns:a="http://schemas.openxmlformats.org/drawingml/2006/main">
              <a:ext uri="{FF2B5EF4-FFF2-40B4-BE49-F238E27FC236}">
                <a16:creationId xmlns:a16="http://schemas.microsoft.com/office/drawing/2014/main" id="{AA94D67B-67A2-4DE1-A6E9-5F49D602AD22}"/>
              </a:ext>
            </a:extLst>
          </p:cNvPr>
          <p:cNvSpPr>
            <a:spLocks xmlns:a="http://schemas.openxmlformats.org/drawingml/2006/main" noGrp="1"/>
          </p:cNvSpPr>
          <p:nvPr/>
        </p:nvSpPr>
        <p:spPr>
          <a:xfrm xmlns:a="http://schemas.openxmlformats.org/drawingml/2006/main">
            <a:off x="1581150" y="6019800"/>
            <a:ext cx="1281112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D6C82"/>
                </a:solidFill>
                <a:latin typeface="Arial"/>
                <a:ea typeface="Arial"/>
                <a:cs typeface="Arial"/>
              </a:defRPr>
            </a:defPPr>
          </a:lstStyle>
          <a:p xmlns:a="http://schemas.openxmlformats.org/drawingml/2006/main">
            <a:pPr algn="l">
              <a:defRPr sz="1950" b="0">
                <a:solidFill>
                  <a:srgbClr val="5D6C82"/>
                </a:solidFill>
                <a:latin typeface="Arial"/>
                <a:ea typeface="Arial"/>
                <a:cs typeface="Arial"/>
              </a:defRPr>
            </a:pPr>
            <a:r>
              <a:rPr sz="1950" b="0">
                <a:solidFill>
                  <a:srgbClr val="5D6C82"/>
                </a:solidFill>
                <a:latin typeface="Arial"/>
                <a:ea typeface="Arial"/>
                <a:cs typeface="Arial"/>
              </a:rPr>
              <a:t>Sepakati cabang, pengguna, durasi, baseline, serta kriteria keberhasilan.</a:t>
            </a:r>
          </a:p>
        </p:txBody>
      </p:sp>
      <p:sp>
        <p:nvSpPr>
          <p:cNvPr id="16" name="Text Evaluasi hasil pilot menjadi dasar per">
            <a:extLst xmlns:a="http://schemas.openxmlformats.org/drawingml/2006/main">
              <a:ext uri="{FF2B5EF4-FFF2-40B4-BE49-F238E27FC236}">
                <a16:creationId xmlns:a16="http://schemas.microsoft.com/office/drawing/2014/main" id="{B5CE409E-2CF7-43C0-9841-1537126A7A22}"/>
              </a:ext>
            </a:extLst>
          </p:cNvPr>
          <p:cNvSpPr>
            <a:spLocks xmlns:a="http://schemas.openxmlformats.org/drawingml/2006/main" noGrp="1"/>
          </p:cNvSpPr>
          <p:nvPr/>
        </p:nvSpPr>
        <p:spPr>
          <a:xfrm xmlns:a="http://schemas.openxmlformats.org/drawingml/2006/main">
            <a:off x="1581150" y="7019925"/>
            <a:ext cx="1266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336F"/>
                </a:solidFill>
                <a:latin typeface="Arial"/>
                <a:ea typeface="Arial"/>
                <a:cs typeface="Arial"/>
              </a:defRPr>
            </a:defPPr>
          </a:lstStyle>
          <a:p xmlns:a="http://schemas.openxmlformats.org/drawingml/2006/main">
            <a:pPr algn="l">
              <a:defRPr sz="2175" b="1">
                <a:solidFill>
                  <a:srgbClr val="17336F"/>
                </a:solidFill>
                <a:latin typeface="Arial"/>
                <a:ea typeface="Arial"/>
                <a:cs typeface="Arial"/>
              </a:defRPr>
            </a:pPr>
            <a:r>
              <a:rPr sz="2175" b="1">
                <a:solidFill>
                  <a:srgbClr val="17336F"/>
                </a:solidFill>
                <a:latin typeface="Arial"/>
                <a:ea typeface="Arial"/>
                <a:cs typeface="Arial"/>
              </a:rPr>
              <a:t>Evaluasi hasil pilot menjadi dasar perbaikan dan prioritas roadmap.</a:t>
            </a:r>
          </a:p>
        </p:txBody>
      </p:sp>
    </p:spTree>
    <p:extLst>
      <p:ext uri="{BB962C8B-B14F-4D97-AF65-F5344CB8AC3E}">
        <p14:creationId xmlns:p14="http://schemas.microsoft.com/office/powerpoint/2010/main" val="468014200"/>
      </p:ext>
    </p:extLst>
  </p:cSld>
</p:sld>
</file>

<file path=ppt/slides/slide18.xml><?xml version="1.0" encoding="utf-8"?>
<p:sld xmlns:p="http://schemas.openxmlformats.org/presentationml/2006/main">
  <p:cSld>
    <p:bg>
      <p:bgPr>
        <a:solidFill xmlns:a="http://schemas.openxmlformats.org/drawingml/2006/main">
          <a:srgbClr val="EEF3FA"/>
        </a:solidFill>
      </p:bgPr>
    </p:bg>
    <p:spTree>
      <p:nvGrpSpPr>
        <p:cNvPr id="1" name=""/>
        <p:cNvGrpSpPr/>
        <p:nvPr/>
      </p:nvGrpSpPr>
      <p:grpSpPr>
        <a:xfrm xmlns:a="http://schemas.openxmlformats.org/drawingml/2006/main"/>
      </p:grpSpPr>
      <p:sp>
        <p:nvSpPr>
          <p:cNvPr id="10" name="Text 18">
            <a:extLst xmlns:a="http://schemas.openxmlformats.org/drawingml/2006/main">
              <a:ext uri="{FF2B5EF4-FFF2-40B4-BE49-F238E27FC236}">
                <a16:creationId xmlns:a16="http://schemas.microsoft.com/office/drawing/2014/main" id="{97832E77-B272-4DF3-93D7-91B26EAE6301}"/>
              </a:ext>
            </a:extLst>
          </p:cNvPr>
          <p:cNvSpPr>
            <a:spLocks xmlns:a="http://schemas.openxmlformats.org/drawingml/2006/main" noGrp="1"/>
          </p:cNvSpPr>
          <p:nvPr/>
        </p:nvSpPr>
        <p:spPr>
          <a:xfrm xmlns:a="http://schemas.openxmlformats.org/drawingml/2006/main">
            <a:off x="13906500" y="785812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5D6C82"/>
                </a:solidFill>
                <a:latin typeface="Arial"/>
                <a:ea typeface="Arial"/>
                <a:cs typeface="Arial"/>
              </a:defRPr>
            </a:defPPr>
          </a:lstStyle>
          <a:p xmlns:a="http://schemas.openxmlformats.org/drawingml/2006/main">
            <a:pPr algn="r">
              <a:defRPr sz="1425" b="0">
                <a:solidFill>
                  <a:srgbClr val="5D6C82"/>
                </a:solidFill>
                <a:latin typeface="Arial"/>
                <a:ea typeface="Arial"/>
                <a:cs typeface="Arial"/>
              </a:defRPr>
            </a:pPr>
            <a:r>
              <a:rPr sz="1425" b="0">
                <a:solidFill>
                  <a:srgbClr val="5D6C82"/>
                </a:solidFill>
                <a:latin typeface="Arial"/>
                <a:ea typeface="Arial"/>
                <a:cs typeface="Arial"/>
              </a:rPr>
              <a:t>18</a:t>
            </a:r>
          </a:p>
        </p:txBody>
      </p:sp>
      <p:sp>
        <p:nvSpPr>
          <p:cNvPr id="2" name="Text Diskusi manajemen   /   Retail Operati">
            <a:extLst xmlns:a="http://schemas.openxmlformats.org/drawingml/2006/main">
              <a:ext uri="{FF2B5EF4-FFF2-40B4-BE49-F238E27FC236}">
                <a16:creationId xmlns:a16="http://schemas.microsoft.com/office/drawing/2014/main" id="{7E7CBE77-71DF-4FC4-ABC3-07E3B9E155C6}"/>
              </a:ext>
            </a:extLst>
          </p:cNvPr>
          <p:cNvSpPr>
            <a:spLocks xmlns:a="http://schemas.openxmlformats.org/drawingml/2006/main" noGrp="1"/>
          </p:cNvSpPr>
          <p:nvPr/>
        </p:nvSpPr>
        <p:spPr>
          <a:xfrm xmlns:a="http://schemas.openxmlformats.org/drawingml/2006/main">
            <a:off x="762000" y="7858125"/>
            <a:ext cx="1219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D6C82"/>
                </a:solidFill>
                <a:latin typeface="Arial"/>
                <a:ea typeface="Arial"/>
                <a:cs typeface="Arial"/>
              </a:defRPr>
            </a:defPPr>
          </a:lstStyle>
          <a:p xmlns:a="http://schemas.openxmlformats.org/drawingml/2006/main">
            <a:pPr algn="l">
              <a:defRPr sz="1350" b="0">
                <a:solidFill>
                  <a:srgbClr val="5D6C82"/>
                </a:solidFill>
                <a:latin typeface="Arial"/>
                <a:ea typeface="Arial"/>
                <a:cs typeface="Arial"/>
              </a:defRPr>
            </a:pPr>
            <a:r>
              <a:rPr sz="1350" b="0">
                <a:solidFill>
                  <a:srgbClr val="5D6C82"/>
                </a:solidFill>
                <a:latin typeface="Arial"/>
                <a:ea typeface="Arial"/>
                <a:cs typeface="Arial"/>
              </a:rPr>
              <a:t>Diskusi manajemen   /   Retail Operations Platform</a:t>
            </a:r>
          </a:p>
        </p:txBody>
      </p:sp>
      <p:sp>
        <p:nvSpPr>
          <p:cNvPr id="3" name="Rule">
            <a:extLst xmlns:a="http://schemas.openxmlformats.org/drawingml/2006/main">
              <a:ext uri="{FF2B5EF4-FFF2-40B4-BE49-F238E27FC236}">
                <a16:creationId xmlns:a16="http://schemas.microsoft.com/office/drawing/2014/main" id="{9DE0FAF4-B3D4-4476-9C33-69DEF3454207}"/>
              </a:ext>
            </a:extLst>
          </p:cNvPr>
          <p:cNvSpPr>
            <a:spLocks xmlns:a="http://schemas.openxmlformats.org/drawingml/2006/main" noGrp="1"/>
          </p:cNvSpPr>
          <p:nvPr/>
        </p:nvSpPr>
        <p:spPr>
          <a:xfrm xmlns:a="http://schemas.openxmlformats.org/drawingml/2006/main">
            <a:off x="762000" y="762000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4" name="Accent">
            <a:extLst xmlns:a="http://schemas.openxmlformats.org/drawingml/2006/main">
              <a:ext uri="{FF2B5EF4-FFF2-40B4-BE49-F238E27FC236}">
                <a16:creationId xmlns:a16="http://schemas.microsoft.com/office/drawing/2014/main" id="{A1B7A56C-9896-4912-A4E2-422BC56C85CB}"/>
              </a:ext>
            </a:extLst>
          </p:cNvPr>
          <p:cNvSpPr>
            <a:spLocks xmlns:a="http://schemas.openxmlformats.org/drawingml/2006/main" noGrp="1"/>
          </p:cNvSpPr>
          <p:nvPr/>
        </p:nvSpPr>
        <p:spPr>
          <a:xfrm xmlns:a="http://schemas.openxmlformats.org/drawingml/2006/main">
            <a:off x="762000" y="523875"/>
            <a:ext cx="609600" cy="47625"/>
          </a:xfrm>
          <a:prstGeom xmlns:a="http://schemas.openxmlformats.org/drawingml/2006/main" prst="rect">
            <a:avLst/>
          </a:prstGeom>
          <a:solidFill xmlns:a="http://schemas.openxmlformats.org/drawingml/2006/main">
            <a:srgbClr val="DF2335"/>
          </a:solidFill>
          <a:ln xmlns:a="http://schemas.openxmlformats.org/drawingml/2006/main" w="0">
            <a:noFill/>
          </a:ln>
        </p:spPr>
      </p:sp>
      <p:sp>
        <p:nvSpPr>
          <p:cNvPr id="5" name="Text Fondasi pickup untuk operasi retail ya">
            <a:extLst xmlns:a="http://schemas.openxmlformats.org/drawingml/2006/main">
              <a:ext uri="{FF2B5EF4-FFF2-40B4-BE49-F238E27FC236}">
                <a16:creationId xmlns:a16="http://schemas.microsoft.com/office/drawing/2014/main" id="{6AE046BB-05D1-4537-B4D8-A2F58F36D4C1}"/>
              </a:ext>
            </a:extLst>
          </p:cNvPr>
          <p:cNvSpPr>
            <a:spLocks xmlns:a="http://schemas.openxmlformats.org/drawingml/2006/main" noGrp="1"/>
          </p:cNvSpPr>
          <p:nvPr/>
        </p:nvSpPr>
        <p:spPr>
          <a:xfrm xmlns:a="http://schemas.openxmlformats.org/drawingml/2006/main">
            <a:off x="762000" y="828675"/>
            <a:ext cx="13716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00" b="1">
                <a:solidFill>
                  <a:srgbClr val="17336F"/>
                </a:solidFill>
                <a:latin typeface="Arial"/>
                <a:ea typeface="Arial"/>
                <a:cs typeface="Arial"/>
              </a:defRPr>
            </a:defPPr>
          </a:lstStyle>
          <a:p xmlns:a="http://schemas.openxmlformats.org/drawingml/2006/main">
            <a:pPr algn="l">
              <a:defRPr sz="4200" b="1">
                <a:solidFill>
                  <a:srgbClr val="17336F"/>
                </a:solidFill>
                <a:latin typeface="Arial"/>
                <a:ea typeface="Arial"/>
                <a:cs typeface="Arial"/>
              </a:defRPr>
            </a:pPr>
            <a:r>
              <a:rPr sz="4200" b="1">
                <a:solidFill>
                  <a:srgbClr val="17336F"/>
                </a:solidFill>
                <a:latin typeface="Arial"/>
                <a:ea typeface="Arial"/>
                <a:cs typeface="Arial"/>
              </a:rPr>
              <a:t>Fondasi pickup untuk operasi retail yang terhubung</a:t>
            </a:r>
          </a:p>
        </p:txBody>
      </p:sp>
      <p:sp>
        <p:nvSpPr>
          <p:cNvPr id="6" name="Text Pickup Management telah tersedia.&#10;Vali">
            <a:extLst xmlns:a="http://schemas.openxmlformats.org/drawingml/2006/main">
              <a:ext uri="{FF2B5EF4-FFF2-40B4-BE49-F238E27FC236}">
                <a16:creationId xmlns:a16="http://schemas.microsoft.com/office/drawing/2014/main" id="{B07387A3-3B16-48AA-B154-F8B2CFF86ABB}"/>
              </a:ext>
            </a:extLst>
          </p:cNvPr>
          <p:cNvSpPr>
            <a:spLocks xmlns:a="http://schemas.openxmlformats.org/drawingml/2006/main" noGrp="1"/>
          </p:cNvSpPr>
          <p:nvPr/>
        </p:nvSpPr>
        <p:spPr>
          <a:xfrm xmlns:a="http://schemas.openxmlformats.org/drawingml/2006/main">
            <a:off x="762000" y="2667000"/>
            <a:ext cx="133350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800" b="1">
                <a:solidFill>
                  <a:srgbClr val="17336F"/>
                </a:solidFill>
                <a:latin typeface="Arial"/>
                <a:ea typeface="Arial"/>
                <a:cs typeface="Arial"/>
              </a:defRPr>
            </a:defPPr>
          </a:lstStyle>
          <a:p xmlns:a="http://schemas.openxmlformats.org/drawingml/2006/main">
            <a:pPr algn="l">
              <a:defRPr sz="4800" b="1">
                <a:solidFill>
                  <a:srgbClr val="17336F"/>
                </a:solidFill>
                <a:latin typeface="Arial"/>
                <a:ea typeface="Arial"/>
                <a:cs typeface="Arial"/>
              </a:defRPr>
            </a:pPr>
            <a:r>
              <a:rPr sz="4800" b="1">
                <a:solidFill>
                  <a:srgbClr val="17336F"/>
                </a:solidFill>
                <a:latin typeface="Arial"/>
                <a:ea typeface="Arial"/>
                <a:cs typeface="Arial"/>
              </a:rPr>
              <a:t>Pickup Management telah tersedia.</a:t>
            </a:r>
          </a:p>
          <a:p xmlns:a="http://schemas.openxmlformats.org/drawingml/2006/main">
            <a:pPr algn="l">
              <a:defRPr sz="4800" b="1">
                <a:solidFill>
                  <a:srgbClr val="17336F"/>
                </a:solidFill>
                <a:latin typeface="Arial"/>
                <a:ea typeface="Arial"/>
                <a:cs typeface="Arial"/>
              </a:defRPr>
            </a:pPr>
            <a:r>
              <a:rPr sz="4800" b="1">
                <a:solidFill>
                  <a:srgbClr val="17336F"/>
                </a:solidFill>
                <a:latin typeface="Arial"/>
                <a:ea typeface="Arial"/>
                <a:cs typeface="Arial"/>
              </a:rPr>
              <a:t>Validasi operasional menjadi</a:t>
            </a:r>
          </a:p>
          <a:p xmlns:a="http://schemas.openxmlformats.org/drawingml/2006/main">
            <a:pPr algn="l">
              <a:defRPr sz="4800" b="1">
                <a:solidFill>
                  <a:srgbClr val="17336F"/>
                </a:solidFill>
                <a:latin typeface="Arial"/>
                <a:ea typeface="Arial"/>
                <a:cs typeface="Arial"/>
              </a:defRPr>
            </a:pPr>
            <a:r>
              <a:rPr sz="4800" b="1">
                <a:solidFill>
                  <a:srgbClr val="17336F"/>
                </a:solidFill>
                <a:latin typeface="Arial"/>
                <a:ea typeface="Arial"/>
                <a:cs typeface="Arial"/>
              </a:rPr>
              <a:t>langkah keputusan berikutnya.</a:t>
            </a:r>
          </a:p>
        </p:txBody>
      </p:sp>
      <p:sp>
        <p:nvSpPr>
          <p:cNvPr id="7" name="Rule">
            <a:extLst xmlns:a="http://schemas.openxmlformats.org/drawingml/2006/main">
              <a:ext uri="{FF2B5EF4-FFF2-40B4-BE49-F238E27FC236}">
                <a16:creationId xmlns:a16="http://schemas.microsoft.com/office/drawing/2014/main" id="{1471F2E5-7220-4224-87BD-6C93B308521D}"/>
              </a:ext>
            </a:extLst>
          </p:cNvPr>
          <p:cNvSpPr>
            <a:spLocks xmlns:a="http://schemas.openxmlformats.org/drawingml/2006/main" noGrp="1"/>
          </p:cNvSpPr>
          <p:nvPr/>
        </p:nvSpPr>
        <p:spPr>
          <a:xfrm xmlns:a="http://schemas.openxmlformats.org/drawingml/2006/main">
            <a:off x="762000" y="5429250"/>
            <a:ext cx="13716000" cy="19050"/>
          </a:xfrm>
          <a:prstGeom xmlns:a="http://schemas.openxmlformats.org/drawingml/2006/main" prst="rect">
            <a:avLst/>
          </a:prstGeom>
          <a:solidFill xmlns:a="http://schemas.openxmlformats.org/drawingml/2006/main">
            <a:srgbClr val="D6DFEB"/>
          </a:solidFill>
          <a:ln xmlns:a="http://schemas.openxmlformats.org/drawingml/2006/main" w="0">
            <a:noFill/>
          </a:ln>
        </p:spPr>
      </p:sp>
      <p:sp>
        <p:nvSpPr>
          <p:cNvPr id="8" name="Text Fokus diskusi">
            <a:extLst xmlns:a="http://schemas.openxmlformats.org/drawingml/2006/main">
              <a:ext uri="{FF2B5EF4-FFF2-40B4-BE49-F238E27FC236}">
                <a16:creationId xmlns:a16="http://schemas.microsoft.com/office/drawing/2014/main" id="{905F2EAA-BB0F-4EAD-BC72-28BF685B551C}"/>
              </a:ext>
            </a:extLst>
          </p:cNvPr>
          <p:cNvSpPr>
            <a:spLocks xmlns:a="http://schemas.openxmlformats.org/drawingml/2006/main" noGrp="1"/>
          </p:cNvSpPr>
          <p:nvPr/>
        </p:nvSpPr>
        <p:spPr>
          <a:xfrm xmlns:a="http://schemas.openxmlformats.org/drawingml/2006/main">
            <a:off x="762000" y="5905500"/>
            <a:ext cx="3810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DF2335"/>
                </a:solidFill>
                <a:latin typeface="Arial"/>
                <a:ea typeface="Arial"/>
                <a:cs typeface="Arial"/>
              </a:defRPr>
            </a:defPPr>
          </a:lstStyle>
          <a:p xmlns:a="http://schemas.openxmlformats.org/drawingml/2006/main">
            <a:pPr algn="l">
              <a:defRPr sz="2250" b="1">
                <a:solidFill>
                  <a:srgbClr val="DF2335"/>
                </a:solidFill>
                <a:latin typeface="Arial"/>
                <a:ea typeface="Arial"/>
                <a:cs typeface="Arial"/>
              </a:defRPr>
            </a:pPr>
            <a:r>
              <a:rPr sz="2250" b="1">
                <a:solidFill>
                  <a:srgbClr val="DF2335"/>
                </a:solidFill>
                <a:latin typeface="Arial"/>
                <a:ea typeface="Arial"/>
                <a:cs typeface="Arial"/>
              </a:rPr>
              <a:t>Fokus diskusi</a:t>
            </a:r>
          </a:p>
        </p:txBody>
      </p:sp>
      <p:sp>
        <p:nvSpPr>
          <p:cNvPr id="9" name="Text Cakupan UAT dan calon pilot&#10;Penanggung">
            <a:extLst xmlns:a="http://schemas.openxmlformats.org/drawingml/2006/main">
              <a:ext uri="{FF2B5EF4-FFF2-40B4-BE49-F238E27FC236}">
                <a16:creationId xmlns:a16="http://schemas.microsoft.com/office/drawing/2014/main" id="{50FC0444-C25D-4938-B508-DCD34D28376D}"/>
              </a:ext>
            </a:extLst>
          </p:cNvPr>
          <p:cNvSpPr>
            <a:spLocks xmlns:a="http://schemas.openxmlformats.org/drawingml/2006/main" noGrp="1"/>
          </p:cNvSpPr>
          <p:nvPr/>
        </p:nvSpPr>
        <p:spPr>
          <a:xfrm xmlns:a="http://schemas.openxmlformats.org/drawingml/2006/main">
            <a:off x="5048250" y="5905500"/>
            <a:ext cx="92392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243B"/>
                </a:solidFill>
                <a:latin typeface="Arial"/>
                <a:ea typeface="Arial"/>
                <a:cs typeface="Arial"/>
              </a:defRPr>
            </a:defPPr>
          </a:lstStyle>
          <a:p xmlns:a="http://schemas.openxmlformats.org/drawingml/2006/main">
            <a:pPr algn="l">
              <a:defRPr sz="2325" b="0">
                <a:solidFill>
                  <a:srgbClr val="15243B"/>
                </a:solidFill>
                <a:latin typeface="Arial"/>
                <a:ea typeface="Arial"/>
                <a:cs typeface="Arial"/>
              </a:defRPr>
            </a:pPr>
            <a:r>
              <a:rPr sz="2325" b="0">
                <a:solidFill>
                  <a:srgbClr val="15243B"/>
                </a:solidFill>
                <a:latin typeface="Arial"/>
                <a:ea typeface="Arial"/>
                <a:cs typeface="Arial"/>
              </a:rPr>
              <a:t>Cakupan UAT dan calon pilot</a:t>
            </a:r>
          </a:p>
          <a:p xmlns:a="http://schemas.openxmlformats.org/drawingml/2006/main">
            <a:pPr algn="l">
              <a:defRPr sz="2325" b="0">
                <a:solidFill>
                  <a:srgbClr val="15243B"/>
                </a:solidFill>
                <a:latin typeface="Arial"/>
                <a:ea typeface="Arial"/>
                <a:cs typeface="Arial"/>
              </a:defRPr>
            </a:pPr>
            <a:r>
              <a:rPr sz="2325" b="0">
                <a:solidFill>
                  <a:srgbClr val="15243B"/>
                </a:solidFill>
                <a:latin typeface="Arial"/>
                <a:ea typeface="Arial"/>
                <a:cs typeface="Arial"/>
              </a:rPr>
              <a:t>Penanggung jawab operasional serta dukungan</a:t>
            </a:r>
          </a:p>
          <a:p xmlns:a="http://schemas.openxmlformats.org/drawingml/2006/main">
            <a:pPr algn="l">
              <a:defRPr sz="2325" b="0">
                <a:solidFill>
                  <a:srgbClr val="15243B"/>
                </a:solidFill>
                <a:latin typeface="Arial"/>
                <a:ea typeface="Arial"/>
                <a:cs typeface="Arial"/>
              </a:defRPr>
            </a:pPr>
            <a:r>
              <a:rPr sz="2325" b="0">
                <a:solidFill>
                  <a:srgbClr val="15243B"/>
                </a:solidFill>
                <a:latin typeface="Arial"/>
                <a:ea typeface="Arial"/>
                <a:cs typeface="Arial"/>
              </a:rPr>
              <a:t>Prioritas pengembangan setelah evaluasi</a:t>
            </a:r>
          </a:p>
        </p:txBody>
      </p:sp>
    </p:spTree>
    <p:extLst>
      <p:ext uri="{BB962C8B-B14F-4D97-AF65-F5344CB8AC3E}">
        <p14:creationId xmlns:p14="http://schemas.microsoft.com/office/powerpoint/2010/main" val="20098210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2026-10-15T07:21:09.3690000Z</dcterms:created>
  <dcterms:modified xsi:type="dcterms:W3CDTF">2026-10-15T07:21:09.3690000Z</dcterms:modified>
</coreProperties>
</file>